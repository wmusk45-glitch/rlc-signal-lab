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44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36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本次汇报从一个固定的串联 RLC 电路出发。我们会把单位冲激信号、状态方程、特征根、特征向量和零极点这些概念串成一条线。目标不是孤立背公式，而是理解系统动态从哪里来、如何表现出来。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核心问题是：给定一个电路，如何预测它对任意输入的响应？我们可以从输入输出关系、内部状态描述、模态结构和系统表现四个层次观察。后面的每一页都围绕这四层逐步展开。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全篇只使用这个串联 RLC 电路，输入是电压源 u(t)，输出是电容电压 y(t)=v_C(t)。参数固定为 R=1Ω、L=1H、C=0.25F。固定模型的好处是后面的微分方程、状态方程和极点可以互相对应。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单位冲激信号 δ(t) 可以理解为一种理想化的瞬时激励。系统对 δ(t) 的输出称为冲激响应 h(t)。对 LTI 系统来说，h(t) 包含系统全部动态信息，所以它像一根探针一样帮助我们观察系统。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从串联电路的 KVL 出发，可以写出 u(t)=Ri_L+Ldi_L/dt+v_C。又因为串联电流等于电容电流，有 i_L=Cdv_C/dt。代入固定参数并取 y=v_C 后，得到 y''+y'+4y=4u(t)。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微分方程描述的是输入和输出的整体关系，而状态方程进一步描述内部变量如何演化。这里选取 x_1=i_L、x_2=v_C，得到两条一阶状态方程。写成矩阵后，A 矩阵就成为后续特征值和特征向量分析的核心。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对状态矩阵 A 求特征值，特征方程为 λ²+λ+4=0。解得 λ=-0.5±j1.9365。实部 -0.5 决定衰减速度，虚部 1.9365 决定振荡角频率，因此系统会呈现稳定的衰减振荡。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特征值告诉我们模态如何随时间变化，特征向量告诉我们状态变量以什么比例参与这个模态。在本例中，可以把特征向量理解为 i_L 与 v_C 在自然模态下的相对权重和相位关系。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状态空间模型可以通过 H(s)=C(sI-A)^{-1}B+D 转换为传递函数。本例得到 H(s)=4/(s²+s+4)。传递函数分母的根就是极点，它们与 A 的特征值一致，所以状态空间和零极点分析说的是同一个动态结构。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代码部分只展示核心流程：先定义 A、B、C、D，然后建立状态空间模型。接着计算特征值、冲激响应，并把状态空间转换为传递函数。这样可以用数值结果验证前面的理论推导。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左侧冲激响应图由 Python 真实计算得到，可以看到响应随时间衰减并振荡。右侧零极点图显示极点位于 -0.5±j1.9365，处于左半平面。左半平面说明系统稳定，非零虚部说明响应具有振荡特性。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整套汇报的链路是 δ(t) 到 h(t)，再到微分方程、状态方程、特征值/特征向量和零极点。单位冲激信号帮助我们激发系统动态，状态方程帮助我们进入内部状态视角。特征值、特征向量和极点共同揭示系统的稳定性、振荡频率与模态结构。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75000" y="189488"/>
            <a:ext cx="10536483" cy="58304"/>
          </a:xfrm>
          <a:prstGeom prst="rect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 3"/>
          <p:cNvSpPr/>
          <p:nvPr/>
        </p:nvSpPr>
        <p:spPr>
          <a:xfrm>
            <a:off x="10777109" y="0"/>
            <a:ext cx="568751" cy="262368"/>
          </a:xfrm>
          <a:prstGeom prst="parallelogram">
            <a:avLst/>
          </a:prstGeom>
          <a:solidFill>
            <a:srgbClr val="C9D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 4"/>
          <p:cNvSpPr/>
          <p:nvPr/>
        </p:nvSpPr>
        <p:spPr>
          <a:xfrm>
            <a:off x="11418777" y="0"/>
            <a:ext cx="772918" cy="262368"/>
          </a:xfrm>
          <a:prstGeom prst="parallelogram">
            <a:avLst/>
          </a:prstGeom>
          <a:solidFill>
            <a:srgbClr val="0221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ine 5"/>
          <p:cNvSpPr/>
          <p:nvPr/>
        </p:nvSpPr>
        <p:spPr>
          <a:xfrm>
            <a:off x="5242721" y="1712678"/>
            <a:ext cx="787502" cy="0"/>
          </a:xfrm>
          <a:prstGeom prst="line">
            <a:avLst/>
          </a:prstGeom>
          <a:noFill/>
          <a:ln w="17780">
            <a:solidFill>
              <a:srgbClr val="79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 6"/>
          <p:cNvSpPr/>
          <p:nvPr/>
        </p:nvSpPr>
        <p:spPr>
          <a:xfrm>
            <a:off x="6044806" y="1654374"/>
            <a:ext cx="109375" cy="109320"/>
          </a:xfrm>
          <a:prstGeom prst="diamond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ine 7"/>
          <p:cNvSpPr/>
          <p:nvPr/>
        </p:nvSpPr>
        <p:spPr>
          <a:xfrm>
            <a:off x="6161473" y="1712678"/>
            <a:ext cx="780210" cy="0"/>
          </a:xfrm>
          <a:prstGeom prst="line">
            <a:avLst/>
          </a:prstGeom>
          <a:noFill/>
          <a:ln w="17780">
            <a:solidFill>
              <a:srgbClr val="79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ine 8"/>
          <p:cNvSpPr/>
          <p:nvPr/>
        </p:nvSpPr>
        <p:spPr>
          <a:xfrm>
            <a:off x="1013544" y="2033350"/>
            <a:ext cx="1144794" cy="0"/>
          </a:xfrm>
          <a:prstGeom prst="line">
            <a:avLst/>
          </a:prstGeom>
          <a:noFill/>
          <a:ln w="15240">
            <a:solidFill>
              <a:srgbClr val="A8BF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 9"/>
          <p:cNvSpPr/>
          <p:nvPr/>
        </p:nvSpPr>
        <p:spPr>
          <a:xfrm>
            <a:off x="2136463" y="1967758"/>
            <a:ext cx="102084" cy="102032"/>
          </a:xfrm>
          <a:prstGeom prst="diamond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>
            <a:off x="10062524" y="2033350"/>
            <a:ext cx="1093753" cy="0"/>
          </a:xfrm>
          <a:prstGeom prst="line">
            <a:avLst/>
          </a:prstGeom>
          <a:noFill/>
          <a:ln w="15240">
            <a:solidFill>
              <a:srgbClr val="A8BF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 11"/>
          <p:cNvSpPr/>
          <p:nvPr/>
        </p:nvSpPr>
        <p:spPr>
          <a:xfrm>
            <a:off x="10244816" y="1967758"/>
            <a:ext cx="102084" cy="102032"/>
          </a:xfrm>
          <a:prstGeom prst="diamond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 12"/>
          <p:cNvSpPr/>
          <p:nvPr/>
        </p:nvSpPr>
        <p:spPr>
          <a:xfrm>
            <a:off x="10981276" y="6223945"/>
            <a:ext cx="612501" cy="408128"/>
          </a:xfrm>
          <a:prstGeom prst="parallelogram">
            <a:avLst/>
          </a:prstGeom>
          <a:solidFill>
            <a:srgbClr val="C9D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 13"/>
          <p:cNvSpPr/>
          <p:nvPr/>
        </p:nvSpPr>
        <p:spPr>
          <a:xfrm>
            <a:off x="10609400" y="6559192"/>
            <a:ext cx="751043" cy="298808"/>
          </a:xfrm>
          <a:prstGeom prst="parallelogram">
            <a:avLst/>
          </a:prstGeom>
          <a:solidFill>
            <a:srgbClr val="3C79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 14"/>
          <p:cNvSpPr/>
          <p:nvPr/>
        </p:nvSpPr>
        <p:spPr>
          <a:xfrm>
            <a:off x="11302110" y="6442584"/>
            <a:ext cx="889585" cy="415416"/>
          </a:xfrm>
          <a:prstGeom prst="parallelogram">
            <a:avLst/>
          </a:prstGeom>
          <a:solidFill>
            <a:srgbClr val="0221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335417" y="2616389"/>
            <a:ext cx="3463550" cy="2944349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3970">
            <a:solidFill>
              <a:srgbClr val="94B1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4105218" y="2616389"/>
            <a:ext cx="4090635" cy="2944349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3970">
            <a:solidFill>
              <a:srgbClr val="94B1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8502103" y="2616389"/>
            <a:ext cx="3368758" cy="2944349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3970">
            <a:solidFill>
              <a:srgbClr val="94B1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rect 18"/>
          <p:cNvSpPr/>
          <p:nvPr/>
        </p:nvSpPr>
        <p:spPr>
          <a:xfrm>
            <a:off x="401043" y="5852257"/>
            <a:ext cx="9953148" cy="641343"/>
          </a:xfrm>
          <a:prstGeom prst="roundRect">
            <a:avLst>
              <a:gd name="adj" fmla="val 11364"/>
            </a:avLst>
          </a:prstGeom>
          <a:solidFill>
            <a:srgbClr val="F8FBFF"/>
          </a:solidFill>
          <a:ln w="13970">
            <a:solidFill>
              <a:srgbClr val="5D8E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875002" y="2485205"/>
            <a:ext cx="2362506" cy="371688"/>
          </a:xfrm>
          <a:prstGeom prst="roundRect">
            <a:avLst>
              <a:gd name="adj" fmla="val 15686"/>
            </a:avLst>
          </a:prstGeom>
          <a:solidFill>
            <a:srgbClr val="0031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4557302" y="2485205"/>
            <a:ext cx="3171882" cy="371688"/>
          </a:xfrm>
          <a:prstGeom prst="roundRect">
            <a:avLst>
              <a:gd name="adj" fmla="val 15686"/>
            </a:avLst>
          </a:prstGeom>
          <a:solidFill>
            <a:srgbClr val="0031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8801062" y="2485205"/>
            <a:ext cx="2311464" cy="371688"/>
          </a:xfrm>
          <a:prstGeom prst="roundRect">
            <a:avLst>
              <a:gd name="adj" fmla="val 15686"/>
            </a:avLst>
          </a:prstGeom>
          <a:solidFill>
            <a:srgbClr val="0031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>
            <a:off x="510418" y="4467539"/>
            <a:ext cx="3084382" cy="0"/>
          </a:xfrm>
          <a:prstGeom prst="line">
            <a:avLst/>
          </a:prstGeom>
          <a:noFill/>
          <a:ln w="177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510418" y="4467539"/>
            <a:ext cx="3084382" cy="0"/>
          </a:xfrm>
          <a:prstGeom prst="line">
            <a:avLst/>
          </a:prstGeom>
          <a:noFill/>
          <a:ln w="177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V="1">
            <a:off x="772918" y="3476372"/>
            <a:ext cx="0" cy="991167"/>
          </a:xfrm>
          <a:prstGeom prst="line">
            <a:avLst/>
          </a:prstGeom>
          <a:noFill/>
          <a:ln w="381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 flipV="1">
            <a:off x="736460" y="3476372"/>
            <a:ext cx="36458" cy="677783"/>
          </a:xfrm>
          <a:prstGeom prst="line">
            <a:avLst/>
          </a:prstGeom>
          <a:noFill/>
          <a:ln w="254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H="1" flipV="1">
            <a:off x="772918" y="3476372"/>
            <a:ext cx="36458" cy="677783"/>
          </a:xfrm>
          <a:prstGeom prst="line">
            <a:avLst/>
          </a:prstGeom>
          <a:noFill/>
          <a:ln w="254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1283336" y="4008395"/>
            <a:ext cx="335417" cy="0"/>
          </a:xfrm>
          <a:prstGeom prst="line">
            <a:avLst/>
          </a:prstGeom>
          <a:noFill/>
          <a:ln w="762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 flipV="1">
            <a:off x="1859379" y="3243156"/>
            <a:ext cx="116667" cy="1224383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>
            <a:off x="1976046" y="3243156"/>
            <a:ext cx="211459" cy="1443022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 flipV="1">
            <a:off x="2187505" y="3709588"/>
            <a:ext cx="196875" cy="976591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>
            <a:off x="2384381" y="3709588"/>
            <a:ext cx="182292" cy="685071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 flipV="1">
            <a:off x="2566673" y="3942803"/>
            <a:ext cx="175000" cy="451855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>
            <a:off x="2741673" y="3942803"/>
            <a:ext cx="182292" cy="357112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 flipV="1">
            <a:off x="2923965" y="4073987"/>
            <a:ext cx="167709" cy="225928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>
            <a:off x="3091674" y="4073987"/>
            <a:ext cx="189584" cy="116608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 flipV="1">
            <a:off x="3281258" y="4146867"/>
            <a:ext cx="218751" cy="43728"/>
          </a:xfrm>
          <a:prstGeom prst="line">
            <a:avLst/>
          </a:prstGeom>
          <a:noFill/>
          <a:ln w="50800">
            <a:solidFill>
              <a:srgbClr val="003E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oundrect 37"/>
          <p:cNvSpPr/>
          <p:nvPr/>
        </p:nvSpPr>
        <p:spPr>
          <a:xfrm>
            <a:off x="503126" y="5072442"/>
            <a:ext cx="2945840" cy="400840"/>
          </a:xfrm>
          <a:prstGeom prst="roundRect">
            <a:avLst>
              <a:gd name="adj" fmla="val 14545"/>
            </a:avLst>
          </a:prstGeom>
          <a:solidFill>
            <a:srgbClr val="F8FBFF"/>
          </a:solidFill>
          <a:ln w="13970">
            <a:solidFill>
              <a:srgbClr val="5D8E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4797928" y="3359764"/>
            <a:ext cx="306251" cy="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llipse 39"/>
          <p:cNvSpPr/>
          <p:nvPr/>
        </p:nvSpPr>
        <p:spPr>
          <a:xfrm>
            <a:off x="4564594" y="3804332"/>
            <a:ext cx="444793" cy="444567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>
            <a:off x="4797928" y="3359764"/>
            <a:ext cx="0" cy="444567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>
            <a:off x="4797928" y="4248899"/>
            <a:ext cx="0" cy="626767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>
            <a:off x="4797928" y="4875666"/>
            <a:ext cx="2493756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 flipV="1">
            <a:off x="7291684" y="4219747"/>
            <a:ext cx="0" cy="655919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 flipV="1">
            <a:off x="7291684" y="3359764"/>
            <a:ext cx="0" cy="532023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>
            <a:off x="6642724" y="3359764"/>
            <a:ext cx="648960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 flipV="1">
            <a:off x="5104179" y="3162988"/>
            <a:ext cx="94792" cy="196776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Line 47"/>
          <p:cNvSpPr/>
          <p:nvPr/>
        </p:nvSpPr>
        <p:spPr>
          <a:xfrm>
            <a:off x="5198971" y="3162988"/>
            <a:ext cx="116667" cy="36440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Line 48"/>
          <p:cNvSpPr/>
          <p:nvPr/>
        </p:nvSpPr>
        <p:spPr>
          <a:xfrm flipV="1">
            <a:off x="5315637" y="3162988"/>
            <a:ext cx="116667" cy="36440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>
            <a:off x="5432304" y="3162988"/>
            <a:ext cx="116667" cy="36440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V="1">
            <a:off x="5548971" y="3162988"/>
            <a:ext cx="116667" cy="36440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>
            <a:off x="5665638" y="3162988"/>
            <a:ext cx="116667" cy="196776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>
            <a:off x="5782305" y="3359764"/>
            <a:ext cx="247917" cy="0"/>
          </a:xfrm>
          <a:prstGeom prst="line">
            <a:avLst/>
          </a:prstGeom>
          <a:noFill/>
          <a:ln w="304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Ellipse 53"/>
          <p:cNvSpPr/>
          <p:nvPr/>
        </p:nvSpPr>
        <p:spPr>
          <a:xfrm>
            <a:off x="6030222" y="3250444"/>
            <a:ext cx="262501" cy="21864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Ellipse 54"/>
          <p:cNvSpPr/>
          <p:nvPr/>
        </p:nvSpPr>
        <p:spPr>
          <a:xfrm>
            <a:off x="6256265" y="3250444"/>
            <a:ext cx="262501" cy="21864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Ellipse 55"/>
          <p:cNvSpPr/>
          <p:nvPr/>
        </p:nvSpPr>
        <p:spPr>
          <a:xfrm>
            <a:off x="6482307" y="3250444"/>
            <a:ext cx="262501" cy="21864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Line 56"/>
          <p:cNvSpPr/>
          <p:nvPr/>
        </p:nvSpPr>
        <p:spPr>
          <a:xfrm>
            <a:off x="7291684" y="3950091"/>
            <a:ext cx="189584" cy="0"/>
          </a:xfrm>
          <a:prstGeom prst="line">
            <a:avLst/>
          </a:prstGeom>
          <a:noFill/>
          <a:ln w="4445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Line 57"/>
          <p:cNvSpPr/>
          <p:nvPr/>
        </p:nvSpPr>
        <p:spPr>
          <a:xfrm>
            <a:off x="7291684" y="4117715"/>
            <a:ext cx="189584" cy="0"/>
          </a:xfrm>
          <a:prstGeom prst="line">
            <a:avLst/>
          </a:prstGeom>
          <a:noFill/>
          <a:ln w="4445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Line 58"/>
          <p:cNvSpPr/>
          <p:nvPr/>
        </p:nvSpPr>
        <p:spPr>
          <a:xfrm>
            <a:off x="5884389" y="3614844"/>
            <a:ext cx="743752" cy="0"/>
          </a:xfrm>
          <a:prstGeom prst="line">
            <a:avLst/>
          </a:prstGeom>
          <a:noFill/>
          <a:ln w="3048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oundrect 59"/>
          <p:cNvSpPr/>
          <p:nvPr/>
        </p:nvSpPr>
        <p:spPr>
          <a:xfrm>
            <a:off x="4272927" y="5079730"/>
            <a:ext cx="3704175" cy="393552"/>
          </a:xfrm>
          <a:prstGeom prst="roundRect">
            <a:avLst>
              <a:gd name="adj" fmla="val 14815"/>
            </a:avLst>
          </a:prstGeom>
          <a:solidFill>
            <a:srgbClr val="F8FBFF"/>
          </a:solidFill>
          <a:ln w="15240">
            <a:solidFill>
              <a:srgbClr val="2E6B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ine 60"/>
          <p:cNvSpPr/>
          <p:nvPr/>
        </p:nvSpPr>
        <p:spPr>
          <a:xfrm>
            <a:off x="8997938" y="4103139"/>
            <a:ext cx="2216672" cy="0"/>
          </a:xfrm>
          <a:prstGeom prst="line">
            <a:avLst/>
          </a:prstGeom>
          <a:noFill/>
          <a:ln w="20320">
            <a:solidFill>
              <a:srgbClr val="0031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Line 61"/>
          <p:cNvSpPr/>
          <p:nvPr/>
        </p:nvSpPr>
        <p:spPr>
          <a:xfrm flipV="1">
            <a:off x="10237524" y="2958925"/>
            <a:ext cx="0" cy="2026062"/>
          </a:xfrm>
          <a:prstGeom prst="line">
            <a:avLst/>
          </a:prstGeom>
          <a:noFill/>
          <a:ln w="20320">
            <a:solidFill>
              <a:srgbClr val="0031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Line 62"/>
          <p:cNvSpPr/>
          <p:nvPr/>
        </p:nvSpPr>
        <p:spPr>
          <a:xfrm>
            <a:off x="8997938" y="3206716"/>
            <a:ext cx="1239586" cy="0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Line 63"/>
          <p:cNvSpPr/>
          <p:nvPr/>
        </p:nvSpPr>
        <p:spPr>
          <a:xfrm>
            <a:off x="8997938" y="3658572"/>
            <a:ext cx="1239586" cy="0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" name="Line 64"/>
          <p:cNvSpPr/>
          <p:nvPr/>
        </p:nvSpPr>
        <p:spPr>
          <a:xfrm>
            <a:off x="8997938" y="4540419"/>
            <a:ext cx="1239586" cy="0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5" name="Line 65"/>
          <p:cNvSpPr/>
          <p:nvPr/>
        </p:nvSpPr>
        <p:spPr>
          <a:xfrm>
            <a:off x="8997938" y="4977698"/>
            <a:ext cx="1239586" cy="0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6" name="Line 66"/>
          <p:cNvSpPr/>
          <p:nvPr/>
        </p:nvSpPr>
        <p:spPr>
          <a:xfrm>
            <a:off x="8997938" y="3206716"/>
            <a:ext cx="0" cy="1770982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7" name="Line 67"/>
          <p:cNvSpPr/>
          <p:nvPr/>
        </p:nvSpPr>
        <p:spPr>
          <a:xfrm>
            <a:off x="9391689" y="3206716"/>
            <a:ext cx="0" cy="1770982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8" name="Line 68"/>
          <p:cNvSpPr/>
          <p:nvPr/>
        </p:nvSpPr>
        <p:spPr>
          <a:xfrm>
            <a:off x="9829190" y="3206716"/>
            <a:ext cx="0" cy="1770982"/>
          </a:xfrm>
          <a:prstGeom prst="line">
            <a:avLst/>
          </a:prstGeom>
          <a:noFill/>
          <a:ln w="15240">
            <a:solidFill>
              <a:srgbClr val="8BB1E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9" name="Roundrect 69"/>
          <p:cNvSpPr/>
          <p:nvPr/>
        </p:nvSpPr>
        <p:spPr>
          <a:xfrm>
            <a:off x="10966692" y="3126548"/>
            <a:ext cx="743752" cy="306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3970">
            <a:solidFill>
              <a:srgbClr val="8AAA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Line 70"/>
          <p:cNvSpPr/>
          <p:nvPr/>
        </p:nvSpPr>
        <p:spPr>
          <a:xfrm>
            <a:off x="4491677" y="5998017"/>
            <a:ext cx="0" cy="357112"/>
          </a:xfrm>
          <a:prstGeom prst="line">
            <a:avLst/>
          </a:prstGeom>
          <a:noFill/>
          <a:ln w="15240">
            <a:solidFill>
              <a:srgbClr val="06146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Line 71"/>
          <p:cNvSpPr/>
          <p:nvPr/>
        </p:nvSpPr>
        <p:spPr>
          <a:xfrm>
            <a:off x="6963558" y="5998017"/>
            <a:ext cx="0" cy="357112"/>
          </a:xfrm>
          <a:prstGeom prst="line">
            <a:avLst/>
          </a:prstGeom>
          <a:noFill/>
          <a:ln w="15240">
            <a:solidFill>
              <a:srgbClr val="06146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Ellipse 72"/>
          <p:cNvSpPr/>
          <p:nvPr/>
        </p:nvSpPr>
        <p:spPr>
          <a:xfrm>
            <a:off x="7364601" y="5983441"/>
            <a:ext cx="379168" cy="3789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6146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Ellipse 73"/>
          <p:cNvSpPr/>
          <p:nvPr/>
        </p:nvSpPr>
        <p:spPr>
          <a:xfrm>
            <a:off x="4710428" y="6063609"/>
            <a:ext cx="175000" cy="174912"/>
          </a:xfrm>
          <a:prstGeom prst="ellipse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Ellipse 74"/>
          <p:cNvSpPr/>
          <p:nvPr/>
        </p:nvSpPr>
        <p:spPr>
          <a:xfrm>
            <a:off x="4914595" y="6019881"/>
            <a:ext cx="233334" cy="233216"/>
          </a:xfrm>
          <a:prstGeom prst="ellipse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Ellipse 75"/>
          <p:cNvSpPr/>
          <p:nvPr/>
        </p:nvSpPr>
        <p:spPr>
          <a:xfrm>
            <a:off x="5177095" y="6063609"/>
            <a:ext cx="175000" cy="174912"/>
          </a:xfrm>
          <a:prstGeom prst="ellipse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Rect 76"/>
          <p:cNvSpPr/>
          <p:nvPr/>
        </p:nvSpPr>
        <p:spPr>
          <a:xfrm>
            <a:off x="4666678" y="6253097"/>
            <a:ext cx="568751" cy="131184"/>
          </a:xfrm>
          <a:prstGeom prst="rect">
            <a:avLst/>
          </a:prstGeom>
          <a:solidFill>
            <a:srgbClr val="0614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Line 77"/>
          <p:cNvSpPr/>
          <p:nvPr/>
        </p:nvSpPr>
        <p:spPr>
          <a:xfrm>
            <a:off x="9785440" y="3206716"/>
            <a:ext cx="116667" cy="116608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Line 78"/>
          <p:cNvSpPr/>
          <p:nvPr/>
        </p:nvSpPr>
        <p:spPr>
          <a:xfrm flipH="1">
            <a:off x="9785440" y="3206716"/>
            <a:ext cx="116667" cy="116608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Line 79"/>
          <p:cNvSpPr/>
          <p:nvPr/>
        </p:nvSpPr>
        <p:spPr>
          <a:xfrm>
            <a:off x="9785440" y="4882954"/>
            <a:ext cx="116667" cy="116608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Line 80"/>
          <p:cNvSpPr/>
          <p:nvPr/>
        </p:nvSpPr>
        <p:spPr>
          <a:xfrm flipH="1">
            <a:off x="9785440" y="4882954"/>
            <a:ext cx="116667" cy="116608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Line 81"/>
          <p:cNvSpPr/>
          <p:nvPr/>
        </p:nvSpPr>
        <p:spPr>
          <a:xfrm>
            <a:off x="11061484" y="3214004"/>
            <a:ext cx="102084" cy="102032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Line 82"/>
          <p:cNvSpPr/>
          <p:nvPr/>
        </p:nvSpPr>
        <p:spPr>
          <a:xfrm flipH="1">
            <a:off x="11061484" y="3214004"/>
            <a:ext cx="102084" cy="102032"/>
          </a:xfrm>
          <a:prstGeom prst="line">
            <a:avLst/>
          </a:prstGeom>
          <a:noFill/>
          <a:ln w="38100">
            <a:solidFill>
              <a:srgbClr val="D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Line 83"/>
          <p:cNvSpPr/>
          <p:nvPr/>
        </p:nvSpPr>
        <p:spPr>
          <a:xfrm>
            <a:off x="7554184" y="6078185"/>
            <a:ext cx="0" cy="116608"/>
          </a:xfrm>
          <a:prstGeom prst="line">
            <a:avLst/>
          </a:prstGeom>
          <a:noFill/>
          <a:ln w="38100">
            <a:solidFill>
              <a:srgbClr val="06146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Line 84"/>
          <p:cNvSpPr/>
          <p:nvPr/>
        </p:nvSpPr>
        <p:spPr>
          <a:xfrm>
            <a:off x="7554184" y="6194793"/>
            <a:ext cx="102084" cy="80168"/>
          </a:xfrm>
          <a:prstGeom prst="line">
            <a:avLst/>
          </a:prstGeom>
          <a:noFill/>
          <a:ln w="38100">
            <a:solidFill>
              <a:srgbClr val="06146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1668" y="655919"/>
            <a:ext cx="11046901" cy="801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700" b="1">
                <a:solidFill>
                  <a:srgbClr val="061468"/>
                </a:solidFill>
                <a:latin typeface="Microsoft YaHei"/>
                <a:ea typeface="Microsoft YaHei"/>
                <a:cs typeface="Microsoft YaHei"/>
              </a:rPr>
              <a:t>从冲激到特征： RLC 电路的动态分析</a:t>
            </a:r>
            <a:endParaRPr lang="zh-CN" sz="4700"/>
          </a:p>
        </p:txBody>
      </p:sp>
      <p:sp>
        <p:nvSpPr>
          <p:cNvPr id="86" name="TextBox 86"/>
          <p:cNvSpPr txBox="1"/>
          <p:nvPr/>
        </p:nvSpPr>
        <p:spPr>
          <a:xfrm>
            <a:off x="2479172" y="1858438"/>
            <a:ext cx="7218767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061468"/>
                </a:solidFill>
                <a:latin typeface="Microsoft YaHei"/>
                <a:ea typeface="Microsoft YaHei"/>
                <a:cs typeface="Microsoft YaHei"/>
              </a:rPr>
              <a:t>单位冲激信号、状态方程、特征根、特征向量与零极点</a:t>
            </a:r>
            <a:endParaRPr lang="zh-CN" sz="2300"/>
          </a:p>
        </p:txBody>
      </p:sp>
      <p:sp>
        <p:nvSpPr>
          <p:cNvPr id="87" name="TextBox 87"/>
          <p:cNvSpPr txBox="1"/>
          <p:nvPr/>
        </p:nvSpPr>
        <p:spPr>
          <a:xfrm>
            <a:off x="1093753" y="2558085"/>
            <a:ext cx="1932296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冲激激励与系统响应</a:t>
            </a:r>
            <a:endParaRPr lang="zh-CN" sz="1850"/>
          </a:p>
        </p:txBody>
      </p:sp>
      <p:sp>
        <p:nvSpPr>
          <p:cNvPr id="88" name="TextBox 88"/>
          <p:cNvSpPr txBox="1"/>
          <p:nvPr/>
        </p:nvSpPr>
        <p:spPr>
          <a:xfrm>
            <a:off x="656252" y="3162988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003EAF"/>
                </a:solidFill>
                <a:latin typeface="Cambria Math"/>
                <a:ea typeface="Cambria Math"/>
                <a:cs typeface="Cambria Math"/>
              </a:rPr>
              <a:t>δ(t)</a:t>
            </a:r>
            <a:endParaRPr lang="zh-CN" sz="1800"/>
          </a:p>
        </p:txBody>
      </p:sp>
      <p:sp>
        <p:nvSpPr>
          <p:cNvPr id="89" name="TextBox 89"/>
          <p:cNvSpPr txBox="1"/>
          <p:nvPr/>
        </p:nvSpPr>
        <p:spPr>
          <a:xfrm>
            <a:off x="2800007" y="3337900"/>
            <a:ext cx="452084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003EAF"/>
                </a:solidFill>
                <a:latin typeface="Cambria Math"/>
                <a:ea typeface="Cambria Math"/>
                <a:cs typeface="Cambria Math"/>
              </a:rPr>
              <a:t>h(t)</a:t>
            </a:r>
            <a:endParaRPr lang="zh-CN" sz="1800"/>
          </a:p>
        </p:txBody>
      </p:sp>
      <p:sp>
        <p:nvSpPr>
          <p:cNvPr id="90" name="TextBox 90"/>
          <p:cNvSpPr txBox="1"/>
          <p:nvPr/>
        </p:nvSpPr>
        <p:spPr>
          <a:xfrm>
            <a:off x="3536467" y="4540419"/>
            <a:ext cx="17500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i="1">
                <a:solidFill>
                  <a:srgbClr val="003EAF"/>
                </a:solidFill>
                <a:latin typeface="Cambria Math"/>
                <a:ea typeface="Cambria Math"/>
                <a:cs typeface="Cambria Math"/>
              </a:rPr>
              <a:t>t</a:t>
            </a:r>
            <a:endParaRPr lang="zh-CN" sz="1700"/>
          </a:p>
        </p:txBody>
      </p:sp>
      <p:sp>
        <p:nvSpPr>
          <p:cNvPr id="91" name="TextBox 91"/>
          <p:cNvSpPr txBox="1"/>
          <p:nvPr/>
        </p:nvSpPr>
        <p:spPr>
          <a:xfrm>
            <a:off x="1013544" y="5181762"/>
            <a:ext cx="860419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 </a:t>
            </a:r>
            <a:r>
              <a:rPr lang="zh-CN" sz="1750" b="1" i="1">
                <a:solidFill>
                  <a:srgbClr val="D00000"/>
                </a:solidFill>
                <a:latin typeface="Cambria Math"/>
                <a:ea typeface="Cambria Math"/>
                <a:cs typeface="Cambria Math"/>
              </a:rPr>
              <a:t>δ(t)</a:t>
            </a:r>
            <a:endParaRPr lang="zh-CN" sz="1750"/>
          </a:p>
        </p:txBody>
      </p:sp>
      <p:sp>
        <p:nvSpPr>
          <p:cNvPr id="92" name="TextBox 92"/>
          <p:cNvSpPr txBox="1"/>
          <p:nvPr/>
        </p:nvSpPr>
        <p:spPr>
          <a:xfrm>
            <a:off x="1881254" y="5181762"/>
            <a:ext cx="262501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D00000"/>
                </a:solidFill>
                <a:latin typeface="Arial"/>
                <a:ea typeface="Arial"/>
                <a:cs typeface="Arial"/>
              </a:rPr>
              <a:t>→</a:t>
            </a:r>
            <a:endParaRPr lang="zh-CN" sz="1900"/>
          </a:p>
        </p:txBody>
      </p:sp>
      <p:sp>
        <p:nvSpPr>
          <p:cNvPr id="93" name="TextBox 93"/>
          <p:cNvSpPr txBox="1"/>
          <p:nvPr/>
        </p:nvSpPr>
        <p:spPr>
          <a:xfrm>
            <a:off x="2143755" y="5181762"/>
            <a:ext cx="977086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 </a:t>
            </a:r>
            <a:r>
              <a:rPr lang="zh-CN" sz="1750" b="1" i="1">
                <a:solidFill>
                  <a:srgbClr val="D00000"/>
                </a:solidFill>
                <a:latin typeface="Cambria Math"/>
                <a:ea typeface="Cambria Math"/>
                <a:cs typeface="Cambria Math"/>
              </a:rPr>
              <a:t>h(t)</a:t>
            </a:r>
            <a:endParaRPr lang="zh-CN" sz="1750"/>
          </a:p>
        </p:txBody>
      </p:sp>
      <p:sp>
        <p:nvSpPr>
          <p:cNvPr id="94" name="TextBox 94"/>
          <p:cNvSpPr txBox="1"/>
          <p:nvPr/>
        </p:nvSpPr>
        <p:spPr>
          <a:xfrm>
            <a:off x="4848970" y="2558085"/>
            <a:ext cx="2595839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研究对象：串联 RLC 电路</a:t>
            </a:r>
            <a:endParaRPr lang="zh-CN" sz="1850" dirty="0"/>
          </a:p>
        </p:txBody>
      </p:sp>
      <p:sp>
        <p:nvSpPr>
          <p:cNvPr id="95" name="TextBox 95"/>
          <p:cNvSpPr txBox="1"/>
          <p:nvPr/>
        </p:nvSpPr>
        <p:spPr>
          <a:xfrm>
            <a:off x="5279179" y="3031804"/>
            <a:ext cx="175000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 i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lang="zh-CN" sz="2000" dirty="0"/>
          </a:p>
        </p:txBody>
      </p:sp>
      <p:sp>
        <p:nvSpPr>
          <p:cNvPr id="96" name="TextBox 96"/>
          <p:cNvSpPr txBox="1"/>
          <p:nvPr/>
        </p:nvSpPr>
        <p:spPr>
          <a:xfrm>
            <a:off x="6278140" y="3031804"/>
            <a:ext cx="175000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 lang="zh-CN" sz="2000"/>
          </a:p>
        </p:txBody>
      </p:sp>
      <p:sp>
        <p:nvSpPr>
          <p:cNvPr id="97" name="TextBox 97"/>
          <p:cNvSpPr txBox="1"/>
          <p:nvPr/>
        </p:nvSpPr>
        <p:spPr>
          <a:xfrm>
            <a:off x="4200010" y="3935515"/>
            <a:ext cx="401043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003EAF"/>
                </a:solidFill>
                <a:latin typeface="Cambria Math"/>
                <a:ea typeface="Cambria Math"/>
                <a:cs typeface="Cambria Math"/>
              </a:rPr>
              <a:t>u(t)</a:t>
            </a:r>
            <a:endParaRPr lang="zh-CN" sz="1800"/>
          </a:p>
        </p:txBody>
      </p:sp>
      <p:sp>
        <p:nvSpPr>
          <p:cNvPr id="98" name="TextBox 98"/>
          <p:cNvSpPr txBox="1"/>
          <p:nvPr/>
        </p:nvSpPr>
        <p:spPr>
          <a:xfrm>
            <a:off x="4732303" y="3884499"/>
            <a:ext cx="1895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lang="zh-CN" sz="1900"/>
          </a:p>
        </p:txBody>
      </p:sp>
      <p:sp>
        <p:nvSpPr>
          <p:cNvPr id="99" name="TextBox 99"/>
          <p:cNvSpPr txBox="1"/>
          <p:nvPr/>
        </p:nvSpPr>
        <p:spPr>
          <a:xfrm>
            <a:off x="4732303" y="4088563"/>
            <a:ext cx="1895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</a:t>
            </a:r>
            <a:endParaRPr lang="zh-CN" sz="1900"/>
          </a:p>
        </p:txBody>
      </p:sp>
      <p:sp>
        <p:nvSpPr>
          <p:cNvPr id="100" name="TextBox 100"/>
          <p:cNvSpPr txBox="1"/>
          <p:nvPr/>
        </p:nvSpPr>
        <p:spPr>
          <a:xfrm>
            <a:off x="6139598" y="3716876"/>
            <a:ext cx="30625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i_L</a:t>
            </a:r>
            <a:endParaRPr lang="zh-CN" sz="1800"/>
          </a:p>
        </p:txBody>
      </p:sp>
      <p:sp>
        <p:nvSpPr>
          <p:cNvPr id="101" name="TextBox 101"/>
          <p:cNvSpPr txBox="1"/>
          <p:nvPr/>
        </p:nvSpPr>
        <p:spPr>
          <a:xfrm>
            <a:off x="6919808" y="3899075"/>
            <a:ext cx="1822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lang="zh-CN" sz="2000"/>
          </a:p>
        </p:txBody>
      </p:sp>
      <p:sp>
        <p:nvSpPr>
          <p:cNvPr id="102" name="TextBox 102"/>
          <p:cNvSpPr txBox="1"/>
          <p:nvPr/>
        </p:nvSpPr>
        <p:spPr>
          <a:xfrm>
            <a:off x="7656268" y="3680436"/>
            <a:ext cx="20416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lang="zh-CN" sz="1900"/>
          </a:p>
        </p:txBody>
      </p:sp>
      <p:sp>
        <p:nvSpPr>
          <p:cNvPr id="103" name="TextBox 103"/>
          <p:cNvSpPr txBox="1"/>
          <p:nvPr/>
        </p:nvSpPr>
        <p:spPr>
          <a:xfrm>
            <a:off x="7663560" y="4299915"/>
            <a:ext cx="20416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</a:t>
            </a:r>
            <a:endParaRPr lang="zh-CN" sz="1900"/>
          </a:p>
        </p:txBody>
      </p:sp>
      <p:sp>
        <p:nvSpPr>
          <p:cNvPr id="104" name="TextBox 104"/>
          <p:cNvSpPr txBox="1"/>
          <p:nvPr/>
        </p:nvSpPr>
        <p:spPr>
          <a:xfrm>
            <a:off x="7619810" y="3993819"/>
            <a:ext cx="364584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003EAF"/>
                </a:solidFill>
                <a:latin typeface="Cambria Math"/>
                <a:ea typeface="Cambria Math"/>
                <a:cs typeface="Cambria Math"/>
              </a:rPr>
              <a:t>v_C</a:t>
            </a:r>
            <a:endParaRPr lang="zh-CN" sz="1800"/>
          </a:p>
        </p:txBody>
      </p:sp>
      <p:sp>
        <p:nvSpPr>
          <p:cNvPr id="105" name="TextBox 105"/>
          <p:cNvSpPr txBox="1"/>
          <p:nvPr/>
        </p:nvSpPr>
        <p:spPr>
          <a:xfrm>
            <a:off x="5177095" y="4576859"/>
            <a:ext cx="612501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endParaRPr lang="zh-CN" sz="1800"/>
          </a:p>
        </p:txBody>
      </p:sp>
      <p:sp>
        <p:nvSpPr>
          <p:cNvPr id="106" name="TextBox 106"/>
          <p:cNvSpPr txBox="1"/>
          <p:nvPr/>
        </p:nvSpPr>
        <p:spPr>
          <a:xfrm>
            <a:off x="5818764" y="4584147"/>
            <a:ext cx="1093753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D00000"/>
                </a:solidFill>
                <a:latin typeface="Cambria Math"/>
                <a:ea typeface="Cambria Math"/>
                <a:cs typeface="Cambria Math"/>
              </a:rPr>
              <a:t>y(t)=v_C(t)</a:t>
            </a:r>
            <a:endParaRPr lang="zh-CN" sz="1800"/>
          </a:p>
        </p:txBody>
      </p:sp>
      <p:sp>
        <p:nvSpPr>
          <p:cNvPr id="107" name="TextBox 107"/>
          <p:cNvSpPr txBox="1"/>
          <p:nvPr/>
        </p:nvSpPr>
        <p:spPr>
          <a:xfrm>
            <a:off x="4637511" y="5218202"/>
            <a:ext cx="838544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 dirty="0">
                <a:solidFill>
                  <a:srgbClr val="061468"/>
                </a:solidFill>
                <a:latin typeface="Cambria Math"/>
                <a:ea typeface="Cambria Math"/>
                <a:cs typeface="Cambria Math"/>
              </a:rPr>
              <a:t>R = 1Ω</a:t>
            </a:r>
            <a:endParaRPr lang="zh-CN" sz="2000" dirty="0"/>
          </a:p>
        </p:txBody>
      </p:sp>
      <p:sp>
        <p:nvSpPr>
          <p:cNvPr id="108" name="TextBox 108"/>
          <p:cNvSpPr txBox="1"/>
          <p:nvPr/>
        </p:nvSpPr>
        <p:spPr>
          <a:xfrm>
            <a:off x="5600013" y="5218202"/>
            <a:ext cx="838544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>
                <a:solidFill>
                  <a:srgbClr val="061468"/>
                </a:solidFill>
                <a:latin typeface="Cambria Math"/>
                <a:ea typeface="Cambria Math"/>
                <a:cs typeface="Cambria Math"/>
              </a:rPr>
              <a:t>L = 1H</a:t>
            </a:r>
            <a:endParaRPr lang="zh-CN" sz="2000"/>
          </a:p>
        </p:txBody>
      </p:sp>
      <p:sp>
        <p:nvSpPr>
          <p:cNvPr id="109" name="TextBox 109"/>
          <p:cNvSpPr txBox="1"/>
          <p:nvPr/>
        </p:nvSpPr>
        <p:spPr>
          <a:xfrm>
            <a:off x="6650016" y="5218202"/>
            <a:ext cx="1166669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>
                <a:solidFill>
                  <a:srgbClr val="061468"/>
                </a:solidFill>
                <a:latin typeface="Cambria Math"/>
                <a:ea typeface="Cambria Math"/>
                <a:cs typeface="Cambria Math"/>
              </a:rPr>
              <a:t>C = 0.25F</a:t>
            </a:r>
            <a:endParaRPr lang="zh-CN" sz="2000"/>
          </a:p>
        </p:txBody>
      </p:sp>
      <p:sp>
        <p:nvSpPr>
          <p:cNvPr id="110" name="TextBox 110"/>
          <p:cNvSpPr txBox="1"/>
          <p:nvPr/>
        </p:nvSpPr>
        <p:spPr>
          <a:xfrm>
            <a:off x="8997938" y="2558085"/>
            <a:ext cx="1939588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极点分布（复平面）</a:t>
            </a:r>
            <a:endParaRPr lang="zh-CN" sz="1850"/>
          </a:p>
        </p:txBody>
      </p:sp>
      <p:sp>
        <p:nvSpPr>
          <p:cNvPr id="111" name="TextBox 111"/>
          <p:cNvSpPr txBox="1"/>
          <p:nvPr/>
        </p:nvSpPr>
        <p:spPr>
          <a:xfrm>
            <a:off x="10281274" y="2958925"/>
            <a:ext cx="247917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061468"/>
                </a:solidFill>
                <a:latin typeface="Arial"/>
                <a:ea typeface="Arial"/>
                <a:cs typeface="Arial"/>
              </a:rPr>
              <a:t>Im</a:t>
            </a:r>
            <a:endParaRPr lang="zh-CN" sz="1500"/>
          </a:p>
        </p:txBody>
      </p:sp>
      <p:sp>
        <p:nvSpPr>
          <p:cNvPr id="112" name="TextBox 112"/>
          <p:cNvSpPr txBox="1"/>
          <p:nvPr/>
        </p:nvSpPr>
        <p:spPr>
          <a:xfrm>
            <a:off x="11112526" y="4190595"/>
            <a:ext cx="247917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061468"/>
                </a:solidFill>
                <a:latin typeface="Arial"/>
                <a:ea typeface="Arial"/>
                <a:cs typeface="Arial"/>
              </a:rPr>
              <a:t>Re</a:t>
            </a:r>
            <a:endParaRPr lang="zh-CN" sz="1500"/>
          </a:p>
        </p:txBody>
      </p:sp>
      <p:sp>
        <p:nvSpPr>
          <p:cNvPr id="113" name="TextBox 113"/>
          <p:cNvSpPr txBox="1"/>
          <p:nvPr/>
        </p:nvSpPr>
        <p:spPr>
          <a:xfrm>
            <a:off x="11272943" y="3192140"/>
            <a:ext cx="328126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极点</a:t>
            </a:r>
            <a:endParaRPr lang="zh-CN" sz="1300"/>
          </a:p>
        </p:txBody>
      </p:sp>
      <p:sp>
        <p:nvSpPr>
          <p:cNvPr id="114" name="TextBox 114"/>
          <p:cNvSpPr txBox="1"/>
          <p:nvPr/>
        </p:nvSpPr>
        <p:spPr>
          <a:xfrm>
            <a:off x="9945857" y="3345188"/>
            <a:ext cx="1239586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D00000"/>
                </a:solidFill>
                <a:latin typeface="Arial"/>
                <a:ea typeface="Arial"/>
                <a:cs typeface="Arial"/>
              </a:rPr>
              <a:t>-0.5 + j1.9365</a:t>
            </a:r>
            <a:endParaRPr lang="zh-CN" sz="1300"/>
          </a:p>
        </p:txBody>
      </p:sp>
      <p:sp>
        <p:nvSpPr>
          <p:cNvPr id="115" name="TextBox 115"/>
          <p:cNvSpPr txBox="1"/>
          <p:nvPr/>
        </p:nvSpPr>
        <p:spPr>
          <a:xfrm>
            <a:off x="9945857" y="4941258"/>
            <a:ext cx="1239586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D00000"/>
                </a:solidFill>
                <a:latin typeface="Arial"/>
                <a:ea typeface="Arial"/>
                <a:cs typeface="Arial"/>
              </a:rPr>
              <a:t>-0.5 - j1.9365</a:t>
            </a:r>
            <a:endParaRPr lang="zh-CN" sz="1300"/>
          </a:p>
        </p:txBody>
      </p:sp>
      <p:sp>
        <p:nvSpPr>
          <p:cNvPr id="116" name="TextBox 116"/>
          <p:cNvSpPr txBox="1"/>
          <p:nvPr/>
        </p:nvSpPr>
        <p:spPr>
          <a:xfrm>
            <a:off x="8873979" y="4154155"/>
            <a:ext cx="21875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-2</a:t>
            </a:r>
            <a:endParaRPr lang="zh-CN" sz="1200"/>
          </a:p>
        </p:txBody>
      </p:sp>
      <p:sp>
        <p:nvSpPr>
          <p:cNvPr id="117" name="TextBox 117"/>
          <p:cNvSpPr txBox="1"/>
          <p:nvPr/>
        </p:nvSpPr>
        <p:spPr>
          <a:xfrm>
            <a:off x="9588564" y="4190595"/>
            <a:ext cx="21875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-1</a:t>
            </a:r>
            <a:endParaRPr lang="zh-CN" sz="1200"/>
          </a:p>
        </p:txBody>
      </p:sp>
      <p:sp>
        <p:nvSpPr>
          <p:cNvPr id="118" name="TextBox 118"/>
          <p:cNvSpPr txBox="1"/>
          <p:nvPr/>
        </p:nvSpPr>
        <p:spPr>
          <a:xfrm>
            <a:off x="10295857" y="4190595"/>
            <a:ext cx="160417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0</a:t>
            </a:r>
            <a:endParaRPr lang="zh-CN" sz="1200"/>
          </a:p>
        </p:txBody>
      </p:sp>
      <p:sp>
        <p:nvSpPr>
          <p:cNvPr id="119" name="TextBox 119"/>
          <p:cNvSpPr txBox="1"/>
          <p:nvPr/>
        </p:nvSpPr>
        <p:spPr>
          <a:xfrm>
            <a:off x="8830229" y="3141124"/>
            <a:ext cx="17500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2</a:t>
            </a:r>
            <a:endParaRPr lang="zh-CN" sz="1200"/>
          </a:p>
        </p:txBody>
      </p:sp>
      <p:sp>
        <p:nvSpPr>
          <p:cNvPr id="120" name="TextBox 120"/>
          <p:cNvSpPr txBox="1"/>
          <p:nvPr/>
        </p:nvSpPr>
        <p:spPr>
          <a:xfrm>
            <a:off x="8830229" y="3592980"/>
            <a:ext cx="17500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1</a:t>
            </a:r>
            <a:endParaRPr lang="zh-CN" sz="1200"/>
          </a:p>
        </p:txBody>
      </p:sp>
      <p:sp>
        <p:nvSpPr>
          <p:cNvPr id="121" name="TextBox 121"/>
          <p:cNvSpPr txBox="1"/>
          <p:nvPr/>
        </p:nvSpPr>
        <p:spPr>
          <a:xfrm>
            <a:off x="8830229" y="4030259"/>
            <a:ext cx="17500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0</a:t>
            </a:r>
            <a:endParaRPr lang="zh-CN" sz="1200"/>
          </a:p>
        </p:txBody>
      </p:sp>
      <p:sp>
        <p:nvSpPr>
          <p:cNvPr id="122" name="TextBox 122"/>
          <p:cNvSpPr txBox="1"/>
          <p:nvPr/>
        </p:nvSpPr>
        <p:spPr>
          <a:xfrm>
            <a:off x="8735437" y="4482115"/>
            <a:ext cx="25520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-1</a:t>
            </a:r>
            <a:endParaRPr lang="zh-CN" sz="1200"/>
          </a:p>
        </p:txBody>
      </p:sp>
      <p:sp>
        <p:nvSpPr>
          <p:cNvPr id="123" name="TextBox 123"/>
          <p:cNvSpPr txBox="1"/>
          <p:nvPr/>
        </p:nvSpPr>
        <p:spPr>
          <a:xfrm>
            <a:off x="8735437" y="4926682"/>
            <a:ext cx="25520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61468"/>
                </a:solidFill>
                <a:latin typeface="Arial"/>
                <a:ea typeface="Arial"/>
                <a:cs typeface="Arial"/>
              </a:rPr>
              <a:t>-2</a:t>
            </a:r>
            <a:endParaRPr lang="zh-CN" sz="1200"/>
          </a:p>
        </p:txBody>
      </p:sp>
      <p:sp>
        <p:nvSpPr>
          <p:cNvPr id="124" name="TextBox 124"/>
          <p:cNvSpPr txBox="1"/>
          <p:nvPr/>
        </p:nvSpPr>
        <p:spPr>
          <a:xfrm>
            <a:off x="2734381" y="6056321"/>
            <a:ext cx="113021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61468"/>
                </a:solidFill>
                <a:latin typeface="Microsoft YaHei"/>
                <a:ea typeface="Microsoft YaHei"/>
                <a:cs typeface="Microsoft YaHei"/>
              </a:rPr>
              <a:t>信号与系统</a:t>
            </a:r>
            <a:endParaRPr lang="zh-CN" sz="2000"/>
          </a:p>
        </p:txBody>
      </p:sp>
      <p:sp>
        <p:nvSpPr>
          <p:cNvPr id="125" name="TextBox 125"/>
          <p:cNvSpPr txBox="1"/>
          <p:nvPr/>
        </p:nvSpPr>
        <p:spPr>
          <a:xfrm>
            <a:off x="5687513" y="6056321"/>
            <a:ext cx="1093753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61468"/>
                </a:solidFill>
                <a:latin typeface="Microsoft YaHei"/>
                <a:ea typeface="Microsoft YaHei"/>
                <a:cs typeface="Microsoft YaHei"/>
              </a:rPr>
              <a:t>小组汇报</a:t>
            </a:r>
            <a:endParaRPr lang="zh-CN" sz="2000"/>
          </a:p>
        </p:txBody>
      </p:sp>
      <p:sp>
        <p:nvSpPr>
          <p:cNvPr id="126" name="TextBox 126"/>
          <p:cNvSpPr txBox="1"/>
          <p:nvPr/>
        </p:nvSpPr>
        <p:spPr>
          <a:xfrm>
            <a:off x="7926060" y="6056321"/>
            <a:ext cx="1079169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61468"/>
                </a:solidFill>
                <a:latin typeface="Microsoft YaHei"/>
                <a:ea typeface="Microsoft YaHei"/>
                <a:cs typeface="Microsoft YaHei"/>
              </a:rPr>
              <a:t>10分钟</a:t>
            </a:r>
            <a:endParaRPr 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04167" y="663207"/>
            <a:ext cx="11703152" cy="51016"/>
          </a:xfrm>
          <a:prstGeom prst="rect">
            <a:avLst/>
          </a:prstGeom>
          <a:solidFill>
            <a:srgbClr val="0B2B75"/>
          </a:solidFill>
          <a:ln w="127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204167" y="896423"/>
            <a:ext cx="11695861" cy="743375"/>
          </a:xfrm>
          <a:prstGeom prst="roundRect">
            <a:avLst>
              <a:gd name="adj" fmla="val 13725"/>
            </a:avLst>
          </a:prstGeom>
          <a:solidFill>
            <a:srgbClr val="F5FA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189584" y="1851150"/>
            <a:ext cx="2705215" cy="3818908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3230216" y="1851150"/>
            <a:ext cx="2588548" cy="3818908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6161473" y="1851150"/>
            <a:ext cx="2676048" cy="3818908"/>
          </a:xfrm>
          <a:prstGeom prst="roundRect">
            <a:avLst>
              <a:gd name="adj" fmla="val 4905"/>
            </a:avLst>
          </a:prstGeom>
          <a:solidFill>
            <a:srgbClr val="FFFF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9180230" y="1851150"/>
            <a:ext cx="2712506" cy="381890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204167" y="5852257"/>
            <a:ext cx="11695861" cy="736087"/>
          </a:xfrm>
          <a:prstGeom prst="roundRect">
            <a:avLst>
              <a:gd name="adj" fmla="val 9901"/>
            </a:avLst>
          </a:prstGeom>
          <a:solidFill>
            <a:srgbClr val="F7FBFF"/>
          </a:solidFill>
          <a:ln w="25400">
            <a:solidFill>
              <a:srgbClr val="0B2B7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189584" y="1851150"/>
            <a:ext cx="2705215" cy="626767"/>
          </a:xfrm>
          <a:prstGeom prst="roundRect">
            <a:avLst>
              <a:gd name="adj" fmla="val 16279"/>
            </a:avLst>
          </a:prstGeom>
          <a:solidFill>
            <a:srgbClr val="083878"/>
          </a:solidFill>
          <a:ln w="12700">
            <a:solidFill>
              <a:srgbClr val="0838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3230216" y="1851150"/>
            <a:ext cx="2588548" cy="626767"/>
          </a:xfrm>
          <a:prstGeom prst="roundRect">
            <a:avLst>
              <a:gd name="adj" fmla="val 16279"/>
            </a:avLst>
          </a:prstGeom>
          <a:solidFill>
            <a:srgbClr val="083878"/>
          </a:solidFill>
          <a:ln w="12700">
            <a:solidFill>
              <a:srgbClr val="0838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6161473" y="1851150"/>
            <a:ext cx="2676048" cy="626767"/>
          </a:xfrm>
          <a:prstGeom prst="roundRect">
            <a:avLst>
              <a:gd name="adj" fmla="val 16279"/>
            </a:avLst>
          </a:prstGeom>
          <a:solidFill>
            <a:srgbClr val="083878"/>
          </a:solidFill>
          <a:ln w="12700">
            <a:solidFill>
              <a:srgbClr val="0838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9180230" y="1851150"/>
            <a:ext cx="2712506" cy="626767"/>
          </a:xfrm>
          <a:prstGeom prst="roundRect">
            <a:avLst>
              <a:gd name="adj" fmla="val 16279"/>
            </a:avLst>
          </a:prstGeom>
          <a:solidFill>
            <a:srgbClr val="083878"/>
          </a:solidFill>
          <a:ln w="12700">
            <a:solidFill>
              <a:srgbClr val="0838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Ellipse 13"/>
          <p:cNvSpPr/>
          <p:nvPr/>
        </p:nvSpPr>
        <p:spPr>
          <a:xfrm>
            <a:off x="2121880" y="962015"/>
            <a:ext cx="597918" cy="597615"/>
          </a:xfrm>
          <a:prstGeom prst="ellipse">
            <a:avLst/>
          </a:prstGeom>
          <a:solidFill>
            <a:srgbClr val="12339A"/>
          </a:solidFill>
          <a:ln w="12700">
            <a:solidFill>
              <a:srgbClr val="123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 14"/>
          <p:cNvSpPr/>
          <p:nvPr/>
        </p:nvSpPr>
        <p:spPr>
          <a:xfrm>
            <a:off x="2894798" y="3381628"/>
            <a:ext cx="328126" cy="386264"/>
          </a:xfrm>
          <a:prstGeom prst="rightArrow">
            <a:avLst/>
          </a:prstGeom>
          <a:solidFill>
            <a:srgbClr val="0B3E91"/>
          </a:solidFill>
          <a:ln w="12700">
            <a:solidFill>
              <a:srgbClr val="0B3E9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 15"/>
          <p:cNvSpPr/>
          <p:nvPr/>
        </p:nvSpPr>
        <p:spPr>
          <a:xfrm>
            <a:off x="5818764" y="3381628"/>
            <a:ext cx="328126" cy="386264"/>
          </a:xfrm>
          <a:prstGeom prst="rightArrow">
            <a:avLst/>
          </a:prstGeom>
          <a:solidFill>
            <a:srgbClr val="0B3E91"/>
          </a:solidFill>
          <a:ln w="12700">
            <a:solidFill>
              <a:srgbClr val="0B3E9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 16"/>
          <p:cNvSpPr/>
          <p:nvPr/>
        </p:nvSpPr>
        <p:spPr>
          <a:xfrm>
            <a:off x="8837521" y="3381628"/>
            <a:ext cx="328126" cy="386264"/>
          </a:xfrm>
          <a:prstGeom prst="rightArrow">
            <a:avLst/>
          </a:prstGeom>
          <a:solidFill>
            <a:srgbClr val="0B3E91"/>
          </a:solidFill>
          <a:ln w="12700">
            <a:solidFill>
              <a:srgbClr val="0B3E9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284376" y="1967758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3325008" y="1967758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256265" y="1967758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Ellipse 20"/>
          <p:cNvSpPr/>
          <p:nvPr/>
        </p:nvSpPr>
        <p:spPr>
          <a:xfrm>
            <a:off x="9275022" y="1967758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313542" y="2856893"/>
            <a:ext cx="2450006" cy="991167"/>
          </a:xfrm>
          <a:prstGeom prst="roundRect">
            <a:avLst>
              <a:gd name="adj" fmla="val 4412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313542" y="4154155"/>
            <a:ext cx="2450006" cy="648631"/>
          </a:xfrm>
          <a:prstGeom prst="roundRect">
            <a:avLst>
              <a:gd name="adj" fmla="val 6742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313542" y="5065154"/>
            <a:ext cx="2442714" cy="473719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3368758" y="2878757"/>
            <a:ext cx="2318755" cy="1136927"/>
          </a:xfrm>
          <a:prstGeom prst="roundRect">
            <a:avLst>
              <a:gd name="adj" fmla="val 3846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oundrect 25"/>
          <p:cNvSpPr/>
          <p:nvPr/>
        </p:nvSpPr>
        <p:spPr>
          <a:xfrm>
            <a:off x="4025009" y="4234323"/>
            <a:ext cx="1020836" cy="583039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oundrect 26"/>
          <p:cNvSpPr/>
          <p:nvPr/>
        </p:nvSpPr>
        <p:spPr>
          <a:xfrm>
            <a:off x="3368758" y="5065154"/>
            <a:ext cx="2304172" cy="473719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oundrect 27"/>
          <p:cNvSpPr/>
          <p:nvPr/>
        </p:nvSpPr>
        <p:spPr>
          <a:xfrm>
            <a:off x="6300015" y="2878757"/>
            <a:ext cx="2377089" cy="1049471"/>
          </a:xfrm>
          <a:prstGeom prst="roundRect">
            <a:avLst>
              <a:gd name="adj" fmla="val 4167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Roundrect 28"/>
          <p:cNvSpPr/>
          <p:nvPr/>
        </p:nvSpPr>
        <p:spPr>
          <a:xfrm>
            <a:off x="6300015" y="5065154"/>
            <a:ext cx="2318755" cy="473719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oundrect 29"/>
          <p:cNvSpPr/>
          <p:nvPr/>
        </p:nvSpPr>
        <p:spPr>
          <a:xfrm>
            <a:off x="9340647" y="2878757"/>
            <a:ext cx="2428131" cy="1093199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oundrect 30"/>
          <p:cNvSpPr/>
          <p:nvPr/>
        </p:nvSpPr>
        <p:spPr>
          <a:xfrm>
            <a:off x="9326063" y="4044835"/>
            <a:ext cx="2442714" cy="991167"/>
          </a:xfrm>
          <a:prstGeom prst="roundRect">
            <a:avLst>
              <a:gd name="adj" fmla="val 4412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oundrect 31"/>
          <p:cNvSpPr/>
          <p:nvPr/>
        </p:nvSpPr>
        <p:spPr>
          <a:xfrm>
            <a:off x="9326063" y="5079730"/>
            <a:ext cx="2442714" cy="459143"/>
          </a:xfrm>
          <a:prstGeom prst="roundRect">
            <a:avLst>
              <a:gd name="adj" fmla="val 12698"/>
            </a:avLst>
          </a:prstGeom>
          <a:solidFill>
            <a:srgbClr val="F8FBFF"/>
          </a:solidFill>
          <a:ln w="17780">
            <a:solidFill>
              <a:srgbClr val="8EB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>
            <a:off x="3412508" y="4533131"/>
            <a:ext cx="612501" cy="0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>
            <a:off x="5045845" y="4533131"/>
            <a:ext cx="583335" cy="0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>
            <a:off x="6679182" y="4606011"/>
            <a:ext cx="1589587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>
            <a:off x="7459392" y="4022971"/>
            <a:ext cx="0" cy="991167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>
            <a:off x="7240642" y="4241611"/>
            <a:ext cx="94792" cy="94744"/>
          </a:xfrm>
          <a:prstGeom prst="line">
            <a:avLst/>
          </a:prstGeom>
          <a:noFill/>
          <a:ln w="12700">
            <a:solidFill>
              <a:srgbClr val="4A8D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 flipV="1">
            <a:off x="7247934" y="4868378"/>
            <a:ext cx="116667" cy="94744"/>
          </a:xfrm>
          <a:prstGeom prst="line">
            <a:avLst/>
          </a:prstGeom>
          <a:noFill/>
          <a:ln w="12700">
            <a:solidFill>
              <a:srgbClr val="4A8D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7787518" y="4270763"/>
            <a:ext cx="0" cy="641343"/>
          </a:xfrm>
          <a:prstGeom prst="line">
            <a:avLst/>
          </a:prstGeom>
          <a:noFill/>
          <a:ln w="12700">
            <a:solidFill>
              <a:srgbClr val="4A8D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>
            <a:off x="7597934" y="4081275"/>
            <a:ext cx="204167" cy="218640"/>
          </a:xfrm>
          <a:prstGeom prst="line">
            <a:avLst/>
          </a:prstGeom>
          <a:noFill/>
          <a:ln w="12700">
            <a:solidFill>
              <a:srgbClr val="4A8D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 flipV="1">
            <a:off x="7597934" y="4882954"/>
            <a:ext cx="204167" cy="218640"/>
          </a:xfrm>
          <a:prstGeom prst="line">
            <a:avLst/>
          </a:prstGeom>
          <a:noFill/>
          <a:ln w="12700">
            <a:solidFill>
              <a:srgbClr val="4A8D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>
            <a:off x="9464605" y="3614844"/>
            <a:ext cx="2070838" cy="0"/>
          </a:xfrm>
          <a:prstGeom prst="line">
            <a:avLst/>
          </a:prstGeom>
          <a:noFill/>
          <a:ln w="254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 flipV="1">
            <a:off x="9603147" y="3184852"/>
            <a:ext cx="0" cy="721511"/>
          </a:xfrm>
          <a:prstGeom prst="line">
            <a:avLst/>
          </a:prstGeom>
          <a:noFill/>
          <a:ln w="254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 flipV="1">
            <a:off x="9909398" y="3214004"/>
            <a:ext cx="153125" cy="524735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>
            <a:off x="10062524" y="3214004"/>
            <a:ext cx="145834" cy="655919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 flipV="1">
            <a:off x="10208357" y="3432644"/>
            <a:ext cx="233334" cy="437279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>
            <a:off x="10441691" y="3432644"/>
            <a:ext cx="247917" cy="320672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Line 47"/>
          <p:cNvSpPr/>
          <p:nvPr/>
        </p:nvSpPr>
        <p:spPr>
          <a:xfrm flipV="1">
            <a:off x="10689608" y="3549252"/>
            <a:ext cx="211459" cy="204064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Line 48"/>
          <p:cNvSpPr/>
          <p:nvPr/>
        </p:nvSpPr>
        <p:spPr>
          <a:xfrm>
            <a:off x="10901067" y="3549252"/>
            <a:ext cx="255209" cy="123896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V="1">
            <a:off x="11156276" y="3614844"/>
            <a:ext cx="335417" cy="58304"/>
          </a:xfrm>
          <a:prstGeom prst="line">
            <a:avLst/>
          </a:prstGeom>
          <a:noFill/>
          <a:ln w="381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>
            <a:off x="9625023" y="4591435"/>
            <a:ext cx="1691671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>
            <a:off x="10551066" y="4176019"/>
            <a:ext cx="0" cy="787103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Rect 52"/>
          <p:cNvSpPr/>
          <p:nvPr/>
        </p:nvSpPr>
        <p:spPr>
          <a:xfrm>
            <a:off x="3937509" y="4482115"/>
            <a:ext cx="102084" cy="102032"/>
          </a:xfrm>
          <a:prstGeom prst="triangle">
            <a:avLst/>
          </a:prstGeom>
          <a:solidFill>
            <a:srgbClr val="1D4A9D"/>
          </a:solidFill>
          <a:ln w="127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Rect 53"/>
          <p:cNvSpPr/>
          <p:nvPr/>
        </p:nvSpPr>
        <p:spPr>
          <a:xfrm>
            <a:off x="5541680" y="4482115"/>
            <a:ext cx="102084" cy="102032"/>
          </a:xfrm>
          <a:prstGeom prst="triangle">
            <a:avLst/>
          </a:prstGeom>
          <a:solidFill>
            <a:srgbClr val="1D4A9D"/>
          </a:solidFill>
          <a:ln w="12700">
            <a:solidFill>
              <a:srgbClr val="1D4A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ct 54"/>
          <p:cNvSpPr/>
          <p:nvPr/>
        </p:nvSpPr>
        <p:spPr>
          <a:xfrm>
            <a:off x="8225019" y="4554995"/>
            <a:ext cx="87500" cy="102032"/>
          </a:xfrm>
          <a:prstGeom prst="triangle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Rect 55"/>
          <p:cNvSpPr/>
          <p:nvPr/>
        </p:nvSpPr>
        <p:spPr>
          <a:xfrm>
            <a:off x="7415642" y="4008395"/>
            <a:ext cx="94792" cy="94744"/>
          </a:xfrm>
          <a:prstGeom prst="triangle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ect 56"/>
          <p:cNvSpPr/>
          <p:nvPr/>
        </p:nvSpPr>
        <p:spPr>
          <a:xfrm>
            <a:off x="11272943" y="4540419"/>
            <a:ext cx="87500" cy="102032"/>
          </a:xfrm>
          <a:prstGeom prst="triangle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Rect 57"/>
          <p:cNvSpPr/>
          <p:nvPr/>
        </p:nvSpPr>
        <p:spPr>
          <a:xfrm>
            <a:off x="10507316" y="4161443"/>
            <a:ext cx="94792" cy="94744"/>
          </a:xfrm>
          <a:prstGeom prst="triangle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379168" y="1982334"/>
            <a:ext cx="247917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520"/>
          </a:p>
        </p:txBody>
      </p:sp>
      <p:sp>
        <p:nvSpPr>
          <p:cNvPr id="59" name="TextBox 59"/>
          <p:cNvSpPr txBox="1"/>
          <p:nvPr/>
        </p:nvSpPr>
        <p:spPr>
          <a:xfrm>
            <a:off x="816669" y="1967758"/>
            <a:ext cx="2005213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输入输出关系:</a:t>
            </a:r>
            <a:endParaRPr lang="zh-CN" sz="1550"/>
          </a:p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微分方程 / 传递函数</a:t>
            </a:r>
            <a:endParaRPr lang="zh-CN" sz="1550"/>
          </a:p>
        </p:txBody>
      </p:sp>
      <p:sp>
        <p:nvSpPr>
          <p:cNvPr id="60" name="TextBox 60"/>
          <p:cNvSpPr txBox="1"/>
          <p:nvPr/>
        </p:nvSpPr>
        <p:spPr>
          <a:xfrm>
            <a:off x="3419800" y="1982334"/>
            <a:ext cx="247917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520"/>
          </a:p>
        </p:txBody>
      </p:sp>
      <p:sp>
        <p:nvSpPr>
          <p:cNvPr id="61" name="TextBox 61"/>
          <p:cNvSpPr txBox="1"/>
          <p:nvPr/>
        </p:nvSpPr>
        <p:spPr>
          <a:xfrm>
            <a:off x="3857301" y="1967758"/>
            <a:ext cx="1888546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内部状态描述:</a:t>
            </a:r>
            <a:endParaRPr lang="zh-CN" sz="1550"/>
          </a:p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状态方程</a:t>
            </a:r>
            <a:endParaRPr lang="zh-CN" sz="1550"/>
          </a:p>
        </p:txBody>
      </p:sp>
      <p:sp>
        <p:nvSpPr>
          <p:cNvPr id="62" name="TextBox 62"/>
          <p:cNvSpPr txBox="1"/>
          <p:nvPr/>
        </p:nvSpPr>
        <p:spPr>
          <a:xfrm>
            <a:off x="6351057" y="1982334"/>
            <a:ext cx="247917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520"/>
          </a:p>
        </p:txBody>
      </p:sp>
      <p:sp>
        <p:nvSpPr>
          <p:cNvPr id="63" name="TextBox 63"/>
          <p:cNvSpPr txBox="1"/>
          <p:nvPr/>
        </p:nvSpPr>
        <p:spPr>
          <a:xfrm>
            <a:off x="6788558" y="1967758"/>
            <a:ext cx="1976046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模态本质:</a:t>
            </a:r>
            <a:endParaRPr lang="zh-CN" sz="1550"/>
          </a:p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特征值 / 特征向量</a:t>
            </a:r>
            <a:endParaRPr lang="zh-CN" sz="1550"/>
          </a:p>
        </p:txBody>
      </p:sp>
      <p:sp>
        <p:nvSpPr>
          <p:cNvPr id="64" name="TextBox 64"/>
          <p:cNvSpPr txBox="1"/>
          <p:nvPr/>
        </p:nvSpPr>
        <p:spPr>
          <a:xfrm>
            <a:off x="9369814" y="1982334"/>
            <a:ext cx="247917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2520"/>
          </a:p>
        </p:txBody>
      </p:sp>
      <p:sp>
        <p:nvSpPr>
          <p:cNvPr id="65" name="TextBox 65"/>
          <p:cNvSpPr txBox="1"/>
          <p:nvPr/>
        </p:nvSpPr>
        <p:spPr>
          <a:xfrm>
            <a:off x="9807315" y="1967758"/>
            <a:ext cx="2012505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系统表现:</a:t>
            </a:r>
            <a:endParaRPr lang="zh-CN" sz="1550"/>
          </a:p>
          <a:p>
            <a:pPr algn="l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冲激响应 / 极点分布</a:t>
            </a:r>
            <a:endParaRPr lang="zh-CN" sz="1550"/>
          </a:p>
        </p:txBody>
      </p:sp>
      <p:sp>
        <p:nvSpPr>
          <p:cNvPr id="66" name="TextBox 66"/>
          <p:cNvSpPr txBox="1"/>
          <p:nvPr/>
        </p:nvSpPr>
        <p:spPr>
          <a:xfrm>
            <a:off x="597918" y="2601813"/>
            <a:ext cx="1917713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只关注输入与输出的关系</a:t>
            </a:r>
            <a:endParaRPr lang="zh-CN" sz="1700"/>
          </a:p>
        </p:txBody>
      </p:sp>
      <p:sp>
        <p:nvSpPr>
          <p:cNvPr id="67" name="TextBox 67"/>
          <p:cNvSpPr txBox="1"/>
          <p:nvPr/>
        </p:nvSpPr>
        <p:spPr>
          <a:xfrm>
            <a:off x="328126" y="3920939"/>
            <a:ext cx="765627" cy="240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8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传递函数</a:t>
            </a:r>
            <a:endParaRPr lang="zh-CN" sz="1780"/>
          </a:p>
        </p:txBody>
      </p:sp>
      <p:sp>
        <p:nvSpPr>
          <p:cNvPr id="68" name="TextBox 68"/>
          <p:cNvSpPr txBox="1"/>
          <p:nvPr/>
        </p:nvSpPr>
        <p:spPr>
          <a:xfrm>
            <a:off x="3514592" y="2601813"/>
            <a:ext cx="1997921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揭示系统内部变量如何演化</a:t>
            </a:r>
            <a:endParaRPr lang="zh-CN" sz="1700"/>
          </a:p>
        </p:txBody>
      </p:sp>
      <p:sp>
        <p:nvSpPr>
          <p:cNvPr id="69" name="TextBox 69"/>
          <p:cNvSpPr txBox="1"/>
          <p:nvPr/>
        </p:nvSpPr>
        <p:spPr>
          <a:xfrm>
            <a:off x="6715641" y="2601813"/>
            <a:ext cx="1560420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刻画系统的固有动态模式</a:t>
            </a:r>
            <a:endParaRPr lang="zh-CN" sz="1700"/>
          </a:p>
        </p:txBody>
      </p:sp>
      <p:sp>
        <p:nvSpPr>
          <p:cNvPr id="70" name="TextBox 70"/>
          <p:cNvSpPr txBox="1"/>
          <p:nvPr/>
        </p:nvSpPr>
        <p:spPr>
          <a:xfrm>
            <a:off x="9603147" y="2601813"/>
            <a:ext cx="1822921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反映系统的实际响应特性</a:t>
            </a:r>
            <a:endParaRPr lang="zh-CN" sz="1700"/>
          </a:p>
        </p:txBody>
      </p:sp>
      <p:sp>
        <p:nvSpPr>
          <p:cNvPr id="71" name="TextBox 71"/>
          <p:cNvSpPr txBox="1"/>
          <p:nvPr/>
        </p:nvSpPr>
        <p:spPr>
          <a:xfrm>
            <a:off x="204167" y="109320"/>
            <a:ext cx="8166686" cy="495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329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如何“看到”一个系统的全部动态特性？</a:t>
            </a:r>
            <a:endParaRPr lang="zh-CN" sz="3329"/>
          </a:p>
        </p:txBody>
      </p:sp>
      <p:sp>
        <p:nvSpPr>
          <p:cNvPr id="72" name="TextBox 72"/>
          <p:cNvSpPr txBox="1"/>
          <p:nvPr/>
        </p:nvSpPr>
        <p:spPr>
          <a:xfrm>
            <a:off x="2282297" y="1020319"/>
            <a:ext cx="306251" cy="4737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  <a:endParaRPr lang="zh-CN" sz="4000"/>
          </a:p>
        </p:txBody>
      </p:sp>
      <p:sp>
        <p:nvSpPr>
          <p:cNvPr id="73" name="TextBox 73"/>
          <p:cNvSpPr txBox="1"/>
          <p:nvPr/>
        </p:nvSpPr>
        <p:spPr>
          <a:xfrm>
            <a:off x="3011465" y="1093199"/>
            <a:ext cx="4192718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6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给定一个电路，如何预测它对</a:t>
            </a:r>
            <a:endParaRPr lang="zh-CN" sz="2660"/>
          </a:p>
        </p:txBody>
      </p:sp>
      <p:sp>
        <p:nvSpPr>
          <p:cNvPr id="74" name="TextBox 74"/>
          <p:cNvSpPr txBox="1"/>
          <p:nvPr/>
        </p:nvSpPr>
        <p:spPr>
          <a:xfrm>
            <a:off x="7422934" y="1093199"/>
            <a:ext cx="2515631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6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任意输入的响应？</a:t>
            </a:r>
            <a:endParaRPr lang="zh-CN" sz="2660"/>
          </a:p>
        </p:txBody>
      </p:sp>
      <p:sp>
        <p:nvSpPr>
          <p:cNvPr id="75" name="TextBox 75"/>
          <p:cNvSpPr txBox="1"/>
          <p:nvPr/>
        </p:nvSpPr>
        <p:spPr>
          <a:xfrm>
            <a:off x="386459" y="2958925"/>
            <a:ext cx="2304172" cy="8454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a_n d^n y/dt^n + ... + a_1 dy/dt + a_0 y</a:t>
            </a:r>
            <a:endParaRPr lang="zh-CN" sz="1180"/>
          </a:p>
          <a:p>
            <a:pPr algn="l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= b_m d^m u/dt^m + ...</a:t>
            </a:r>
            <a:endParaRPr lang="zh-CN" sz="1180"/>
          </a:p>
          <a:p>
            <a:pPr algn="l"/>
            <a:r>
              <a:rPr lang="zh-CN" sz="118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+ b_1 du/dt + b_0 u</a:t>
            </a:r>
            <a:endParaRPr lang="zh-CN" sz="1180"/>
          </a:p>
        </p:txBody>
      </p:sp>
      <p:sp>
        <p:nvSpPr>
          <p:cNvPr id="76" name="TextBox 76"/>
          <p:cNvSpPr txBox="1"/>
          <p:nvPr/>
        </p:nvSpPr>
        <p:spPr>
          <a:xfrm>
            <a:off x="386459" y="4256187"/>
            <a:ext cx="2304172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2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G(s) = Y(s) / U(s)</a:t>
            </a:r>
            <a:endParaRPr lang="zh-CN" sz="1920"/>
          </a:p>
        </p:txBody>
      </p:sp>
      <p:sp>
        <p:nvSpPr>
          <p:cNvPr id="77" name="TextBox 77"/>
          <p:cNvSpPr txBox="1"/>
          <p:nvPr/>
        </p:nvSpPr>
        <p:spPr>
          <a:xfrm>
            <a:off x="444793" y="5145322"/>
            <a:ext cx="364584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⊕</a:t>
            </a:r>
            <a:endParaRPr lang="zh-CN" sz="2590"/>
          </a:p>
        </p:txBody>
      </p:sp>
      <p:sp>
        <p:nvSpPr>
          <p:cNvPr id="78" name="TextBox 78"/>
          <p:cNvSpPr txBox="1"/>
          <p:nvPr/>
        </p:nvSpPr>
        <p:spPr>
          <a:xfrm>
            <a:off x="896877" y="5181762"/>
            <a:ext cx="1771879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描述</a:t>
            </a:r>
            <a:r>
              <a:rPr lang="zh-CN" sz="141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输入</a:t>
            </a:r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如何影响</a:t>
            </a:r>
            <a:r>
              <a:rPr lang="zh-CN" sz="141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endParaRPr lang="zh-CN" sz="1410"/>
          </a:p>
        </p:txBody>
      </p:sp>
      <p:sp>
        <p:nvSpPr>
          <p:cNvPr id="79" name="TextBox 79"/>
          <p:cNvSpPr txBox="1"/>
          <p:nvPr/>
        </p:nvSpPr>
        <p:spPr>
          <a:xfrm>
            <a:off x="3441675" y="2980789"/>
            <a:ext cx="2172922" cy="9911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x_dot = Ax + Bu</a:t>
            </a:r>
            <a:endParaRPr lang="zh-CN" sz="1630"/>
          </a:p>
          <a:p>
            <a:pPr algn="l"/>
            <a:r>
              <a:rPr lang="zh-CN" sz="16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 = Cx + Du</a:t>
            </a:r>
            <a:endParaRPr lang="zh-CN" sz="1630"/>
          </a:p>
          <a:p>
            <a:pPr algn="l"/>
            <a:r>
              <a:rPr lang="zh-CN" sz="16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x: 状态向量（内部变量）</a:t>
            </a:r>
            <a:endParaRPr lang="zh-CN" sz="1630"/>
          </a:p>
        </p:txBody>
      </p:sp>
      <p:sp>
        <p:nvSpPr>
          <p:cNvPr id="80" name="TextBox 80"/>
          <p:cNvSpPr txBox="1"/>
          <p:nvPr/>
        </p:nvSpPr>
        <p:spPr>
          <a:xfrm>
            <a:off x="4367719" y="4358219"/>
            <a:ext cx="3645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lang="zh-CN" sz="1630"/>
          </a:p>
        </p:txBody>
      </p:sp>
      <p:sp>
        <p:nvSpPr>
          <p:cNvPr id="81" name="TextBox 81"/>
          <p:cNvSpPr txBox="1"/>
          <p:nvPr/>
        </p:nvSpPr>
        <p:spPr>
          <a:xfrm>
            <a:off x="4192718" y="4562283"/>
            <a:ext cx="69271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3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（内部状态）</a:t>
            </a:r>
            <a:endParaRPr lang="zh-CN" sz="1330"/>
          </a:p>
        </p:txBody>
      </p:sp>
      <p:sp>
        <p:nvSpPr>
          <p:cNvPr id="82" name="TextBox 82"/>
          <p:cNvSpPr txBox="1"/>
          <p:nvPr/>
        </p:nvSpPr>
        <p:spPr>
          <a:xfrm>
            <a:off x="3412508" y="4270763"/>
            <a:ext cx="510418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u(t)</a:t>
            </a:r>
            <a:endParaRPr lang="zh-CN" sz="1780"/>
          </a:p>
        </p:txBody>
      </p:sp>
      <p:sp>
        <p:nvSpPr>
          <p:cNvPr id="83" name="TextBox 83"/>
          <p:cNvSpPr txBox="1"/>
          <p:nvPr/>
        </p:nvSpPr>
        <p:spPr>
          <a:xfrm>
            <a:off x="5315637" y="4270763"/>
            <a:ext cx="510418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y(t)</a:t>
            </a:r>
            <a:endParaRPr lang="zh-CN" sz="1780"/>
          </a:p>
        </p:txBody>
      </p:sp>
      <p:sp>
        <p:nvSpPr>
          <p:cNvPr id="84" name="TextBox 84"/>
          <p:cNvSpPr txBox="1"/>
          <p:nvPr/>
        </p:nvSpPr>
        <p:spPr>
          <a:xfrm>
            <a:off x="3500008" y="5145322"/>
            <a:ext cx="364584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◇</a:t>
            </a:r>
            <a:endParaRPr lang="zh-CN" sz="2590"/>
          </a:p>
        </p:txBody>
      </p:sp>
      <p:sp>
        <p:nvSpPr>
          <p:cNvPr id="85" name="TextBox 85"/>
          <p:cNvSpPr txBox="1"/>
          <p:nvPr/>
        </p:nvSpPr>
        <p:spPr>
          <a:xfrm>
            <a:off x="3952093" y="5181762"/>
            <a:ext cx="1633337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描述</a:t>
            </a:r>
            <a:r>
              <a:rPr lang="zh-CN" sz="141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内部</a:t>
            </a:r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运行机制</a:t>
            </a:r>
            <a:endParaRPr lang="zh-CN" sz="1410"/>
          </a:p>
        </p:txBody>
      </p:sp>
      <p:sp>
        <p:nvSpPr>
          <p:cNvPr id="86" name="TextBox 86"/>
          <p:cNvSpPr txBox="1"/>
          <p:nvPr/>
        </p:nvSpPr>
        <p:spPr>
          <a:xfrm>
            <a:off x="6372932" y="2980789"/>
            <a:ext cx="2231255" cy="9037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det(sI - A) = 0</a:t>
            </a:r>
            <a:endParaRPr lang="zh-CN" sz="1330"/>
          </a:p>
          <a:p>
            <a:pPr algn="l"/>
            <a:r>
              <a:rPr lang="zh-CN" sz="13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 = lambda_i   （特征值）</a:t>
            </a:r>
            <a:endParaRPr lang="zh-CN" sz="1330"/>
          </a:p>
          <a:p>
            <a:pPr algn="l"/>
            <a:r>
              <a:rPr lang="zh-CN" sz="13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 v_i = lambda_i v_i</a:t>
            </a:r>
            <a:endParaRPr lang="zh-CN" sz="1330"/>
          </a:p>
          <a:p>
            <a:pPr algn="l"/>
            <a:r>
              <a:rPr lang="zh-CN" sz="133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（特征向量）</a:t>
            </a:r>
            <a:endParaRPr lang="zh-CN" sz="1330"/>
          </a:p>
        </p:txBody>
      </p:sp>
      <p:sp>
        <p:nvSpPr>
          <p:cNvPr id="87" name="TextBox 87"/>
          <p:cNvSpPr txBox="1"/>
          <p:nvPr/>
        </p:nvSpPr>
        <p:spPr>
          <a:xfrm>
            <a:off x="8203144" y="4664315"/>
            <a:ext cx="25520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Re</a:t>
            </a:r>
            <a:endParaRPr lang="zh-CN" sz="1480"/>
          </a:p>
        </p:txBody>
      </p:sp>
      <p:sp>
        <p:nvSpPr>
          <p:cNvPr id="88" name="TextBox 88"/>
          <p:cNvSpPr txBox="1"/>
          <p:nvPr/>
        </p:nvSpPr>
        <p:spPr>
          <a:xfrm>
            <a:off x="7554184" y="4073987"/>
            <a:ext cx="25520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Im</a:t>
            </a:r>
            <a:endParaRPr lang="zh-CN" sz="1480"/>
          </a:p>
        </p:txBody>
      </p:sp>
      <p:sp>
        <p:nvSpPr>
          <p:cNvPr id="89" name="TextBox 89"/>
          <p:cNvSpPr txBox="1"/>
          <p:nvPr/>
        </p:nvSpPr>
        <p:spPr>
          <a:xfrm>
            <a:off x="6985433" y="4299915"/>
            <a:ext cx="18229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20" b="1">
                <a:solidFill>
                  <a:srgbClr val="0A3BB4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220"/>
          </a:p>
        </p:txBody>
      </p:sp>
      <p:sp>
        <p:nvSpPr>
          <p:cNvPr id="90" name="TextBox 90"/>
          <p:cNvSpPr txBox="1"/>
          <p:nvPr/>
        </p:nvSpPr>
        <p:spPr>
          <a:xfrm>
            <a:off x="6985433" y="4678891"/>
            <a:ext cx="18229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20" b="1">
                <a:solidFill>
                  <a:srgbClr val="0A3BB4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220"/>
          </a:p>
        </p:txBody>
      </p:sp>
      <p:sp>
        <p:nvSpPr>
          <p:cNvPr id="91" name="TextBox 91"/>
          <p:cNvSpPr txBox="1"/>
          <p:nvPr/>
        </p:nvSpPr>
        <p:spPr>
          <a:xfrm>
            <a:off x="6431265" y="5145322"/>
            <a:ext cx="364584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~</a:t>
            </a:r>
            <a:endParaRPr lang="zh-CN" sz="2590"/>
          </a:p>
        </p:txBody>
      </p:sp>
      <p:sp>
        <p:nvSpPr>
          <p:cNvPr id="92" name="TextBox 92"/>
          <p:cNvSpPr txBox="1"/>
          <p:nvPr/>
        </p:nvSpPr>
        <p:spPr>
          <a:xfrm>
            <a:off x="6883349" y="5181762"/>
            <a:ext cx="1647921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揭示</a:t>
            </a:r>
            <a:r>
              <a:rPr lang="zh-CN" sz="141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自然运动规律</a:t>
            </a:r>
            <a:endParaRPr lang="zh-CN" sz="1410"/>
          </a:p>
        </p:txBody>
      </p:sp>
      <p:sp>
        <p:nvSpPr>
          <p:cNvPr id="93" name="TextBox 93"/>
          <p:cNvSpPr txBox="1"/>
          <p:nvPr/>
        </p:nvSpPr>
        <p:spPr>
          <a:xfrm>
            <a:off x="9442730" y="2966213"/>
            <a:ext cx="1166669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80" b="1">
                <a:solidFill>
                  <a:srgbClr val="0B2B75"/>
                </a:solidFill>
                <a:latin typeface="Cambria Math"/>
                <a:ea typeface="Cambria Math"/>
                <a:cs typeface="Cambria Math"/>
              </a:rPr>
              <a:t>冲激响应 h(t)</a:t>
            </a:r>
            <a:endParaRPr lang="zh-CN" sz="1480"/>
          </a:p>
        </p:txBody>
      </p:sp>
      <p:sp>
        <p:nvSpPr>
          <p:cNvPr id="94" name="TextBox 94"/>
          <p:cNvSpPr txBox="1"/>
          <p:nvPr/>
        </p:nvSpPr>
        <p:spPr>
          <a:xfrm>
            <a:off x="11550027" y="3651284"/>
            <a:ext cx="131250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3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t</a:t>
            </a:r>
            <a:endParaRPr lang="zh-CN" sz="1330"/>
          </a:p>
        </p:txBody>
      </p:sp>
      <p:sp>
        <p:nvSpPr>
          <p:cNvPr id="95" name="TextBox 95"/>
          <p:cNvSpPr txBox="1"/>
          <p:nvPr/>
        </p:nvSpPr>
        <p:spPr>
          <a:xfrm>
            <a:off x="9428147" y="4132291"/>
            <a:ext cx="83854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5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极点分布</a:t>
            </a:r>
            <a:endParaRPr lang="zh-CN" sz="1550"/>
          </a:p>
        </p:txBody>
      </p:sp>
      <p:sp>
        <p:nvSpPr>
          <p:cNvPr id="96" name="TextBox 96"/>
          <p:cNvSpPr txBox="1"/>
          <p:nvPr/>
        </p:nvSpPr>
        <p:spPr>
          <a:xfrm>
            <a:off x="11243776" y="4649739"/>
            <a:ext cx="25520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Re</a:t>
            </a:r>
            <a:endParaRPr lang="zh-CN" sz="1480"/>
          </a:p>
        </p:txBody>
      </p:sp>
      <p:sp>
        <p:nvSpPr>
          <p:cNvPr id="97" name="TextBox 97"/>
          <p:cNvSpPr txBox="1"/>
          <p:nvPr/>
        </p:nvSpPr>
        <p:spPr>
          <a:xfrm>
            <a:off x="10638567" y="4234323"/>
            <a:ext cx="25520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8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Im</a:t>
            </a:r>
            <a:endParaRPr lang="zh-CN" sz="1480"/>
          </a:p>
        </p:txBody>
      </p:sp>
      <p:sp>
        <p:nvSpPr>
          <p:cNvPr id="98" name="TextBox 98"/>
          <p:cNvSpPr txBox="1"/>
          <p:nvPr/>
        </p:nvSpPr>
        <p:spPr>
          <a:xfrm>
            <a:off x="10179190" y="4343643"/>
            <a:ext cx="18229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000"/>
          </a:p>
        </p:txBody>
      </p:sp>
      <p:sp>
        <p:nvSpPr>
          <p:cNvPr id="99" name="TextBox 99"/>
          <p:cNvSpPr txBox="1"/>
          <p:nvPr/>
        </p:nvSpPr>
        <p:spPr>
          <a:xfrm>
            <a:off x="10179190" y="4708043"/>
            <a:ext cx="18229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000"/>
          </a:p>
        </p:txBody>
      </p:sp>
      <p:sp>
        <p:nvSpPr>
          <p:cNvPr id="100" name="TextBox 100"/>
          <p:cNvSpPr txBox="1"/>
          <p:nvPr/>
        </p:nvSpPr>
        <p:spPr>
          <a:xfrm>
            <a:off x="10587525" y="5072442"/>
            <a:ext cx="18229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000"/>
          </a:p>
        </p:txBody>
      </p:sp>
      <p:sp>
        <p:nvSpPr>
          <p:cNvPr id="101" name="TextBox 101"/>
          <p:cNvSpPr txBox="1"/>
          <p:nvPr/>
        </p:nvSpPr>
        <p:spPr>
          <a:xfrm>
            <a:off x="9457314" y="5159898"/>
            <a:ext cx="364584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|||</a:t>
            </a:r>
            <a:endParaRPr lang="zh-CN" sz="2590"/>
          </a:p>
        </p:txBody>
      </p:sp>
      <p:sp>
        <p:nvSpPr>
          <p:cNvPr id="102" name="TextBox 102"/>
          <p:cNvSpPr txBox="1"/>
          <p:nvPr/>
        </p:nvSpPr>
        <p:spPr>
          <a:xfrm>
            <a:off x="9909398" y="5196338"/>
            <a:ext cx="1771879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1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直接决定</a:t>
            </a:r>
            <a:r>
              <a:rPr lang="zh-CN" sz="141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响应形态</a:t>
            </a:r>
            <a:endParaRPr lang="zh-CN" sz="1410"/>
          </a:p>
        </p:txBody>
      </p:sp>
      <p:sp>
        <p:nvSpPr>
          <p:cNvPr id="103" name="TextBox 103"/>
          <p:cNvSpPr txBox="1"/>
          <p:nvPr/>
        </p:nvSpPr>
        <p:spPr>
          <a:xfrm>
            <a:off x="641668" y="5932425"/>
            <a:ext cx="670835" cy="5393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440" b="1">
                <a:solidFill>
                  <a:srgbClr val="1D4A9D"/>
                </a:solidFill>
                <a:latin typeface="Microsoft YaHei"/>
                <a:ea typeface="Microsoft YaHei"/>
                <a:cs typeface="Microsoft YaHei"/>
              </a:rPr>
              <a:t>◎</a:t>
            </a:r>
            <a:endParaRPr lang="zh-CN" sz="4440"/>
          </a:p>
        </p:txBody>
      </p:sp>
      <p:sp>
        <p:nvSpPr>
          <p:cNvPr id="104" name="TextBox 104"/>
          <p:cNvSpPr txBox="1"/>
          <p:nvPr/>
        </p:nvSpPr>
        <p:spPr>
          <a:xfrm>
            <a:off x="2005213" y="6063609"/>
            <a:ext cx="1604170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6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系统动态</a:t>
            </a:r>
            <a:endParaRPr lang="zh-CN" sz="2660"/>
          </a:p>
        </p:txBody>
      </p:sp>
      <p:sp>
        <p:nvSpPr>
          <p:cNvPr id="105" name="TextBox 105"/>
          <p:cNvSpPr txBox="1"/>
          <p:nvPr/>
        </p:nvSpPr>
        <p:spPr>
          <a:xfrm>
            <a:off x="3689592" y="6070897"/>
            <a:ext cx="306251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6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=</a:t>
            </a:r>
            <a:endParaRPr lang="zh-CN" sz="2660"/>
          </a:p>
        </p:txBody>
      </p:sp>
      <p:sp>
        <p:nvSpPr>
          <p:cNvPr id="106" name="TextBox 106"/>
          <p:cNvSpPr txBox="1"/>
          <p:nvPr/>
        </p:nvSpPr>
        <p:spPr>
          <a:xfrm>
            <a:off x="4090635" y="6070897"/>
            <a:ext cx="2100005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输入输出关系</a:t>
            </a:r>
            <a:endParaRPr lang="zh-CN" sz="2590"/>
          </a:p>
        </p:txBody>
      </p:sp>
      <p:sp>
        <p:nvSpPr>
          <p:cNvPr id="107" name="TextBox 107"/>
          <p:cNvSpPr txBox="1"/>
          <p:nvPr/>
        </p:nvSpPr>
        <p:spPr>
          <a:xfrm>
            <a:off x="6351057" y="6070897"/>
            <a:ext cx="233334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2520"/>
          </a:p>
        </p:txBody>
      </p:sp>
      <p:sp>
        <p:nvSpPr>
          <p:cNvPr id="108" name="TextBox 108"/>
          <p:cNvSpPr txBox="1"/>
          <p:nvPr/>
        </p:nvSpPr>
        <p:spPr>
          <a:xfrm>
            <a:off x="6766683" y="6070897"/>
            <a:ext cx="2187505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内部状态演化</a:t>
            </a:r>
            <a:endParaRPr lang="zh-CN" sz="2590"/>
          </a:p>
        </p:txBody>
      </p:sp>
      <p:sp>
        <p:nvSpPr>
          <p:cNvPr id="109" name="TextBox 109"/>
          <p:cNvSpPr txBox="1"/>
          <p:nvPr/>
        </p:nvSpPr>
        <p:spPr>
          <a:xfrm>
            <a:off x="9078146" y="6070897"/>
            <a:ext cx="233334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20" b="1">
                <a:solidFill>
                  <a:srgbClr val="0B2B75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2520"/>
          </a:p>
        </p:txBody>
      </p:sp>
      <p:sp>
        <p:nvSpPr>
          <p:cNvPr id="110" name="TextBox 110"/>
          <p:cNvSpPr txBox="1"/>
          <p:nvPr/>
        </p:nvSpPr>
        <p:spPr>
          <a:xfrm>
            <a:off x="9428147" y="6070897"/>
            <a:ext cx="1604170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9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模态结构</a:t>
            </a:r>
            <a:endParaRPr lang="zh-CN" sz="259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226042" y="1180655"/>
            <a:ext cx="6781266" cy="4292627"/>
          </a:xfrm>
          <a:prstGeom prst="roundRect">
            <a:avLst>
              <a:gd name="adj" fmla="val 2547"/>
            </a:avLst>
          </a:prstGeom>
          <a:solidFill>
            <a:srgbClr val="FFFFFF"/>
          </a:solidFill>
          <a:ln w="22860">
            <a:solidFill>
              <a:srgbClr val="2F62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452084" y="4299915"/>
            <a:ext cx="1582295" cy="925575"/>
          </a:xfrm>
          <a:prstGeom prst="roundRect">
            <a:avLst>
              <a:gd name="adj" fmla="val 7874"/>
            </a:avLst>
          </a:prstGeom>
          <a:solidFill>
            <a:srgbClr val="FBFDFF"/>
          </a:solidFill>
          <a:ln w="17780">
            <a:solidFill>
              <a:srgbClr val="7E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2661465" y="4299915"/>
            <a:ext cx="1509379" cy="925575"/>
          </a:xfrm>
          <a:prstGeom prst="roundRect">
            <a:avLst>
              <a:gd name="adj" fmla="val 7874"/>
            </a:avLst>
          </a:prstGeom>
          <a:solidFill>
            <a:srgbClr val="FBFDFF"/>
          </a:solidFill>
          <a:ln w="17780">
            <a:solidFill>
              <a:srgbClr val="7E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4841678" y="4299915"/>
            <a:ext cx="1808338" cy="925575"/>
          </a:xfrm>
          <a:prstGeom prst="roundRect">
            <a:avLst>
              <a:gd name="adj" fmla="val 7874"/>
            </a:avLst>
          </a:prstGeom>
          <a:solidFill>
            <a:srgbClr val="FBFDFF"/>
          </a:solidFill>
          <a:ln w="17780">
            <a:solidFill>
              <a:srgbClr val="7EA3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7386476" y="1122351"/>
            <a:ext cx="4455219" cy="918287"/>
          </a:xfrm>
          <a:prstGeom prst="roundRect">
            <a:avLst>
              <a:gd name="adj" fmla="val 9524"/>
            </a:avLst>
          </a:prstGeom>
          <a:solidFill>
            <a:srgbClr val="FBFDFF"/>
          </a:solidFill>
          <a:ln w="17780">
            <a:solidFill>
              <a:srgbClr val="8AA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7386476" y="2281141"/>
            <a:ext cx="4455219" cy="918287"/>
          </a:xfrm>
          <a:prstGeom prst="roundRect">
            <a:avLst>
              <a:gd name="adj" fmla="val 9524"/>
            </a:avLst>
          </a:prstGeom>
          <a:solidFill>
            <a:srgbClr val="FBFDFF"/>
          </a:solidFill>
          <a:ln w="17780">
            <a:solidFill>
              <a:srgbClr val="8AA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7386476" y="3439932"/>
            <a:ext cx="4455219" cy="859983"/>
          </a:xfrm>
          <a:prstGeom prst="roundRect">
            <a:avLst>
              <a:gd name="adj" fmla="val 10169"/>
            </a:avLst>
          </a:prstGeom>
          <a:solidFill>
            <a:srgbClr val="FBFDFF"/>
          </a:solidFill>
          <a:ln w="17780">
            <a:solidFill>
              <a:srgbClr val="8AA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7386476" y="4554995"/>
            <a:ext cx="4455219" cy="852695"/>
          </a:xfrm>
          <a:prstGeom prst="roundRect">
            <a:avLst>
              <a:gd name="adj" fmla="val 10256"/>
            </a:avLst>
          </a:prstGeom>
          <a:solidFill>
            <a:srgbClr val="FBFDFF"/>
          </a:solidFill>
          <a:ln w="17780">
            <a:solidFill>
              <a:srgbClr val="8AA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226042" y="5706497"/>
            <a:ext cx="11710444" cy="889135"/>
          </a:xfrm>
          <a:prstGeom prst="roundRect">
            <a:avLst>
              <a:gd name="adj" fmla="val 6557"/>
            </a:avLst>
          </a:prstGeom>
          <a:solidFill>
            <a:srgbClr val="FBFDFF"/>
          </a:solidFill>
          <a:ln w="254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>
            <a:off x="138542" y="787103"/>
            <a:ext cx="11900028" cy="0"/>
          </a:xfrm>
          <a:prstGeom prst="line">
            <a:avLst/>
          </a:prstGeom>
          <a:noFill/>
          <a:ln w="635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2121880" y="983879"/>
            <a:ext cx="3113549" cy="466431"/>
          </a:xfrm>
          <a:prstGeom prst="roundRect">
            <a:avLst>
              <a:gd name="adj" fmla="val 15625"/>
            </a:avLst>
          </a:prstGeom>
          <a:solidFill>
            <a:srgbClr val="08266F"/>
          </a:solidFill>
          <a:ln w="127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Ellipse 14"/>
          <p:cNvSpPr/>
          <p:nvPr/>
        </p:nvSpPr>
        <p:spPr>
          <a:xfrm>
            <a:off x="7539601" y="1260823"/>
            <a:ext cx="641668" cy="641343"/>
          </a:xfrm>
          <a:prstGeom prst="ellipse">
            <a:avLst/>
          </a:prstGeom>
          <a:solidFill>
            <a:srgbClr val="08266F"/>
          </a:solidFill>
          <a:ln w="127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7539601" y="2419613"/>
            <a:ext cx="641668" cy="641343"/>
          </a:xfrm>
          <a:prstGeom prst="ellipse">
            <a:avLst/>
          </a:prstGeom>
          <a:solidFill>
            <a:srgbClr val="08266F"/>
          </a:solidFill>
          <a:ln w="127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Ellipse 16"/>
          <p:cNvSpPr/>
          <p:nvPr/>
        </p:nvSpPr>
        <p:spPr>
          <a:xfrm>
            <a:off x="7539601" y="3549252"/>
            <a:ext cx="641668" cy="641343"/>
          </a:xfrm>
          <a:prstGeom prst="ellipse">
            <a:avLst/>
          </a:prstGeom>
          <a:solidFill>
            <a:srgbClr val="08266F"/>
          </a:solidFill>
          <a:ln w="127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539601" y="4660671"/>
            <a:ext cx="641668" cy="641343"/>
          </a:xfrm>
          <a:prstGeom prst="ellipse">
            <a:avLst/>
          </a:prstGeom>
          <a:solidFill>
            <a:srgbClr val="08266F"/>
          </a:solidFill>
          <a:ln w="12700">
            <a:solidFill>
              <a:srgbClr val="0826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2114588" y="4620587"/>
            <a:ext cx="495834" cy="225928"/>
          </a:xfrm>
          <a:prstGeom prst="rightArrow">
            <a:avLst/>
          </a:prstGeom>
          <a:solidFill>
            <a:srgbClr val="174AA3"/>
          </a:solidFill>
          <a:ln w="1905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 19"/>
          <p:cNvSpPr/>
          <p:nvPr/>
        </p:nvSpPr>
        <p:spPr>
          <a:xfrm>
            <a:off x="4272927" y="4620587"/>
            <a:ext cx="495834" cy="225928"/>
          </a:xfrm>
          <a:prstGeom prst="rightArrow">
            <a:avLst/>
          </a:prstGeom>
          <a:solidFill>
            <a:srgbClr val="174AA3"/>
          </a:solidFill>
          <a:ln w="1905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Ellipse 20"/>
          <p:cNvSpPr/>
          <p:nvPr/>
        </p:nvSpPr>
        <p:spPr>
          <a:xfrm>
            <a:off x="1057294" y="5837681"/>
            <a:ext cx="634376" cy="634055"/>
          </a:xfrm>
          <a:prstGeom prst="ellipse">
            <a:avLst/>
          </a:prstGeom>
          <a:noFill/>
          <a:ln w="10160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Ellipse 21"/>
          <p:cNvSpPr/>
          <p:nvPr/>
        </p:nvSpPr>
        <p:spPr>
          <a:xfrm>
            <a:off x="1195836" y="5976153"/>
            <a:ext cx="357293" cy="357112"/>
          </a:xfrm>
          <a:prstGeom prst="ellipse">
            <a:avLst/>
          </a:prstGeom>
          <a:noFill/>
          <a:ln w="8890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Ellipse 22"/>
          <p:cNvSpPr/>
          <p:nvPr/>
        </p:nvSpPr>
        <p:spPr>
          <a:xfrm>
            <a:off x="1334378" y="6114625"/>
            <a:ext cx="87500" cy="87456"/>
          </a:xfrm>
          <a:prstGeom prst="ellipse">
            <a:avLst/>
          </a:prstGeom>
          <a:solidFill>
            <a:srgbClr val="174AA3"/>
          </a:solidFill>
          <a:ln w="1270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 flipV="1">
            <a:off x="1400003" y="5852257"/>
            <a:ext cx="306251" cy="306096"/>
          </a:xfrm>
          <a:prstGeom prst="line">
            <a:avLst/>
          </a:prstGeom>
          <a:noFill/>
          <a:ln w="8890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 24"/>
          <p:cNvSpPr/>
          <p:nvPr/>
        </p:nvSpPr>
        <p:spPr>
          <a:xfrm>
            <a:off x="1596879" y="5844969"/>
            <a:ext cx="153125" cy="167624"/>
          </a:xfrm>
          <a:prstGeom prst="rtTriangle">
            <a:avLst/>
          </a:prstGeom>
          <a:solidFill>
            <a:srgbClr val="174AA3"/>
          </a:solidFill>
          <a:ln w="12700">
            <a:solidFill>
              <a:srgbClr val="174A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1531254" y="2113518"/>
            <a:ext cx="707293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2894798" y="2113518"/>
            <a:ext cx="918752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4710428" y="2113518"/>
            <a:ext cx="984377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5694805" y="2113518"/>
            <a:ext cx="0" cy="867271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>
            <a:off x="5694805" y="3286884"/>
            <a:ext cx="0" cy="765239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>
            <a:off x="1531254" y="4052123"/>
            <a:ext cx="4163551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>
            <a:off x="1531254" y="2113518"/>
            <a:ext cx="0" cy="626767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>
            <a:off x="1531254" y="3388916"/>
            <a:ext cx="0" cy="663207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>
            <a:off x="1400003" y="2937061"/>
            <a:ext cx="262501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>
            <a:off x="1531254" y="2805877"/>
            <a:ext cx="0" cy="262368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>
            <a:off x="1407295" y="3235868"/>
            <a:ext cx="255209" cy="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>
            <a:off x="5403138" y="2988077"/>
            <a:ext cx="583335" cy="0"/>
          </a:xfrm>
          <a:prstGeom prst="line">
            <a:avLst/>
          </a:prstGeom>
          <a:noFill/>
          <a:ln w="635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>
            <a:off x="5403138" y="3214004"/>
            <a:ext cx="583335" cy="0"/>
          </a:xfrm>
          <a:prstGeom prst="line">
            <a:avLst/>
          </a:prstGeom>
          <a:noFill/>
          <a:ln w="635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 flipV="1">
            <a:off x="2238547" y="1960470"/>
            <a:ext cx="65625" cy="153048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>
            <a:off x="2304172" y="1960470"/>
            <a:ext cx="87500" cy="32796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 flipV="1">
            <a:off x="2391672" y="1960470"/>
            <a:ext cx="102084" cy="32796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>
            <a:off x="2493756" y="1960470"/>
            <a:ext cx="102084" cy="32796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 flipV="1">
            <a:off x="2595839" y="1960470"/>
            <a:ext cx="102084" cy="32796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>
            <a:off x="2697923" y="1960470"/>
            <a:ext cx="102084" cy="327960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 flipV="1">
            <a:off x="2800007" y="2113518"/>
            <a:ext cx="94792" cy="174912"/>
          </a:xfrm>
          <a:prstGeom prst="lin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llipse 45"/>
          <p:cNvSpPr/>
          <p:nvPr/>
        </p:nvSpPr>
        <p:spPr>
          <a:xfrm>
            <a:off x="3813551" y="1938606"/>
            <a:ext cx="306251" cy="335248"/>
          </a:xfrm>
          <a:prstGeom prst="ellips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Ellipse 46"/>
          <p:cNvSpPr/>
          <p:nvPr/>
        </p:nvSpPr>
        <p:spPr>
          <a:xfrm>
            <a:off x="4010426" y="1938606"/>
            <a:ext cx="306251" cy="335248"/>
          </a:xfrm>
          <a:prstGeom prst="ellips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Ellipse 47"/>
          <p:cNvSpPr/>
          <p:nvPr/>
        </p:nvSpPr>
        <p:spPr>
          <a:xfrm>
            <a:off x="4207302" y="1938606"/>
            <a:ext cx="306251" cy="335248"/>
          </a:xfrm>
          <a:prstGeom prst="ellips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Ellipse 48"/>
          <p:cNvSpPr/>
          <p:nvPr/>
        </p:nvSpPr>
        <p:spPr>
          <a:xfrm>
            <a:off x="4404177" y="1938606"/>
            <a:ext cx="306251" cy="335248"/>
          </a:xfrm>
          <a:prstGeom prst="ellipse">
            <a:avLst/>
          </a:prstGeom>
          <a:noFill/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Ellipse 49"/>
          <p:cNvSpPr/>
          <p:nvPr/>
        </p:nvSpPr>
        <p:spPr>
          <a:xfrm>
            <a:off x="1232295" y="2740285"/>
            <a:ext cx="634376" cy="64134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>
            <a:off x="3171882" y="2492493"/>
            <a:ext cx="1035419" cy="0"/>
          </a:xfrm>
          <a:prstGeom prst="line">
            <a:avLst/>
          </a:prstGeom>
          <a:noFill/>
          <a:ln w="50800">
            <a:solidFill>
              <a:srgbClr val="C7191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ect 51"/>
          <p:cNvSpPr/>
          <p:nvPr/>
        </p:nvSpPr>
        <p:spPr>
          <a:xfrm>
            <a:off x="3995843" y="2383173"/>
            <a:ext cx="233334" cy="218640"/>
          </a:xfrm>
          <a:prstGeom prst="rtTriangle">
            <a:avLst/>
          </a:prstGeom>
          <a:solidFill>
            <a:srgbClr val="C71919"/>
          </a:solidFill>
          <a:ln w="12700">
            <a:solidFill>
              <a:srgbClr val="C7191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153125" y="87456"/>
            <a:ext cx="7145850" cy="5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7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研究对象： 串联 RLC 电路</a:t>
            </a:r>
            <a:endParaRPr lang="zh-CN" sz="4700"/>
          </a:p>
        </p:txBody>
      </p:sp>
      <p:sp>
        <p:nvSpPr>
          <p:cNvPr id="53" name="TextBox 53"/>
          <p:cNvSpPr txBox="1"/>
          <p:nvPr/>
        </p:nvSpPr>
        <p:spPr>
          <a:xfrm>
            <a:off x="2530214" y="1078623"/>
            <a:ext cx="2552089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串联 RLC 电路模型</a:t>
            </a:r>
            <a:endParaRPr lang="zh-CN" sz="2700"/>
          </a:p>
        </p:txBody>
      </p:sp>
      <p:sp>
        <p:nvSpPr>
          <p:cNvPr id="54" name="TextBox 54"/>
          <p:cNvSpPr txBox="1"/>
          <p:nvPr/>
        </p:nvSpPr>
        <p:spPr>
          <a:xfrm>
            <a:off x="2442714" y="1610646"/>
            <a:ext cx="415626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lang="zh-CN" sz="3100"/>
          </a:p>
        </p:txBody>
      </p:sp>
      <p:sp>
        <p:nvSpPr>
          <p:cNvPr id="55" name="TextBox 55"/>
          <p:cNvSpPr txBox="1"/>
          <p:nvPr/>
        </p:nvSpPr>
        <p:spPr>
          <a:xfrm>
            <a:off x="4214593" y="1610646"/>
            <a:ext cx="415626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 lang="zh-CN" sz="3100"/>
          </a:p>
        </p:txBody>
      </p:sp>
      <p:sp>
        <p:nvSpPr>
          <p:cNvPr id="56" name="TextBox 56"/>
          <p:cNvSpPr txBox="1"/>
          <p:nvPr/>
        </p:nvSpPr>
        <p:spPr>
          <a:xfrm>
            <a:off x="5016678" y="2944349"/>
            <a:ext cx="328126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lang="zh-CN" sz="3100"/>
          </a:p>
        </p:txBody>
      </p:sp>
      <p:sp>
        <p:nvSpPr>
          <p:cNvPr id="57" name="TextBox 57"/>
          <p:cNvSpPr txBox="1"/>
          <p:nvPr/>
        </p:nvSpPr>
        <p:spPr>
          <a:xfrm>
            <a:off x="539585" y="2856893"/>
            <a:ext cx="612501" cy="3352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i="1">
                <a:solidFill>
                  <a:srgbClr val="08266F"/>
                </a:solidFill>
                <a:latin typeface="Times New Roman"/>
                <a:ea typeface="Times New Roman"/>
                <a:cs typeface="Times New Roman"/>
              </a:rPr>
              <a:t>u(t)</a:t>
            </a:r>
            <a:endParaRPr lang="zh-CN" sz="3100"/>
          </a:p>
        </p:txBody>
      </p:sp>
      <p:sp>
        <p:nvSpPr>
          <p:cNvPr id="58" name="TextBox 58"/>
          <p:cNvSpPr txBox="1"/>
          <p:nvPr/>
        </p:nvSpPr>
        <p:spPr>
          <a:xfrm>
            <a:off x="3558342" y="2696557"/>
            <a:ext cx="525001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  <a:endParaRPr lang="zh-CN" sz="2900"/>
          </a:p>
        </p:txBody>
      </p:sp>
      <p:sp>
        <p:nvSpPr>
          <p:cNvPr id="59" name="TextBox 59"/>
          <p:cNvSpPr txBox="1"/>
          <p:nvPr/>
        </p:nvSpPr>
        <p:spPr>
          <a:xfrm>
            <a:off x="6190639" y="2477917"/>
            <a:ext cx="25520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2700"/>
          </a:p>
        </p:txBody>
      </p:sp>
      <p:sp>
        <p:nvSpPr>
          <p:cNvPr id="60" name="TextBox 60"/>
          <p:cNvSpPr txBox="1"/>
          <p:nvPr/>
        </p:nvSpPr>
        <p:spPr>
          <a:xfrm>
            <a:off x="6190639" y="3527388"/>
            <a:ext cx="25520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−</a:t>
            </a:r>
            <a:endParaRPr lang="zh-CN" sz="2700"/>
          </a:p>
        </p:txBody>
      </p:sp>
      <p:sp>
        <p:nvSpPr>
          <p:cNvPr id="61" name="TextBox 61"/>
          <p:cNvSpPr txBox="1"/>
          <p:nvPr/>
        </p:nvSpPr>
        <p:spPr>
          <a:xfrm>
            <a:off x="6205223" y="2820453"/>
            <a:ext cx="510418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i="1">
                <a:solidFill>
                  <a:srgbClr val="08266F"/>
                </a:solidFill>
                <a:latin typeface="Times New Roman"/>
                <a:ea typeface="Times New Roman"/>
                <a:cs typeface="Times New Roman"/>
              </a:rPr>
              <a:t>v</a:t>
            </a:r>
            <a:endParaRPr lang="zh-CN" sz="3100"/>
          </a:p>
        </p:txBody>
      </p:sp>
      <p:sp>
        <p:nvSpPr>
          <p:cNvPr id="62" name="TextBox 62"/>
          <p:cNvSpPr txBox="1"/>
          <p:nvPr/>
        </p:nvSpPr>
        <p:spPr>
          <a:xfrm>
            <a:off x="751043" y="4431099"/>
            <a:ext cx="998961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输入电压</a:t>
            </a:r>
            <a:endParaRPr lang="zh-CN" sz="2600"/>
          </a:p>
        </p:txBody>
      </p:sp>
      <p:sp>
        <p:nvSpPr>
          <p:cNvPr id="63" name="TextBox 63"/>
          <p:cNvSpPr txBox="1"/>
          <p:nvPr/>
        </p:nvSpPr>
        <p:spPr>
          <a:xfrm>
            <a:off x="1013544" y="4817362"/>
            <a:ext cx="568751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u(t)</a:t>
            </a:r>
            <a:endParaRPr lang="zh-CN" sz="2900"/>
          </a:p>
        </p:txBody>
      </p:sp>
      <p:sp>
        <p:nvSpPr>
          <p:cNvPr id="64" name="TextBox 64"/>
          <p:cNvSpPr txBox="1"/>
          <p:nvPr/>
        </p:nvSpPr>
        <p:spPr>
          <a:xfrm>
            <a:off x="2894798" y="4664315"/>
            <a:ext cx="1050002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 i="1">
                <a:solidFill>
                  <a:srgbClr val="08266F"/>
                </a:solidFill>
                <a:latin typeface="Times New Roman"/>
                <a:ea typeface="Times New Roman"/>
                <a:cs typeface="Times New Roman"/>
              </a:rPr>
              <a:t>RLC 系统</a:t>
            </a:r>
            <a:endParaRPr lang="zh-CN" sz="2500"/>
          </a:p>
        </p:txBody>
      </p:sp>
      <p:sp>
        <p:nvSpPr>
          <p:cNvPr id="65" name="TextBox 65"/>
          <p:cNvSpPr txBox="1"/>
          <p:nvPr/>
        </p:nvSpPr>
        <p:spPr>
          <a:xfrm>
            <a:off x="5038553" y="4438387"/>
            <a:ext cx="1436462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电容电压输出</a:t>
            </a:r>
            <a:endParaRPr lang="zh-CN" sz="2500"/>
          </a:p>
        </p:txBody>
      </p:sp>
      <p:sp>
        <p:nvSpPr>
          <p:cNvPr id="66" name="TextBox 66"/>
          <p:cNvSpPr txBox="1"/>
          <p:nvPr/>
        </p:nvSpPr>
        <p:spPr>
          <a:xfrm>
            <a:off x="5118762" y="4810074"/>
            <a:ext cx="1385420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y(t)=vC(t)</a:t>
            </a:r>
            <a:endParaRPr lang="zh-CN" sz="2700"/>
          </a:p>
        </p:txBody>
      </p:sp>
      <p:sp>
        <p:nvSpPr>
          <p:cNvPr id="67" name="TextBox 67"/>
          <p:cNvSpPr txBox="1"/>
          <p:nvPr/>
        </p:nvSpPr>
        <p:spPr>
          <a:xfrm>
            <a:off x="3791676" y="2900621"/>
            <a:ext cx="26250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 lang="zh-CN" sz="1800"/>
          </a:p>
        </p:txBody>
      </p:sp>
      <p:sp>
        <p:nvSpPr>
          <p:cNvPr id="68" name="TextBox 68"/>
          <p:cNvSpPr txBox="1"/>
          <p:nvPr/>
        </p:nvSpPr>
        <p:spPr>
          <a:xfrm>
            <a:off x="6445848" y="3039092"/>
            <a:ext cx="26250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08266F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lang="zh-CN" sz="1800"/>
          </a:p>
        </p:txBody>
      </p:sp>
      <p:sp>
        <p:nvSpPr>
          <p:cNvPr id="69" name="TextBox 69"/>
          <p:cNvSpPr txBox="1"/>
          <p:nvPr/>
        </p:nvSpPr>
        <p:spPr>
          <a:xfrm>
            <a:off x="7605226" y="1289974"/>
            <a:ext cx="510418" cy="583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~</a:t>
            </a:r>
            <a:endParaRPr lang="zh-CN" sz="4200"/>
          </a:p>
        </p:txBody>
      </p:sp>
      <p:sp>
        <p:nvSpPr>
          <p:cNvPr id="70" name="TextBox 70"/>
          <p:cNvSpPr txBox="1"/>
          <p:nvPr/>
        </p:nvSpPr>
        <p:spPr>
          <a:xfrm>
            <a:off x="7605226" y="2448765"/>
            <a:ext cx="510418" cy="583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6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</a:t>
            </a:r>
            <a:endParaRPr lang="zh-CN" sz="4600"/>
          </a:p>
        </p:txBody>
      </p:sp>
      <p:sp>
        <p:nvSpPr>
          <p:cNvPr id="71" name="TextBox 71"/>
          <p:cNvSpPr txBox="1"/>
          <p:nvPr/>
        </p:nvSpPr>
        <p:spPr>
          <a:xfrm>
            <a:off x="7605226" y="3578404"/>
            <a:ext cx="510418" cy="583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6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</a:t>
            </a:r>
            <a:endParaRPr lang="zh-CN" sz="4600"/>
          </a:p>
        </p:txBody>
      </p:sp>
      <p:sp>
        <p:nvSpPr>
          <p:cNvPr id="72" name="TextBox 72"/>
          <p:cNvSpPr txBox="1"/>
          <p:nvPr/>
        </p:nvSpPr>
        <p:spPr>
          <a:xfrm>
            <a:off x="7605226" y="4689823"/>
            <a:ext cx="510418" cy="583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*</a:t>
            </a:r>
            <a:endParaRPr lang="zh-CN" sz="4200"/>
          </a:p>
        </p:txBody>
      </p:sp>
      <p:sp>
        <p:nvSpPr>
          <p:cNvPr id="73" name="TextBox 73"/>
          <p:cNvSpPr txBox="1"/>
          <p:nvPr/>
        </p:nvSpPr>
        <p:spPr>
          <a:xfrm>
            <a:off x="8538562" y="1457598"/>
            <a:ext cx="1341670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输入： 电压源</a:t>
            </a:r>
            <a:endParaRPr lang="zh-CN" sz="2700"/>
          </a:p>
        </p:txBody>
      </p:sp>
      <p:sp>
        <p:nvSpPr>
          <p:cNvPr id="74" name="TextBox 74"/>
          <p:cNvSpPr txBox="1"/>
          <p:nvPr/>
        </p:nvSpPr>
        <p:spPr>
          <a:xfrm>
            <a:off x="8538562" y="2623677"/>
            <a:ext cx="1319795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状态变量：</a:t>
            </a:r>
            <a:endParaRPr lang="zh-CN" sz="2600"/>
          </a:p>
        </p:txBody>
      </p:sp>
      <p:sp>
        <p:nvSpPr>
          <p:cNvPr id="75" name="TextBox 75"/>
          <p:cNvSpPr txBox="1"/>
          <p:nvPr/>
        </p:nvSpPr>
        <p:spPr>
          <a:xfrm>
            <a:off x="8538562" y="3724164"/>
            <a:ext cx="700002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endParaRPr lang="zh-CN" sz="2700"/>
          </a:p>
        </p:txBody>
      </p:sp>
      <p:sp>
        <p:nvSpPr>
          <p:cNvPr id="76" name="TextBox 76"/>
          <p:cNvSpPr txBox="1"/>
          <p:nvPr/>
        </p:nvSpPr>
        <p:spPr>
          <a:xfrm>
            <a:off x="8472936" y="4846514"/>
            <a:ext cx="670835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参数：</a:t>
            </a:r>
            <a:endParaRPr lang="zh-CN" sz="2600"/>
          </a:p>
        </p:txBody>
      </p:sp>
      <p:sp>
        <p:nvSpPr>
          <p:cNvPr id="77" name="TextBox 77"/>
          <p:cNvSpPr txBox="1"/>
          <p:nvPr/>
        </p:nvSpPr>
        <p:spPr>
          <a:xfrm>
            <a:off x="10572941" y="1443022"/>
            <a:ext cx="875002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u(t)</a:t>
            </a:r>
            <a:endParaRPr lang="zh-CN" sz="2700"/>
          </a:p>
        </p:txBody>
      </p:sp>
      <p:sp>
        <p:nvSpPr>
          <p:cNvPr id="78" name="TextBox 78"/>
          <p:cNvSpPr txBox="1"/>
          <p:nvPr/>
        </p:nvSpPr>
        <p:spPr>
          <a:xfrm>
            <a:off x="9843773" y="2616389"/>
            <a:ext cx="1750004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x1=iL， x2=vC</a:t>
            </a:r>
            <a:endParaRPr lang="zh-CN" sz="2500"/>
          </a:p>
        </p:txBody>
      </p:sp>
      <p:sp>
        <p:nvSpPr>
          <p:cNvPr id="79" name="TextBox 79"/>
          <p:cNvSpPr txBox="1"/>
          <p:nvPr/>
        </p:nvSpPr>
        <p:spPr>
          <a:xfrm>
            <a:off x="9333355" y="3709588"/>
            <a:ext cx="1779171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y(t)=vC(t)</a:t>
            </a:r>
            <a:endParaRPr lang="zh-CN" sz="2700"/>
          </a:p>
        </p:txBody>
      </p:sp>
      <p:sp>
        <p:nvSpPr>
          <p:cNvPr id="80" name="TextBox 80"/>
          <p:cNvSpPr txBox="1"/>
          <p:nvPr/>
        </p:nvSpPr>
        <p:spPr>
          <a:xfrm>
            <a:off x="9333355" y="4831938"/>
            <a:ext cx="2406256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R=1Ω， L=1H， C=0.25F</a:t>
            </a:r>
            <a:endParaRPr lang="zh-CN" sz="2400"/>
          </a:p>
        </p:txBody>
      </p:sp>
      <p:sp>
        <p:nvSpPr>
          <p:cNvPr id="81" name="TextBox 81"/>
          <p:cNvSpPr txBox="1"/>
          <p:nvPr/>
        </p:nvSpPr>
        <p:spPr>
          <a:xfrm>
            <a:off x="2479172" y="5968865"/>
            <a:ext cx="7364601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5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全篇只围绕这个</a:t>
            </a:r>
            <a:r>
              <a:rPr lang="zh-CN" sz="3500" b="1">
                <a:solidFill>
                  <a:srgbClr val="C71919"/>
                </a:solidFill>
                <a:latin typeface="Microsoft YaHei"/>
                <a:ea typeface="Microsoft YaHei"/>
                <a:cs typeface="Microsoft YaHei"/>
              </a:rPr>
              <a:t>统一的串联 RLC 模型</a:t>
            </a:r>
            <a:r>
              <a:rPr lang="zh-CN" sz="3500" b="1">
                <a:solidFill>
                  <a:srgbClr val="08266F"/>
                </a:solidFill>
                <a:latin typeface="Microsoft YaHei"/>
                <a:ea typeface="Microsoft YaHei"/>
                <a:cs typeface="Microsoft YaHei"/>
              </a:rPr>
              <a:t>展开。</a:t>
            </a:r>
            <a:endParaRPr lang="zh-CN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67709" y="757951"/>
            <a:ext cx="11834403" cy="51016"/>
          </a:xfrm>
          <a:prstGeom prst="rect">
            <a:avLst/>
          </a:prstGeom>
          <a:solidFill>
            <a:srgbClr val="0A2A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167709" y="1100487"/>
            <a:ext cx="2333339" cy="991167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24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2690631" y="1100487"/>
            <a:ext cx="3040632" cy="991167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24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5957306" y="1100487"/>
            <a:ext cx="2763548" cy="991167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24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8881271" y="1100487"/>
            <a:ext cx="3135424" cy="991167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524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1720837" y="2383173"/>
            <a:ext cx="8720854" cy="787103"/>
          </a:xfrm>
          <a:prstGeom prst="roundRect">
            <a:avLst>
              <a:gd name="adj" fmla="val 9259"/>
            </a:avLst>
          </a:prstGeom>
          <a:solidFill>
            <a:srgbClr val="F8FBFF"/>
          </a:solidFill>
          <a:ln w="1905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167709" y="5735649"/>
            <a:ext cx="11856278" cy="845407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Ellipse 9"/>
          <p:cNvSpPr/>
          <p:nvPr/>
        </p:nvSpPr>
        <p:spPr>
          <a:xfrm>
            <a:off x="313542" y="1253535"/>
            <a:ext cx="422918" cy="422704"/>
          </a:xfrm>
          <a:prstGeom prst="ellipse">
            <a:avLst/>
          </a:prstGeom>
          <a:solidFill>
            <a:srgbClr val="0A2A78"/>
          </a:solidFill>
          <a:ln w="127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Ellipse 10"/>
          <p:cNvSpPr/>
          <p:nvPr/>
        </p:nvSpPr>
        <p:spPr>
          <a:xfrm>
            <a:off x="2843757" y="1253535"/>
            <a:ext cx="422918" cy="422704"/>
          </a:xfrm>
          <a:prstGeom prst="ellipse">
            <a:avLst/>
          </a:prstGeom>
          <a:solidFill>
            <a:srgbClr val="0A2A78"/>
          </a:solidFill>
          <a:ln w="127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Ellipse 11"/>
          <p:cNvSpPr/>
          <p:nvPr/>
        </p:nvSpPr>
        <p:spPr>
          <a:xfrm>
            <a:off x="6117723" y="1253535"/>
            <a:ext cx="422918" cy="422704"/>
          </a:xfrm>
          <a:prstGeom prst="ellipse">
            <a:avLst/>
          </a:prstGeom>
          <a:solidFill>
            <a:srgbClr val="0A2A78"/>
          </a:solidFill>
          <a:ln w="127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9027104" y="1253535"/>
            <a:ext cx="422918" cy="422704"/>
          </a:xfrm>
          <a:prstGeom prst="ellipse">
            <a:avLst/>
          </a:prstGeom>
          <a:solidFill>
            <a:srgbClr val="0A2A78"/>
          </a:solidFill>
          <a:ln w="127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5993764" y="3935515"/>
            <a:ext cx="1698962" cy="1355566"/>
          </a:xfrm>
          <a:prstGeom prst="roundRect">
            <a:avLst>
              <a:gd name="adj" fmla="val 8602"/>
            </a:avLst>
          </a:prstGeom>
          <a:solidFill>
            <a:srgbClr val="F8FBFF"/>
          </a:solidFill>
          <a:ln w="254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>
            <a:off x="284376" y="5094306"/>
            <a:ext cx="1815629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 flipV="1">
            <a:off x="473959" y="3957379"/>
            <a:ext cx="0" cy="1581494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>
            <a:off x="3346883" y="5094306"/>
            <a:ext cx="1385420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3572925" y="3957379"/>
            <a:ext cx="0" cy="1581494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>
            <a:off x="7692726" y="4613299"/>
            <a:ext cx="612501" cy="0"/>
          </a:xfrm>
          <a:prstGeom prst="line">
            <a:avLst/>
          </a:prstGeom>
          <a:noFill/>
          <a:ln w="508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8669812" y="4066699"/>
            <a:ext cx="0" cy="1457598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>
            <a:off x="8618770" y="4861090"/>
            <a:ext cx="3317716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Ellipse 21"/>
          <p:cNvSpPr/>
          <p:nvPr/>
        </p:nvSpPr>
        <p:spPr>
          <a:xfrm>
            <a:off x="736460" y="5859545"/>
            <a:ext cx="685418" cy="685071"/>
          </a:xfrm>
          <a:prstGeom prst="ellipse">
            <a:avLst/>
          </a:prstGeom>
          <a:noFill/>
          <a:ln w="762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Ellipse 22"/>
          <p:cNvSpPr/>
          <p:nvPr/>
        </p:nvSpPr>
        <p:spPr>
          <a:xfrm>
            <a:off x="867710" y="5990729"/>
            <a:ext cx="422918" cy="422704"/>
          </a:xfrm>
          <a:prstGeom prst="ellipse">
            <a:avLst/>
          </a:prstGeom>
          <a:noFill/>
          <a:ln w="762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481251" y="4365507"/>
            <a:ext cx="34270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831252" y="5225490"/>
            <a:ext cx="269792" cy="0"/>
          </a:xfrm>
          <a:prstGeom prst="line">
            <a:avLst/>
          </a:prstGeom>
          <a:noFill/>
          <a:ln w="177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831252" y="5174474"/>
            <a:ext cx="0" cy="102032"/>
          </a:xfrm>
          <a:prstGeom prst="line">
            <a:avLst/>
          </a:prstGeom>
          <a:noFill/>
          <a:ln w="177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1101044" y="5174474"/>
            <a:ext cx="0" cy="102032"/>
          </a:xfrm>
          <a:prstGeom prst="line">
            <a:avLst/>
          </a:prstGeom>
          <a:noFill/>
          <a:ln w="1778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3580217" y="4372795"/>
            <a:ext cx="37916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9012521" y="4241611"/>
            <a:ext cx="2668756" cy="532023"/>
          </a:xfrm>
          <a:prstGeom prst="line">
            <a:avLst/>
          </a:prstGeom>
          <a:noFill/>
          <a:ln w="12700">
            <a:solidFill>
              <a:srgbClr val="99B7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 flipV="1">
            <a:off x="8677104" y="4933970"/>
            <a:ext cx="2989590" cy="604903"/>
          </a:xfrm>
          <a:prstGeom prst="line">
            <a:avLst/>
          </a:prstGeom>
          <a:noFill/>
          <a:ln w="12700">
            <a:solidFill>
              <a:srgbClr val="99B7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1006252" y="6129201"/>
            <a:ext cx="145834" cy="145760"/>
          </a:xfrm>
          <a:prstGeom prst="ellipse">
            <a:avLst/>
          </a:prstGeom>
          <a:solidFill>
            <a:srgbClr val="0A2A78"/>
          </a:solidFill>
          <a:ln w="254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 flipH="1">
            <a:off x="823960" y="4358219"/>
            <a:ext cx="7292" cy="736087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>
            <a:off x="823960" y="4358219"/>
            <a:ext cx="277084" cy="0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>
            <a:off x="1101044" y="4358219"/>
            <a:ext cx="0" cy="736087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 flipV="1">
            <a:off x="3959384" y="4372795"/>
            <a:ext cx="0" cy="721511"/>
          </a:xfrm>
          <a:prstGeom prst="line">
            <a:avLst/>
          </a:prstGeom>
          <a:noFill/>
          <a:ln w="635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 flipV="1">
            <a:off x="8706270" y="4773634"/>
            <a:ext cx="94792" cy="87456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 flipV="1">
            <a:off x="8801062" y="4343643"/>
            <a:ext cx="94792" cy="429991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 flipV="1">
            <a:off x="8895854" y="4241611"/>
            <a:ext cx="109375" cy="102032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9005229" y="4241611"/>
            <a:ext cx="109375" cy="80168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>
            <a:off x="9114605" y="4321779"/>
            <a:ext cx="138542" cy="561175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>
            <a:off x="9253147" y="4882954"/>
            <a:ext cx="160417" cy="342536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 flipV="1">
            <a:off x="9413564" y="5167186"/>
            <a:ext cx="138542" cy="58304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 flipV="1">
            <a:off x="9552106" y="4693467"/>
            <a:ext cx="182292" cy="473719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>
            <a:off x="9734398" y="4693467"/>
            <a:ext cx="189584" cy="21864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>
            <a:off x="9923982" y="4715330"/>
            <a:ext cx="211459" cy="247792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 flipV="1">
            <a:off x="10135440" y="4955834"/>
            <a:ext cx="240626" cy="7288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 flipV="1">
            <a:off x="10376066" y="4773634"/>
            <a:ext cx="218751" cy="182200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Line 47"/>
          <p:cNvSpPr/>
          <p:nvPr/>
        </p:nvSpPr>
        <p:spPr>
          <a:xfrm>
            <a:off x="10594816" y="4773634"/>
            <a:ext cx="226042" cy="65592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Line 48"/>
          <p:cNvSpPr/>
          <p:nvPr/>
        </p:nvSpPr>
        <p:spPr>
          <a:xfrm>
            <a:off x="10820859" y="4839226"/>
            <a:ext cx="262501" cy="109320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 flipV="1">
            <a:off x="11083359" y="4861090"/>
            <a:ext cx="692710" cy="87456"/>
          </a:xfrm>
          <a:prstGeom prst="line">
            <a:avLst/>
          </a:prstGeom>
          <a:noFill/>
          <a:ln w="38100">
            <a:solidFill>
              <a:srgbClr val="0C3B9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 flipV="1">
            <a:off x="1079169" y="5939713"/>
            <a:ext cx="269792" cy="269656"/>
          </a:xfrm>
          <a:prstGeom prst="line">
            <a:avLst/>
          </a:prstGeom>
          <a:noFill/>
          <a:ln w="76200">
            <a:solidFill>
              <a:srgbClr val="0A2A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175000" y="131184"/>
            <a:ext cx="7291684" cy="524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4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单位冲激信号：系统的理想探针</a:t>
            </a:r>
            <a:endParaRPr lang="zh-CN" sz="3400"/>
          </a:p>
        </p:txBody>
      </p:sp>
      <p:sp>
        <p:nvSpPr>
          <p:cNvPr id="52" name="TextBox 52"/>
          <p:cNvSpPr txBox="1"/>
          <p:nvPr/>
        </p:nvSpPr>
        <p:spPr>
          <a:xfrm>
            <a:off x="437501" y="1282687"/>
            <a:ext cx="204167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300"/>
          </a:p>
        </p:txBody>
      </p:sp>
      <p:sp>
        <p:nvSpPr>
          <p:cNvPr id="53" name="TextBox 53"/>
          <p:cNvSpPr txBox="1"/>
          <p:nvPr/>
        </p:nvSpPr>
        <p:spPr>
          <a:xfrm>
            <a:off x="911460" y="1333702"/>
            <a:ext cx="1239586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单位冲激信号</a:t>
            </a:r>
            <a:endParaRPr lang="zh-CN" sz="2000"/>
          </a:p>
        </p:txBody>
      </p:sp>
      <p:sp>
        <p:nvSpPr>
          <p:cNvPr id="54" name="TextBox 54"/>
          <p:cNvSpPr txBox="1"/>
          <p:nvPr/>
        </p:nvSpPr>
        <p:spPr>
          <a:xfrm>
            <a:off x="904169" y="1676238"/>
            <a:ext cx="134896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记为 </a:t>
            </a:r>
            <a:r>
              <a:rPr lang="zh-CN" sz="2100" b="1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δ(t)</a:t>
            </a:r>
            <a:endParaRPr lang="zh-CN" sz="2100"/>
          </a:p>
        </p:txBody>
      </p:sp>
      <p:sp>
        <p:nvSpPr>
          <p:cNvPr id="55" name="TextBox 55"/>
          <p:cNvSpPr txBox="1"/>
          <p:nvPr/>
        </p:nvSpPr>
        <p:spPr>
          <a:xfrm>
            <a:off x="2967715" y="1282687"/>
            <a:ext cx="204167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300"/>
          </a:p>
        </p:txBody>
      </p:sp>
      <p:sp>
        <p:nvSpPr>
          <p:cNvPr id="56" name="TextBox 56"/>
          <p:cNvSpPr txBox="1"/>
          <p:nvPr/>
        </p:nvSpPr>
        <p:spPr>
          <a:xfrm>
            <a:off x="3448966" y="1333702"/>
            <a:ext cx="91875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可理解为</a:t>
            </a:r>
            <a:endParaRPr lang="zh-CN" sz="1900"/>
          </a:p>
        </p:txBody>
      </p:sp>
      <p:sp>
        <p:nvSpPr>
          <p:cNvPr id="57" name="TextBox 57"/>
          <p:cNvSpPr txBox="1"/>
          <p:nvPr/>
        </p:nvSpPr>
        <p:spPr>
          <a:xfrm>
            <a:off x="4462510" y="1333702"/>
            <a:ext cx="1122919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“极短时间内</a:t>
            </a:r>
            <a:endParaRPr lang="zh-CN" sz="1900"/>
          </a:p>
        </p:txBody>
      </p:sp>
      <p:sp>
        <p:nvSpPr>
          <p:cNvPr id="58" name="TextBox 58"/>
          <p:cNvSpPr txBox="1"/>
          <p:nvPr/>
        </p:nvSpPr>
        <p:spPr>
          <a:xfrm>
            <a:off x="3441675" y="1698102"/>
            <a:ext cx="2187505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强度极大的理想激励”</a:t>
            </a:r>
            <a:endParaRPr lang="zh-CN" sz="1900"/>
          </a:p>
        </p:txBody>
      </p:sp>
      <p:sp>
        <p:nvSpPr>
          <p:cNvPr id="59" name="TextBox 59"/>
          <p:cNvSpPr txBox="1"/>
          <p:nvPr/>
        </p:nvSpPr>
        <p:spPr>
          <a:xfrm>
            <a:off x="6241681" y="1282687"/>
            <a:ext cx="204167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300"/>
          </a:p>
        </p:txBody>
      </p:sp>
      <p:sp>
        <p:nvSpPr>
          <p:cNvPr id="60" name="TextBox 60"/>
          <p:cNvSpPr txBox="1"/>
          <p:nvPr/>
        </p:nvSpPr>
        <p:spPr>
          <a:xfrm>
            <a:off x="6708349" y="1333702"/>
            <a:ext cx="7729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系统对</a:t>
            </a:r>
            <a:endParaRPr lang="zh-CN" sz="1900"/>
          </a:p>
        </p:txBody>
      </p:sp>
      <p:sp>
        <p:nvSpPr>
          <p:cNvPr id="61" name="TextBox 61"/>
          <p:cNvSpPr txBox="1"/>
          <p:nvPr/>
        </p:nvSpPr>
        <p:spPr>
          <a:xfrm>
            <a:off x="7430226" y="1319126"/>
            <a:ext cx="4229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δ(t)</a:t>
            </a:r>
            <a:endParaRPr lang="zh-CN" sz="2100"/>
          </a:p>
        </p:txBody>
      </p:sp>
      <p:sp>
        <p:nvSpPr>
          <p:cNvPr id="62" name="TextBox 62"/>
          <p:cNvSpPr txBox="1"/>
          <p:nvPr/>
        </p:nvSpPr>
        <p:spPr>
          <a:xfrm>
            <a:off x="7838560" y="1333702"/>
            <a:ext cx="65625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的响应</a:t>
            </a:r>
            <a:endParaRPr lang="zh-CN" sz="1900"/>
          </a:p>
        </p:txBody>
      </p:sp>
      <p:sp>
        <p:nvSpPr>
          <p:cNvPr id="63" name="TextBox 63"/>
          <p:cNvSpPr txBox="1"/>
          <p:nvPr/>
        </p:nvSpPr>
        <p:spPr>
          <a:xfrm>
            <a:off x="6701057" y="1690814"/>
            <a:ext cx="1195836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称为冲激响应</a:t>
            </a:r>
            <a:endParaRPr lang="zh-CN" sz="1900"/>
          </a:p>
        </p:txBody>
      </p:sp>
      <p:sp>
        <p:nvSpPr>
          <p:cNvPr id="64" name="TextBox 64"/>
          <p:cNvSpPr txBox="1"/>
          <p:nvPr/>
        </p:nvSpPr>
        <p:spPr>
          <a:xfrm>
            <a:off x="7889602" y="1676238"/>
            <a:ext cx="43750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h(t)</a:t>
            </a:r>
            <a:endParaRPr lang="zh-CN" sz="2200"/>
          </a:p>
        </p:txBody>
      </p:sp>
      <p:sp>
        <p:nvSpPr>
          <p:cNvPr id="65" name="TextBox 65"/>
          <p:cNvSpPr txBox="1"/>
          <p:nvPr/>
        </p:nvSpPr>
        <p:spPr>
          <a:xfrm>
            <a:off x="9151063" y="1282687"/>
            <a:ext cx="204167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2300"/>
          </a:p>
        </p:txBody>
      </p:sp>
      <p:sp>
        <p:nvSpPr>
          <p:cNvPr id="66" name="TextBox 66"/>
          <p:cNvSpPr txBox="1"/>
          <p:nvPr/>
        </p:nvSpPr>
        <p:spPr>
          <a:xfrm>
            <a:off x="9625023" y="1333702"/>
            <a:ext cx="1713546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 </a:t>
            </a:r>
            <a:r>
              <a:rPr lang="zh-CN" sz="1700" b="1">
                <a:solidFill>
                  <a:srgbClr val="0C3B9F"/>
                </a:solidFill>
                <a:latin typeface="Microsoft YaHei"/>
                <a:ea typeface="Microsoft YaHei"/>
                <a:cs typeface="Microsoft YaHei"/>
              </a:rPr>
              <a:t>LTI</a:t>
            </a:r>
            <a:r>
              <a:rPr lang="zh-CN" sz="1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系统而言，</a:t>
            </a:r>
            <a:endParaRPr lang="zh-CN" sz="1700"/>
          </a:p>
        </p:txBody>
      </p:sp>
      <p:sp>
        <p:nvSpPr>
          <p:cNvPr id="67" name="TextBox 67"/>
          <p:cNvSpPr txBox="1"/>
          <p:nvPr/>
        </p:nvSpPr>
        <p:spPr>
          <a:xfrm>
            <a:off x="9566689" y="1676238"/>
            <a:ext cx="546876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h(t)</a:t>
            </a:r>
            <a:endParaRPr lang="zh-CN" sz="2100"/>
          </a:p>
        </p:txBody>
      </p:sp>
      <p:sp>
        <p:nvSpPr>
          <p:cNvPr id="68" name="TextBox 68"/>
          <p:cNvSpPr txBox="1"/>
          <p:nvPr/>
        </p:nvSpPr>
        <p:spPr>
          <a:xfrm>
            <a:off x="10098982" y="1690814"/>
            <a:ext cx="74375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包含系统</a:t>
            </a:r>
            <a:endParaRPr lang="zh-CN" sz="1500"/>
          </a:p>
        </p:txBody>
      </p:sp>
      <p:sp>
        <p:nvSpPr>
          <p:cNvPr id="69" name="TextBox 69"/>
          <p:cNvSpPr txBox="1"/>
          <p:nvPr/>
        </p:nvSpPr>
        <p:spPr>
          <a:xfrm>
            <a:off x="10864609" y="1690814"/>
            <a:ext cx="105000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全部动态信息</a:t>
            </a:r>
            <a:endParaRPr lang="zh-CN" sz="1500"/>
          </a:p>
        </p:txBody>
      </p:sp>
      <p:sp>
        <p:nvSpPr>
          <p:cNvPr id="70" name="TextBox 70"/>
          <p:cNvSpPr txBox="1"/>
          <p:nvPr/>
        </p:nvSpPr>
        <p:spPr>
          <a:xfrm>
            <a:off x="2880215" y="2594525"/>
            <a:ext cx="1968755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5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x(t) = </a:t>
            </a:r>
            <a:r>
              <a:rPr lang="zh-CN" sz="3500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δ(t)</a:t>
            </a:r>
            <a:endParaRPr lang="zh-CN" sz="3500"/>
          </a:p>
        </p:txBody>
      </p:sp>
      <p:sp>
        <p:nvSpPr>
          <p:cNvPr id="71" name="TextBox 71"/>
          <p:cNvSpPr txBox="1"/>
          <p:nvPr/>
        </p:nvSpPr>
        <p:spPr>
          <a:xfrm>
            <a:off x="5541680" y="2507069"/>
            <a:ext cx="670835" cy="524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800" b="1">
                <a:solidFill>
                  <a:srgbClr val="B00000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4800"/>
          </a:p>
        </p:txBody>
      </p:sp>
      <p:sp>
        <p:nvSpPr>
          <p:cNvPr id="72" name="TextBox 72"/>
          <p:cNvSpPr txBox="1"/>
          <p:nvPr/>
        </p:nvSpPr>
        <p:spPr>
          <a:xfrm>
            <a:off x="7051058" y="2594525"/>
            <a:ext cx="1968755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5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y(t) = </a:t>
            </a:r>
            <a:r>
              <a:rPr lang="zh-CN" sz="3500" i="1">
                <a:solidFill>
                  <a:srgbClr val="0C3B9F"/>
                </a:solidFill>
                <a:latin typeface="Times New Roman"/>
                <a:ea typeface="Times New Roman"/>
                <a:cs typeface="Times New Roman"/>
              </a:rPr>
              <a:t>h(t)</a:t>
            </a:r>
            <a:endParaRPr lang="zh-CN" sz="3500"/>
          </a:p>
        </p:txBody>
      </p:sp>
      <p:sp>
        <p:nvSpPr>
          <p:cNvPr id="73" name="TextBox 73"/>
          <p:cNvSpPr txBox="1"/>
          <p:nvPr/>
        </p:nvSpPr>
        <p:spPr>
          <a:xfrm>
            <a:off x="466668" y="3520100"/>
            <a:ext cx="2114588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窄脉冲（宽度 ε → 0）</a:t>
            </a:r>
            <a:endParaRPr lang="zh-CN" sz="2000"/>
          </a:p>
        </p:txBody>
      </p:sp>
      <p:sp>
        <p:nvSpPr>
          <p:cNvPr id="74" name="TextBox 74"/>
          <p:cNvSpPr txBox="1"/>
          <p:nvPr/>
        </p:nvSpPr>
        <p:spPr>
          <a:xfrm>
            <a:off x="583335" y="3913651"/>
            <a:ext cx="364584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幅值</a:t>
            </a:r>
            <a:endParaRPr lang="zh-CN" sz="1400"/>
          </a:p>
        </p:txBody>
      </p:sp>
      <p:sp>
        <p:nvSpPr>
          <p:cNvPr id="75" name="TextBox 75"/>
          <p:cNvSpPr txBox="1"/>
          <p:nvPr/>
        </p:nvSpPr>
        <p:spPr>
          <a:xfrm>
            <a:off x="247917" y="4227035"/>
            <a:ext cx="26250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—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ε</a:t>
            </a:r>
            <a:endParaRPr lang="zh-CN" sz="1600"/>
          </a:p>
        </p:txBody>
      </p:sp>
      <p:sp>
        <p:nvSpPr>
          <p:cNvPr id="76" name="TextBox 76"/>
          <p:cNvSpPr txBox="1"/>
          <p:nvPr/>
        </p:nvSpPr>
        <p:spPr>
          <a:xfrm>
            <a:off x="313542" y="4933970"/>
            <a:ext cx="175000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600"/>
          </a:p>
        </p:txBody>
      </p:sp>
      <p:sp>
        <p:nvSpPr>
          <p:cNvPr id="77" name="TextBox 77"/>
          <p:cNvSpPr txBox="1"/>
          <p:nvPr/>
        </p:nvSpPr>
        <p:spPr>
          <a:xfrm>
            <a:off x="2143755" y="5021426"/>
            <a:ext cx="175000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lang="zh-CN" sz="2200"/>
          </a:p>
        </p:txBody>
      </p:sp>
      <p:sp>
        <p:nvSpPr>
          <p:cNvPr id="78" name="TextBox 78"/>
          <p:cNvSpPr txBox="1"/>
          <p:nvPr/>
        </p:nvSpPr>
        <p:spPr>
          <a:xfrm>
            <a:off x="918752" y="5276506"/>
            <a:ext cx="175000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ε</a:t>
            </a:r>
            <a:endParaRPr lang="zh-CN" sz="1700"/>
          </a:p>
        </p:txBody>
      </p:sp>
      <p:sp>
        <p:nvSpPr>
          <p:cNvPr id="79" name="TextBox 79"/>
          <p:cNvSpPr txBox="1"/>
          <p:nvPr/>
        </p:nvSpPr>
        <p:spPr>
          <a:xfrm>
            <a:off x="2508339" y="4365507"/>
            <a:ext cx="568751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2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4200"/>
          </a:p>
        </p:txBody>
      </p:sp>
      <p:sp>
        <p:nvSpPr>
          <p:cNvPr id="80" name="TextBox 80"/>
          <p:cNvSpPr txBox="1"/>
          <p:nvPr/>
        </p:nvSpPr>
        <p:spPr>
          <a:xfrm>
            <a:off x="3543758" y="3520100"/>
            <a:ext cx="1713546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单位冲激 </a:t>
            </a:r>
            <a:r>
              <a:rPr lang="zh-CN" sz="2000" b="1" i="1">
                <a:solidFill>
                  <a:srgbClr val="0A2A78"/>
                </a:solidFill>
                <a:latin typeface="Times New Roman"/>
                <a:ea typeface="Times New Roman"/>
                <a:cs typeface="Times New Roman"/>
              </a:rPr>
              <a:t>δ(t)</a:t>
            </a:r>
            <a:endParaRPr lang="zh-CN" sz="2000"/>
          </a:p>
        </p:txBody>
      </p:sp>
      <p:sp>
        <p:nvSpPr>
          <p:cNvPr id="81" name="TextBox 81"/>
          <p:cNvSpPr txBox="1"/>
          <p:nvPr/>
        </p:nvSpPr>
        <p:spPr>
          <a:xfrm>
            <a:off x="3689592" y="3913651"/>
            <a:ext cx="364584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幅值</a:t>
            </a:r>
            <a:endParaRPr lang="zh-CN" sz="1400"/>
          </a:p>
        </p:txBody>
      </p:sp>
      <p:sp>
        <p:nvSpPr>
          <p:cNvPr id="82" name="TextBox 82"/>
          <p:cNvSpPr txBox="1"/>
          <p:nvPr/>
        </p:nvSpPr>
        <p:spPr>
          <a:xfrm>
            <a:off x="3376050" y="4307203"/>
            <a:ext cx="1604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800"/>
          </a:p>
        </p:txBody>
      </p:sp>
      <p:sp>
        <p:nvSpPr>
          <p:cNvPr id="83" name="TextBox 83"/>
          <p:cNvSpPr txBox="1"/>
          <p:nvPr/>
        </p:nvSpPr>
        <p:spPr>
          <a:xfrm>
            <a:off x="3412508" y="4963122"/>
            <a:ext cx="175000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600"/>
          </a:p>
        </p:txBody>
      </p:sp>
      <p:sp>
        <p:nvSpPr>
          <p:cNvPr id="84" name="TextBox 84"/>
          <p:cNvSpPr txBox="1"/>
          <p:nvPr/>
        </p:nvSpPr>
        <p:spPr>
          <a:xfrm>
            <a:off x="4783345" y="5021426"/>
            <a:ext cx="175000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lang="zh-CN" sz="2200"/>
          </a:p>
        </p:txBody>
      </p:sp>
      <p:sp>
        <p:nvSpPr>
          <p:cNvPr id="85" name="TextBox 85"/>
          <p:cNvSpPr txBox="1"/>
          <p:nvPr/>
        </p:nvSpPr>
        <p:spPr>
          <a:xfrm>
            <a:off x="3893759" y="4314491"/>
            <a:ext cx="233334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C3B9F"/>
                </a:solidFill>
                <a:latin typeface="Microsoft YaHei"/>
                <a:ea typeface="Microsoft YaHei"/>
                <a:cs typeface="Microsoft YaHei"/>
              </a:rPr>
              <a:t>▲</a:t>
            </a:r>
            <a:endParaRPr lang="zh-CN" sz="2000"/>
          </a:p>
        </p:txBody>
      </p:sp>
      <p:sp>
        <p:nvSpPr>
          <p:cNvPr id="86" name="TextBox 86"/>
          <p:cNvSpPr txBox="1"/>
          <p:nvPr/>
        </p:nvSpPr>
        <p:spPr>
          <a:xfrm>
            <a:off x="5089595" y="4365507"/>
            <a:ext cx="568751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2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4200"/>
          </a:p>
        </p:txBody>
      </p:sp>
      <p:sp>
        <p:nvSpPr>
          <p:cNvPr id="87" name="TextBox 87"/>
          <p:cNvSpPr txBox="1"/>
          <p:nvPr/>
        </p:nvSpPr>
        <p:spPr>
          <a:xfrm>
            <a:off x="6423973" y="3520100"/>
            <a:ext cx="1093753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LTI 系统</a:t>
            </a:r>
            <a:endParaRPr lang="zh-CN" sz="2000"/>
          </a:p>
        </p:txBody>
      </p:sp>
      <p:sp>
        <p:nvSpPr>
          <p:cNvPr id="88" name="TextBox 88"/>
          <p:cNvSpPr txBox="1"/>
          <p:nvPr/>
        </p:nvSpPr>
        <p:spPr>
          <a:xfrm>
            <a:off x="6278140" y="4467539"/>
            <a:ext cx="1122919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LTI 系统</a:t>
            </a:r>
            <a:endParaRPr lang="zh-CN" sz="2500"/>
          </a:p>
        </p:txBody>
      </p:sp>
      <p:sp>
        <p:nvSpPr>
          <p:cNvPr id="89" name="TextBox 89"/>
          <p:cNvSpPr txBox="1"/>
          <p:nvPr/>
        </p:nvSpPr>
        <p:spPr>
          <a:xfrm>
            <a:off x="8166686" y="4445675"/>
            <a:ext cx="43750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4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3400"/>
          </a:p>
        </p:txBody>
      </p:sp>
      <p:sp>
        <p:nvSpPr>
          <p:cNvPr id="90" name="TextBox 90"/>
          <p:cNvSpPr txBox="1"/>
          <p:nvPr/>
        </p:nvSpPr>
        <p:spPr>
          <a:xfrm>
            <a:off x="9216688" y="3520100"/>
            <a:ext cx="1640629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冲激响应 </a:t>
            </a:r>
            <a:r>
              <a:rPr lang="zh-CN" sz="2000" b="1" i="1">
                <a:solidFill>
                  <a:srgbClr val="0A2A78"/>
                </a:solidFill>
                <a:latin typeface="Times New Roman"/>
                <a:ea typeface="Times New Roman"/>
                <a:cs typeface="Times New Roman"/>
              </a:rPr>
              <a:t>h(t)</a:t>
            </a:r>
            <a:endParaRPr lang="zh-CN" sz="2000"/>
          </a:p>
        </p:txBody>
      </p:sp>
      <p:sp>
        <p:nvSpPr>
          <p:cNvPr id="91" name="TextBox 91"/>
          <p:cNvSpPr txBox="1"/>
          <p:nvPr/>
        </p:nvSpPr>
        <p:spPr>
          <a:xfrm>
            <a:off x="8750020" y="3913651"/>
            <a:ext cx="364584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幅值</a:t>
            </a:r>
            <a:endParaRPr lang="zh-CN" sz="1400"/>
          </a:p>
        </p:txBody>
      </p:sp>
      <p:sp>
        <p:nvSpPr>
          <p:cNvPr id="92" name="TextBox 92"/>
          <p:cNvSpPr txBox="1"/>
          <p:nvPr/>
        </p:nvSpPr>
        <p:spPr>
          <a:xfrm>
            <a:off x="8516687" y="4890242"/>
            <a:ext cx="175000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600"/>
          </a:p>
        </p:txBody>
      </p:sp>
      <p:sp>
        <p:nvSpPr>
          <p:cNvPr id="93" name="TextBox 93"/>
          <p:cNvSpPr txBox="1"/>
          <p:nvPr/>
        </p:nvSpPr>
        <p:spPr>
          <a:xfrm>
            <a:off x="11812528" y="4963122"/>
            <a:ext cx="175000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lang="zh-CN" sz="2200"/>
          </a:p>
        </p:txBody>
      </p:sp>
      <p:sp>
        <p:nvSpPr>
          <p:cNvPr id="94" name="TextBox 94"/>
          <p:cNvSpPr txBox="1"/>
          <p:nvPr/>
        </p:nvSpPr>
        <p:spPr>
          <a:xfrm>
            <a:off x="11112526" y="3520100"/>
            <a:ext cx="816669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概念示意</a:t>
            </a:r>
            <a:endParaRPr lang="zh-CN" sz="1600"/>
          </a:p>
        </p:txBody>
      </p:sp>
      <p:sp>
        <p:nvSpPr>
          <p:cNvPr id="95" name="TextBox 95"/>
          <p:cNvSpPr txBox="1"/>
          <p:nvPr/>
        </p:nvSpPr>
        <p:spPr>
          <a:xfrm>
            <a:off x="2347922" y="5990729"/>
            <a:ext cx="1895838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冲激像一根</a:t>
            </a:r>
            <a:endParaRPr lang="zh-CN" sz="3100"/>
          </a:p>
        </p:txBody>
      </p:sp>
      <p:sp>
        <p:nvSpPr>
          <p:cNvPr id="96" name="TextBox 96"/>
          <p:cNvSpPr txBox="1"/>
          <p:nvPr/>
        </p:nvSpPr>
        <p:spPr>
          <a:xfrm>
            <a:off x="4622927" y="5976153"/>
            <a:ext cx="1502087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“探针”</a:t>
            </a:r>
            <a:endParaRPr lang="zh-CN" sz="3100"/>
          </a:p>
        </p:txBody>
      </p:sp>
      <p:sp>
        <p:nvSpPr>
          <p:cNvPr id="97" name="TextBox 97"/>
          <p:cNvSpPr txBox="1"/>
          <p:nvPr/>
        </p:nvSpPr>
        <p:spPr>
          <a:xfrm>
            <a:off x="6475015" y="5990729"/>
            <a:ext cx="2916673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，能激发系统的</a:t>
            </a:r>
            <a:endParaRPr lang="zh-CN" sz="3100"/>
          </a:p>
        </p:txBody>
      </p:sp>
      <p:sp>
        <p:nvSpPr>
          <p:cNvPr id="98" name="TextBox 98"/>
          <p:cNvSpPr txBox="1"/>
          <p:nvPr/>
        </p:nvSpPr>
        <p:spPr>
          <a:xfrm>
            <a:off x="9420855" y="5990729"/>
            <a:ext cx="1647921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全部动态</a:t>
            </a:r>
            <a:endParaRPr lang="zh-CN" sz="3100"/>
          </a:p>
        </p:txBody>
      </p:sp>
      <p:sp>
        <p:nvSpPr>
          <p:cNvPr id="99" name="TextBox 99"/>
          <p:cNvSpPr txBox="1"/>
          <p:nvPr/>
        </p:nvSpPr>
        <p:spPr>
          <a:xfrm>
            <a:off x="11068776" y="5990729"/>
            <a:ext cx="277084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0A2A78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1250" y="757951"/>
            <a:ext cx="11841694" cy="0"/>
          </a:xfrm>
          <a:prstGeom prst="line">
            <a:avLst/>
          </a:prstGeom>
          <a:noFill/>
          <a:ln w="63500">
            <a:solidFill>
              <a:srgbClr val="071A6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196875" y="1005743"/>
            <a:ext cx="3820842" cy="3643996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25400">
            <a:solidFill>
              <a:srgbClr val="071A6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4477094" y="1005743"/>
            <a:ext cx="3346883" cy="3643996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25400">
            <a:solidFill>
              <a:srgbClr val="071A6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8451061" y="1005743"/>
            <a:ext cx="3478133" cy="3643996"/>
          </a:xfrm>
          <a:prstGeom prst="roundRect">
            <a:avLst>
              <a:gd name="adj" fmla="val 4612"/>
            </a:avLst>
          </a:prstGeom>
          <a:solidFill>
            <a:srgbClr val="FFFFFF"/>
          </a:solidFill>
          <a:ln w="25400">
            <a:solidFill>
              <a:srgbClr val="071A6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182292" y="4861090"/>
            <a:ext cx="11776069" cy="1537766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20320">
            <a:solidFill>
              <a:srgbClr val="092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196875" y="1005743"/>
            <a:ext cx="3820842" cy="546599"/>
          </a:xfrm>
          <a:prstGeom prst="roundRect">
            <a:avLst>
              <a:gd name="adj" fmla="val 29333"/>
            </a:avLst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4477094" y="1005743"/>
            <a:ext cx="3346883" cy="546599"/>
          </a:xfrm>
          <a:prstGeom prst="roundRect">
            <a:avLst>
              <a:gd name="adj" fmla="val 29333"/>
            </a:avLst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451061" y="1005743"/>
            <a:ext cx="3478133" cy="546599"/>
          </a:xfrm>
          <a:prstGeom prst="roundRect">
            <a:avLst>
              <a:gd name="adj" fmla="val 29333"/>
            </a:avLst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 10"/>
          <p:cNvSpPr/>
          <p:nvPr/>
        </p:nvSpPr>
        <p:spPr>
          <a:xfrm>
            <a:off x="196875" y="1297262"/>
            <a:ext cx="3820842" cy="255080"/>
          </a:xfrm>
          <a:prstGeom prst="rect">
            <a:avLst/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 11"/>
          <p:cNvSpPr/>
          <p:nvPr/>
        </p:nvSpPr>
        <p:spPr>
          <a:xfrm>
            <a:off x="4477094" y="1297262"/>
            <a:ext cx="3346883" cy="255080"/>
          </a:xfrm>
          <a:prstGeom prst="rect">
            <a:avLst/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 12"/>
          <p:cNvSpPr/>
          <p:nvPr/>
        </p:nvSpPr>
        <p:spPr>
          <a:xfrm>
            <a:off x="8451061" y="1297262"/>
            <a:ext cx="3478133" cy="255080"/>
          </a:xfrm>
          <a:prstGeom prst="rect">
            <a:avLst/>
          </a:prstGeom>
          <a:solidFill>
            <a:srgbClr val="0825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59376" y="1676238"/>
            <a:ext cx="3222924" cy="655919"/>
          </a:xfrm>
          <a:prstGeom prst="roundRect">
            <a:avLst>
              <a:gd name="adj" fmla="val 7778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459376" y="4088563"/>
            <a:ext cx="3222924" cy="371688"/>
          </a:xfrm>
          <a:prstGeom prst="roundRect">
            <a:avLst>
              <a:gd name="adj" fmla="val 11765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4739594" y="1676238"/>
            <a:ext cx="2778132" cy="685071"/>
          </a:xfrm>
          <a:prstGeom prst="roundRect">
            <a:avLst>
              <a:gd name="adj" fmla="val 7447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4739594" y="2835029"/>
            <a:ext cx="2778132" cy="481007"/>
          </a:xfrm>
          <a:prstGeom prst="roundRect">
            <a:avLst>
              <a:gd name="adj" fmla="val 10606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4739594" y="3767892"/>
            <a:ext cx="2778132" cy="692359"/>
          </a:xfrm>
          <a:prstGeom prst="roundRect">
            <a:avLst>
              <a:gd name="adj" fmla="val 7368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rect 18"/>
          <p:cNvSpPr/>
          <p:nvPr/>
        </p:nvSpPr>
        <p:spPr>
          <a:xfrm>
            <a:off x="8647937" y="1792846"/>
            <a:ext cx="3098966" cy="437279"/>
          </a:xfrm>
          <a:prstGeom prst="roundRect">
            <a:avLst>
              <a:gd name="adj" fmla="val 11667"/>
            </a:avLst>
          </a:prstGeom>
          <a:solidFill>
            <a:srgbClr val="FBFDFF"/>
          </a:solidFill>
          <a:ln w="17780">
            <a:solidFill>
              <a:srgbClr val="86ADF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8589603" y="3301460"/>
            <a:ext cx="3208341" cy="998455"/>
          </a:xfrm>
          <a:prstGeom prst="roundRect">
            <a:avLst>
              <a:gd name="adj" fmla="val 5839"/>
            </a:avLst>
          </a:prstGeom>
          <a:solidFill>
            <a:srgbClr val="FFFDFD"/>
          </a:solidFill>
          <a:ln w="20320">
            <a:solidFill>
              <a:srgbClr val="F0142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ightarrow 20"/>
          <p:cNvSpPr/>
          <p:nvPr/>
        </p:nvSpPr>
        <p:spPr>
          <a:xfrm>
            <a:off x="4083343" y="2667405"/>
            <a:ext cx="357293" cy="386264"/>
          </a:xfrm>
          <a:prstGeom prst="rightArrow">
            <a:avLst/>
          </a:prstGeom>
          <a:solidFill>
            <a:srgbClr val="1B4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arrow 21"/>
          <p:cNvSpPr/>
          <p:nvPr/>
        </p:nvSpPr>
        <p:spPr>
          <a:xfrm>
            <a:off x="7926060" y="2667405"/>
            <a:ext cx="357293" cy="386264"/>
          </a:xfrm>
          <a:prstGeom prst="rightArrow">
            <a:avLst/>
          </a:prstGeom>
          <a:solidFill>
            <a:srgbClr val="1B4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Downarrow 22"/>
          <p:cNvSpPr/>
          <p:nvPr/>
        </p:nvSpPr>
        <p:spPr>
          <a:xfrm>
            <a:off x="5964597" y="2477917"/>
            <a:ext cx="313542" cy="306096"/>
          </a:xfrm>
          <a:prstGeom prst="downArrow">
            <a:avLst/>
          </a:prstGeom>
          <a:solidFill>
            <a:srgbClr val="2C6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Downarrow 23"/>
          <p:cNvSpPr/>
          <p:nvPr/>
        </p:nvSpPr>
        <p:spPr>
          <a:xfrm>
            <a:off x="5964597" y="3410780"/>
            <a:ext cx="313542" cy="306096"/>
          </a:xfrm>
          <a:prstGeom prst="downArrow">
            <a:avLst/>
          </a:prstGeom>
          <a:solidFill>
            <a:srgbClr val="2C6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Downarrow 24"/>
          <p:cNvSpPr/>
          <p:nvPr/>
        </p:nvSpPr>
        <p:spPr>
          <a:xfrm>
            <a:off x="9975023" y="2587237"/>
            <a:ext cx="313542" cy="400840"/>
          </a:xfrm>
          <a:prstGeom prst="downArrow">
            <a:avLst/>
          </a:prstGeom>
          <a:solidFill>
            <a:srgbClr val="2C6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2063546" y="5006850"/>
            <a:ext cx="0" cy="1253535"/>
          </a:xfrm>
          <a:prstGeom prst="line">
            <a:avLst/>
          </a:prstGeom>
          <a:noFill/>
          <a:ln w="15240">
            <a:solidFill>
              <a:srgbClr val="4962A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2493756" y="5145322"/>
            <a:ext cx="160417" cy="160336"/>
          </a:xfrm>
          <a:prstGeom prst="ellipse">
            <a:avLst/>
          </a:prstGeom>
          <a:solidFill>
            <a:srgbClr val="062B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2493756" y="5575313"/>
            <a:ext cx="160417" cy="160336"/>
          </a:xfrm>
          <a:prstGeom prst="ellipse">
            <a:avLst/>
          </a:prstGeom>
          <a:solidFill>
            <a:srgbClr val="062B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lipse 28"/>
          <p:cNvSpPr/>
          <p:nvPr/>
        </p:nvSpPr>
        <p:spPr>
          <a:xfrm>
            <a:off x="2493756" y="6005305"/>
            <a:ext cx="160417" cy="160336"/>
          </a:xfrm>
          <a:prstGeom prst="ellipse">
            <a:avLst/>
          </a:prstGeom>
          <a:solidFill>
            <a:srgbClr val="062B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lipse 29"/>
          <p:cNvSpPr/>
          <p:nvPr/>
        </p:nvSpPr>
        <p:spPr>
          <a:xfrm>
            <a:off x="291667" y="1085911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4579177" y="1085911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Ellipse 31"/>
          <p:cNvSpPr/>
          <p:nvPr/>
        </p:nvSpPr>
        <p:spPr>
          <a:xfrm>
            <a:off x="8553145" y="1085911"/>
            <a:ext cx="415626" cy="415416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2" name="KVL equation"/>
          <p:cNvPicPr/>
          <p:nvPr/>
        </p:nvPicPr>
        <p:blipFill>
          <a:blip r:embed="rId3"/>
          <a:stretch>
            <a:fillRect/>
          </a:stretch>
        </p:blipFill>
        <p:spPr>
          <a:xfrm>
            <a:off x="583335" y="1603358"/>
            <a:ext cx="3026049" cy="721511"/>
          </a:xfrm>
          <a:prstGeom prst="rect">
            <a:avLst/>
          </a:prstGeom>
        </p:spPr>
      </p:pic>
      <p:pic>
        <p:nvPicPr>
          <p:cNvPr id="33" name="series RLC circuit"/>
          <p:cNvPicPr/>
          <p:nvPr/>
        </p:nvPicPr>
        <p:blipFill>
          <a:blip r:embed="rId4"/>
          <a:stretch>
            <a:fillRect/>
          </a:stretch>
        </p:blipFill>
        <p:spPr>
          <a:xfrm>
            <a:off x="619793" y="2390461"/>
            <a:ext cx="2960424" cy="1625222"/>
          </a:xfrm>
          <a:prstGeom prst="rect">
            <a:avLst/>
          </a:prstGeom>
        </p:spPr>
      </p:pic>
      <p:pic>
        <p:nvPicPr>
          <p:cNvPr id="34" name="RLC parameters left"/>
          <p:cNvPicPr/>
          <p:nvPr/>
        </p:nvPicPr>
        <p:blipFill>
          <a:blip r:embed="rId5"/>
          <a:stretch>
            <a:fillRect/>
          </a:stretch>
        </p:blipFill>
        <p:spPr>
          <a:xfrm>
            <a:off x="678127" y="4095851"/>
            <a:ext cx="2778132" cy="364400"/>
          </a:xfrm>
          <a:prstGeom prst="rect">
            <a:avLst/>
          </a:prstGeom>
        </p:spPr>
      </p:pic>
      <p:pic>
        <p:nvPicPr>
          <p:cNvPr id="35" name="capacitor current rel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5279179" y="1676238"/>
            <a:ext cx="1779171" cy="634055"/>
          </a:xfrm>
          <a:prstGeom prst="rect">
            <a:avLst/>
          </a:prstGeom>
        </p:spPr>
      </p:pic>
      <p:pic>
        <p:nvPicPr>
          <p:cNvPr id="36" name="output y equals capacitor voltage"/>
          <p:cNvPicPr/>
          <p:nvPr/>
        </p:nvPicPr>
        <p:blipFill>
          <a:blip r:embed="rId7"/>
          <a:stretch>
            <a:fillRect/>
          </a:stretch>
        </p:blipFill>
        <p:spPr>
          <a:xfrm>
            <a:off x="6139598" y="2856893"/>
            <a:ext cx="1341670" cy="437279"/>
          </a:xfrm>
          <a:prstGeom prst="rect">
            <a:avLst/>
          </a:prstGeom>
        </p:spPr>
      </p:pic>
      <p:pic>
        <p:nvPicPr>
          <p:cNvPr id="37" name="dvc dt relation"/>
          <p:cNvPicPr/>
          <p:nvPr/>
        </p:nvPicPr>
        <p:blipFill>
          <a:blip r:embed="rId8"/>
          <a:stretch>
            <a:fillRect/>
          </a:stretch>
        </p:blipFill>
        <p:spPr>
          <a:xfrm>
            <a:off x="5009387" y="3811620"/>
            <a:ext cx="2129172" cy="648631"/>
          </a:xfrm>
          <a:prstGeom prst="rect">
            <a:avLst/>
          </a:prstGeom>
        </p:spPr>
      </p:pic>
      <p:pic>
        <p:nvPicPr>
          <p:cNvPr id="38" name="RLC parameters right"/>
          <p:cNvPicPr/>
          <p:nvPr/>
        </p:nvPicPr>
        <p:blipFill>
          <a:blip r:embed="rId9"/>
          <a:stretch>
            <a:fillRect/>
          </a:stretch>
        </p:blipFill>
        <p:spPr>
          <a:xfrm>
            <a:off x="8786479" y="1858438"/>
            <a:ext cx="2763548" cy="320672"/>
          </a:xfrm>
          <a:prstGeom prst="rect">
            <a:avLst/>
          </a:prstGeom>
        </p:spPr>
      </p:pic>
      <p:pic>
        <p:nvPicPr>
          <p:cNvPr id="39" name="final differential equation"/>
          <p:cNvPicPr/>
          <p:nvPr/>
        </p:nvPicPr>
        <p:blipFill>
          <a:blip r:embed="rId10"/>
          <a:stretch>
            <a:fillRect/>
          </a:stretch>
        </p:blipFill>
        <p:spPr>
          <a:xfrm>
            <a:off x="8647937" y="3534676"/>
            <a:ext cx="3142716" cy="546599"/>
          </a:xfrm>
          <a:prstGeom prst="rect">
            <a:avLst/>
          </a:prstGeom>
        </p:spPr>
      </p:pic>
      <p:pic>
        <p:nvPicPr>
          <p:cNvPr id="40" name="target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670835" y="4955834"/>
            <a:ext cx="926044" cy="932863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04167" y="65592"/>
            <a:ext cx="5541680" cy="5976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000" b="1">
                <a:solidFill>
                  <a:srgbClr val="071A67"/>
                </a:solidFill>
                <a:latin typeface="Microsoft YaHei"/>
                <a:ea typeface="Microsoft YaHei"/>
                <a:cs typeface="Microsoft YaHei"/>
              </a:rPr>
              <a:t>由电路关系得到微分方程</a:t>
            </a:r>
            <a:endParaRPr lang="zh-CN" sz="4000"/>
          </a:p>
        </p:txBody>
      </p:sp>
      <p:sp>
        <p:nvSpPr>
          <p:cNvPr id="42" name="TextBox 42"/>
          <p:cNvSpPr txBox="1"/>
          <p:nvPr/>
        </p:nvSpPr>
        <p:spPr>
          <a:xfrm>
            <a:off x="379168" y="1100487"/>
            <a:ext cx="255209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900"/>
          </a:p>
        </p:txBody>
      </p:sp>
      <p:sp>
        <p:nvSpPr>
          <p:cNvPr id="43" name="TextBox 43"/>
          <p:cNvSpPr txBox="1"/>
          <p:nvPr/>
        </p:nvSpPr>
        <p:spPr>
          <a:xfrm>
            <a:off x="1407295" y="1151503"/>
            <a:ext cx="1822921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电路 KVL 关系</a:t>
            </a:r>
            <a:endParaRPr lang="zh-CN" sz="2400"/>
          </a:p>
        </p:txBody>
      </p:sp>
      <p:sp>
        <p:nvSpPr>
          <p:cNvPr id="44" name="TextBox 44"/>
          <p:cNvSpPr txBox="1"/>
          <p:nvPr/>
        </p:nvSpPr>
        <p:spPr>
          <a:xfrm>
            <a:off x="4673969" y="1100487"/>
            <a:ext cx="255209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900"/>
          </a:p>
        </p:txBody>
      </p:sp>
      <p:sp>
        <p:nvSpPr>
          <p:cNvPr id="45" name="TextBox 45"/>
          <p:cNvSpPr txBox="1"/>
          <p:nvPr/>
        </p:nvSpPr>
        <p:spPr>
          <a:xfrm>
            <a:off x="5250012" y="1151503"/>
            <a:ext cx="2187505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电容关系与串联电流</a:t>
            </a:r>
            <a:endParaRPr lang="zh-CN" sz="2200"/>
          </a:p>
        </p:txBody>
      </p:sp>
      <p:sp>
        <p:nvSpPr>
          <p:cNvPr id="46" name="TextBox 46"/>
          <p:cNvSpPr txBox="1"/>
          <p:nvPr/>
        </p:nvSpPr>
        <p:spPr>
          <a:xfrm>
            <a:off x="8647937" y="1100487"/>
            <a:ext cx="255209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900"/>
          </a:p>
        </p:txBody>
      </p:sp>
      <p:sp>
        <p:nvSpPr>
          <p:cNvPr id="47" name="TextBox 47"/>
          <p:cNvSpPr txBox="1"/>
          <p:nvPr/>
        </p:nvSpPr>
        <p:spPr>
          <a:xfrm>
            <a:off x="9245855" y="1151503"/>
            <a:ext cx="2260422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代入参数后的结果</a:t>
            </a:r>
            <a:endParaRPr lang="zh-CN" sz="2200"/>
          </a:p>
        </p:txBody>
      </p:sp>
      <p:sp>
        <p:nvSpPr>
          <p:cNvPr id="48" name="TextBox 48"/>
          <p:cNvSpPr txBox="1"/>
          <p:nvPr/>
        </p:nvSpPr>
        <p:spPr>
          <a:xfrm>
            <a:off x="277084" y="3250444"/>
            <a:ext cx="4229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i="1">
                <a:solidFill>
                  <a:srgbClr val="0C37A2"/>
                </a:solidFill>
                <a:latin typeface="Cambria Math"/>
                <a:ea typeface="Cambria Math"/>
                <a:cs typeface="Cambria Math"/>
              </a:rPr>
              <a:t>u(t)</a:t>
            </a:r>
            <a:endParaRPr lang="zh-CN" sz="1700"/>
          </a:p>
        </p:txBody>
      </p:sp>
      <p:sp>
        <p:nvSpPr>
          <p:cNvPr id="49" name="TextBox 49"/>
          <p:cNvSpPr txBox="1"/>
          <p:nvPr/>
        </p:nvSpPr>
        <p:spPr>
          <a:xfrm>
            <a:off x="3565633" y="2951637"/>
            <a:ext cx="17500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0C37A2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600"/>
          </a:p>
        </p:txBody>
      </p:sp>
      <p:sp>
        <p:nvSpPr>
          <p:cNvPr id="50" name="TextBox 50"/>
          <p:cNvSpPr txBox="1"/>
          <p:nvPr/>
        </p:nvSpPr>
        <p:spPr>
          <a:xfrm>
            <a:off x="3543758" y="3272308"/>
            <a:ext cx="32812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i="1">
                <a:solidFill>
                  <a:srgbClr val="0C37A2"/>
                </a:solidFill>
                <a:latin typeface="Cambria Math"/>
                <a:ea typeface="Cambria Math"/>
                <a:cs typeface="Cambria Math"/>
              </a:rPr>
              <a:t>v_C</a:t>
            </a:r>
            <a:endParaRPr lang="zh-CN" sz="1700"/>
          </a:p>
        </p:txBody>
      </p:sp>
      <p:sp>
        <p:nvSpPr>
          <p:cNvPr id="51" name="TextBox 51"/>
          <p:cNvSpPr txBox="1"/>
          <p:nvPr/>
        </p:nvSpPr>
        <p:spPr>
          <a:xfrm>
            <a:off x="3565633" y="3607556"/>
            <a:ext cx="17500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0C37A2"/>
                </a:solidFill>
                <a:latin typeface="Microsoft YaHei"/>
                <a:ea typeface="Microsoft YaHei"/>
                <a:cs typeface="Microsoft YaHei"/>
              </a:rPr>
              <a:t>−</a:t>
            </a:r>
            <a:endParaRPr lang="zh-CN" sz="1600"/>
          </a:p>
        </p:txBody>
      </p:sp>
      <p:sp>
        <p:nvSpPr>
          <p:cNvPr id="52" name="TextBox 52"/>
          <p:cNvSpPr txBox="1"/>
          <p:nvPr/>
        </p:nvSpPr>
        <p:spPr>
          <a:xfrm>
            <a:off x="5250012" y="2951637"/>
            <a:ext cx="875002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输出取：</a:t>
            </a:r>
            <a:endParaRPr lang="zh-CN" sz="2100"/>
          </a:p>
        </p:txBody>
      </p:sp>
      <p:sp>
        <p:nvSpPr>
          <p:cNvPr id="53" name="TextBox 53"/>
          <p:cNvSpPr txBox="1"/>
          <p:nvPr/>
        </p:nvSpPr>
        <p:spPr>
          <a:xfrm>
            <a:off x="845835" y="5954289"/>
            <a:ext cx="656252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说明</a:t>
            </a:r>
            <a:endParaRPr lang="zh-CN" sz="2500"/>
          </a:p>
        </p:txBody>
      </p:sp>
      <p:sp>
        <p:nvSpPr>
          <p:cNvPr id="54" name="TextBox 54"/>
          <p:cNvSpPr txBox="1"/>
          <p:nvPr/>
        </p:nvSpPr>
        <p:spPr>
          <a:xfrm>
            <a:off x="2843757" y="5079730"/>
            <a:ext cx="5833347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微分方程描述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输入</a:t>
            </a:r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 u(t) 与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 y(t) 的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整体关系</a:t>
            </a:r>
            <a:endParaRPr lang="zh-CN" sz="2100"/>
          </a:p>
        </p:txBody>
      </p:sp>
      <p:sp>
        <p:nvSpPr>
          <p:cNvPr id="55" name="TextBox 55"/>
          <p:cNvSpPr txBox="1"/>
          <p:nvPr/>
        </p:nvSpPr>
        <p:spPr>
          <a:xfrm>
            <a:off x="2843757" y="5509722"/>
            <a:ext cx="5541680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它是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传递函数</a:t>
            </a:r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冲激响应</a:t>
            </a:r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分析的基础</a:t>
            </a:r>
            <a:endParaRPr lang="zh-CN" sz="2100"/>
          </a:p>
        </p:txBody>
      </p:sp>
      <p:sp>
        <p:nvSpPr>
          <p:cNvPr id="56" name="TextBox 56"/>
          <p:cNvSpPr txBox="1"/>
          <p:nvPr/>
        </p:nvSpPr>
        <p:spPr>
          <a:xfrm>
            <a:off x="2843757" y="5939713"/>
            <a:ext cx="6562515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但它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不直接展示</a:t>
            </a:r>
            <a:r>
              <a:rPr lang="zh-CN" sz="2100" b="1">
                <a:solidFill>
                  <a:srgbClr val="062B90"/>
                </a:solidFill>
                <a:latin typeface="Microsoft YaHei"/>
                <a:ea typeface="Microsoft YaHei"/>
                <a:cs typeface="Microsoft YaHei"/>
              </a:rPr>
              <a:t>内部状态变量之间的</a:t>
            </a:r>
            <a:r>
              <a:rPr lang="zh-CN" sz="2100" b="1">
                <a:solidFill>
                  <a:srgbClr val="D20A16"/>
                </a:solidFill>
                <a:latin typeface="Microsoft YaHei"/>
                <a:ea typeface="Microsoft YaHei"/>
                <a:cs typeface="Microsoft YaHei"/>
              </a:rPr>
              <a:t>耦合</a:t>
            </a:r>
            <a:endParaRPr lang="zh-CN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45834" y="750663"/>
            <a:ext cx="11870861" cy="58304"/>
          </a:xfrm>
          <a:prstGeom prst="rect">
            <a:avLst/>
          </a:prstGeom>
          <a:solidFill>
            <a:srgbClr val="0A39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218751" y="1056759"/>
            <a:ext cx="3828134" cy="4409235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 w="254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4396885" y="1056759"/>
            <a:ext cx="3295841" cy="4409235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254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8013560" y="1056759"/>
            <a:ext cx="3922926" cy="4409235"/>
          </a:xfrm>
          <a:prstGeom prst="roundRect">
            <a:avLst>
              <a:gd name="adj" fmla="val 4089"/>
            </a:avLst>
          </a:prstGeom>
          <a:solidFill>
            <a:srgbClr val="FFFFFF"/>
          </a:solidFill>
          <a:ln w="254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218751" y="5772089"/>
            <a:ext cx="11666694" cy="78710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18751" y="1056759"/>
            <a:ext cx="3828134" cy="626767"/>
          </a:xfrm>
          <a:prstGeom prst="roundRect">
            <a:avLst>
              <a:gd name="adj" fmla="val 25581"/>
            </a:avLst>
          </a:prstGeom>
          <a:solidFill>
            <a:srgbClr val="062C82"/>
          </a:solidFill>
          <a:ln w="12700">
            <a:solidFill>
              <a:srgbClr val="062C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4396885" y="1056759"/>
            <a:ext cx="3295841" cy="626767"/>
          </a:xfrm>
          <a:prstGeom prst="roundRect">
            <a:avLst>
              <a:gd name="adj" fmla="val 25581"/>
            </a:avLst>
          </a:prstGeom>
          <a:solidFill>
            <a:srgbClr val="062C82"/>
          </a:solidFill>
          <a:ln w="12700">
            <a:solidFill>
              <a:srgbClr val="062C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013560" y="1056759"/>
            <a:ext cx="3922926" cy="626767"/>
          </a:xfrm>
          <a:prstGeom prst="roundRect">
            <a:avLst>
              <a:gd name="adj" fmla="val 25581"/>
            </a:avLst>
          </a:prstGeom>
          <a:solidFill>
            <a:srgbClr val="062C82"/>
          </a:solidFill>
          <a:ln w="12700">
            <a:solidFill>
              <a:srgbClr val="062C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 10"/>
          <p:cNvSpPr/>
          <p:nvPr/>
        </p:nvSpPr>
        <p:spPr>
          <a:xfrm>
            <a:off x="233334" y="1668950"/>
            <a:ext cx="3798967" cy="14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 11"/>
          <p:cNvSpPr/>
          <p:nvPr/>
        </p:nvSpPr>
        <p:spPr>
          <a:xfrm>
            <a:off x="4411469" y="1668950"/>
            <a:ext cx="3266674" cy="14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 12"/>
          <p:cNvSpPr/>
          <p:nvPr/>
        </p:nvSpPr>
        <p:spPr>
          <a:xfrm>
            <a:off x="8028144" y="1668950"/>
            <a:ext cx="3893759" cy="14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lipse 13"/>
          <p:cNvSpPr/>
          <p:nvPr/>
        </p:nvSpPr>
        <p:spPr>
          <a:xfrm>
            <a:off x="306251" y="1144215"/>
            <a:ext cx="473959" cy="473719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Ellipse 14"/>
          <p:cNvSpPr/>
          <p:nvPr/>
        </p:nvSpPr>
        <p:spPr>
          <a:xfrm>
            <a:off x="4484385" y="1144215"/>
            <a:ext cx="473959" cy="473719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101061" y="1144215"/>
            <a:ext cx="473959" cy="473719"/>
          </a:xfrm>
          <a:prstGeom prst="ellips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619793" y="1873014"/>
            <a:ext cx="3026049" cy="772527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364584" y="4708043"/>
            <a:ext cx="3507300" cy="45185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3D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rect 18"/>
          <p:cNvSpPr/>
          <p:nvPr/>
        </p:nvSpPr>
        <p:spPr>
          <a:xfrm>
            <a:off x="4535427" y="2514357"/>
            <a:ext cx="2996882" cy="1027607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9050">
            <a:solidFill>
              <a:srgbClr val="3D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4535427" y="3804332"/>
            <a:ext cx="2996882" cy="1027607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9050">
            <a:solidFill>
              <a:srgbClr val="3D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66686" y="1873014"/>
            <a:ext cx="3594800" cy="721511"/>
          </a:xfrm>
          <a:prstGeom prst="roundRect">
            <a:avLst>
              <a:gd name="adj" fmla="val 6061"/>
            </a:avLst>
          </a:prstGeom>
          <a:solidFill>
            <a:srgbClr val="F1F6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8173977" y="4554995"/>
            <a:ext cx="3594800" cy="67049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3D7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 22"/>
          <p:cNvSpPr/>
          <p:nvPr/>
        </p:nvSpPr>
        <p:spPr>
          <a:xfrm>
            <a:off x="4046884" y="3272308"/>
            <a:ext cx="306251" cy="123896"/>
          </a:xfrm>
          <a:prstGeom prst="rect">
            <a:avLst/>
          </a:prstGeom>
          <a:solidFill>
            <a:srgbClr val="2F66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ect 23"/>
          <p:cNvSpPr/>
          <p:nvPr/>
        </p:nvSpPr>
        <p:spPr>
          <a:xfrm>
            <a:off x="4229177" y="3155700"/>
            <a:ext cx="160417" cy="349824"/>
          </a:xfrm>
          <a:prstGeom prst="rect">
            <a:avLst/>
          </a:prstGeom>
          <a:solidFill>
            <a:srgbClr val="2F66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 24"/>
          <p:cNvSpPr/>
          <p:nvPr/>
        </p:nvSpPr>
        <p:spPr>
          <a:xfrm>
            <a:off x="7692726" y="3272308"/>
            <a:ext cx="262501" cy="123896"/>
          </a:xfrm>
          <a:prstGeom prst="rect">
            <a:avLst/>
          </a:prstGeom>
          <a:solidFill>
            <a:srgbClr val="2F66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 25"/>
          <p:cNvSpPr/>
          <p:nvPr/>
        </p:nvSpPr>
        <p:spPr>
          <a:xfrm>
            <a:off x="7860435" y="3155700"/>
            <a:ext cx="160417" cy="349824"/>
          </a:xfrm>
          <a:prstGeom prst="rect">
            <a:avLst/>
          </a:prstGeom>
          <a:solidFill>
            <a:srgbClr val="2F66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984377" y="3126548"/>
            <a:ext cx="0" cy="1268111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984377" y="3126548"/>
            <a:ext cx="313542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1793754" y="3126548"/>
            <a:ext cx="393751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>
            <a:off x="2187505" y="3126548"/>
            <a:ext cx="597918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>
            <a:off x="2785423" y="3126548"/>
            <a:ext cx="510418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>
            <a:off x="3295841" y="3126548"/>
            <a:ext cx="0" cy="1268111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 flipH="1">
            <a:off x="984377" y="4394659"/>
            <a:ext cx="2311464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 flipV="1">
            <a:off x="1297920" y="3017228"/>
            <a:ext cx="72917" cy="10932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>
            <a:off x="1370837" y="3017228"/>
            <a:ext cx="109375" cy="211352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 flipV="1">
            <a:off x="1480212" y="3017228"/>
            <a:ext cx="109375" cy="211352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>
            <a:off x="1589587" y="3017228"/>
            <a:ext cx="109375" cy="211352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 flipV="1">
            <a:off x="1698962" y="3126548"/>
            <a:ext cx="94792" cy="102032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8844812" y="2842317"/>
            <a:ext cx="0" cy="772527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>
            <a:off x="8844812" y="2842317"/>
            <a:ext cx="109375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>
            <a:off x="8844812" y="3614844"/>
            <a:ext cx="109375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>
            <a:off x="10033357" y="2842317"/>
            <a:ext cx="0" cy="772527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>
            <a:off x="9923982" y="2842317"/>
            <a:ext cx="109375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>
            <a:off x="9923982" y="3614844"/>
            <a:ext cx="109375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>
            <a:off x="11148984" y="2842317"/>
            <a:ext cx="0" cy="772527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>
            <a:off x="11579194" y="2842317"/>
            <a:ext cx="0" cy="772527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>
            <a:off x="8830229" y="3964667"/>
            <a:ext cx="0" cy="36440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Line 47"/>
          <p:cNvSpPr/>
          <p:nvPr/>
        </p:nvSpPr>
        <p:spPr>
          <a:xfrm>
            <a:off x="9829190" y="3964667"/>
            <a:ext cx="0" cy="36440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Line 48"/>
          <p:cNvSpPr/>
          <p:nvPr/>
        </p:nvSpPr>
        <p:spPr>
          <a:xfrm flipH="1">
            <a:off x="8421895" y="4839226"/>
            <a:ext cx="131250" cy="102032"/>
          </a:xfrm>
          <a:prstGeom prst="line">
            <a:avLst/>
          </a:prstGeom>
          <a:noFill/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Line 49"/>
          <p:cNvSpPr/>
          <p:nvPr/>
        </p:nvSpPr>
        <p:spPr>
          <a:xfrm>
            <a:off x="8553145" y="4839226"/>
            <a:ext cx="153125" cy="102032"/>
          </a:xfrm>
          <a:prstGeom prst="line">
            <a:avLst/>
          </a:prstGeom>
          <a:noFill/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Line 50"/>
          <p:cNvSpPr/>
          <p:nvPr/>
        </p:nvSpPr>
        <p:spPr>
          <a:xfrm>
            <a:off x="8487520" y="5014138"/>
            <a:ext cx="153125" cy="0"/>
          </a:xfrm>
          <a:prstGeom prst="line">
            <a:avLst/>
          </a:prstGeom>
          <a:noFill/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Ellipse 51"/>
          <p:cNvSpPr/>
          <p:nvPr/>
        </p:nvSpPr>
        <p:spPr>
          <a:xfrm>
            <a:off x="772918" y="3549252"/>
            <a:ext cx="422918" cy="42270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>
            <a:off x="3113549" y="3687724"/>
            <a:ext cx="350001" cy="0"/>
          </a:xfrm>
          <a:prstGeom prst="line">
            <a:avLst/>
          </a:prstGeom>
          <a:noFill/>
          <a:ln w="635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>
            <a:off x="3113549" y="3840772"/>
            <a:ext cx="350001" cy="0"/>
          </a:xfrm>
          <a:prstGeom prst="line">
            <a:avLst/>
          </a:prstGeom>
          <a:noFill/>
          <a:ln w="635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Line 54"/>
          <p:cNvSpPr/>
          <p:nvPr/>
        </p:nvSpPr>
        <p:spPr>
          <a:xfrm>
            <a:off x="1968755" y="3308748"/>
            <a:ext cx="525001" cy="0"/>
          </a:xfrm>
          <a:prstGeom prst="line">
            <a:avLst/>
          </a:prstGeom>
          <a:noFill/>
          <a:ln w="50800">
            <a:solidFill>
              <a:srgbClr val="D30A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Ellipse 55"/>
          <p:cNvSpPr/>
          <p:nvPr/>
        </p:nvSpPr>
        <p:spPr>
          <a:xfrm>
            <a:off x="8480228" y="4700755"/>
            <a:ext cx="138542" cy="138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Ellipse 56"/>
          <p:cNvSpPr/>
          <p:nvPr/>
        </p:nvSpPr>
        <p:spPr>
          <a:xfrm>
            <a:off x="8348978" y="4941258"/>
            <a:ext cx="138542" cy="138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Ellipse 57"/>
          <p:cNvSpPr/>
          <p:nvPr/>
        </p:nvSpPr>
        <p:spPr>
          <a:xfrm>
            <a:off x="8640645" y="4941258"/>
            <a:ext cx="138542" cy="138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Ellipse 58"/>
          <p:cNvSpPr/>
          <p:nvPr/>
        </p:nvSpPr>
        <p:spPr>
          <a:xfrm>
            <a:off x="802085" y="5888697"/>
            <a:ext cx="612501" cy="612191"/>
          </a:xfrm>
          <a:prstGeom prst="ellipse">
            <a:avLst/>
          </a:prstGeom>
          <a:noFill/>
          <a:ln w="889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Ellipse 59"/>
          <p:cNvSpPr/>
          <p:nvPr/>
        </p:nvSpPr>
        <p:spPr>
          <a:xfrm>
            <a:off x="940627" y="6027169"/>
            <a:ext cx="335417" cy="335248"/>
          </a:xfrm>
          <a:prstGeom prst="ellipse">
            <a:avLst/>
          </a:prstGeom>
          <a:noFill/>
          <a:ln w="762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Ellipse 60"/>
          <p:cNvSpPr/>
          <p:nvPr/>
        </p:nvSpPr>
        <p:spPr>
          <a:xfrm>
            <a:off x="1057294" y="6143777"/>
            <a:ext cx="102084" cy="102032"/>
          </a:xfrm>
          <a:prstGeom prst="ellipse">
            <a:avLst/>
          </a:prstGeom>
          <a:solidFill>
            <a:srgbClr val="0A399A"/>
          </a:solidFill>
          <a:ln w="254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Line 61"/>
          <p:cNvSpPr/>
          <p:nvPr/>
        </p:nvSpPr>
        <p:spPr>
          <a:xfrm flipV="1">
            <a:off x="1122919" y="5939713"/>
            <a:ext cx="240626" cy="240504"/>
          </a:xfrm>
          <a:prstGeom prst="line">
            <a:avLst/>
          </a:prstGeom>
          <a:noFill/>
          <a:ln w="76200">
            <a:solidFill>
              <a:srgbClr val="0A39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196875" y="116608"/>
            <a:ext cx="6197931" cy="524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061E65"/>
                </a:solidFill>
                <a:latin typeface="Microsoft YaHei"/>
                <a:ea typeface="Microsoft YaHei"/>
                <a:cs typeface="Microsoft YaHei"/>
              </a:rPr>
              <a:t>状态方程： 把内部关系写成矩阵</a:t>
            </a:r>
            <a:endParaRPr lang="zh-CN" sz="3100"/>
          </a:p>
        </p:txBody>
      </p:sp>
      <p:sp>
        <p:nvSpPr>
          <p:cNvPr id="63" name="TextBox 63"/>
          <p:cNvSpPr txBox="1"/>
          <p:nvPr/>
        </p:nvSpPr>
        <p:spPr>
          <a:xfrm>
            <a:off x="9829190" y="306096"/>
            <a:ext cx="211458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61E65"/>
                </a:solidFill>
                <a:latin typeface="Microsoft YaHei"/>
                <a:ea typeface="Microsoft YaHei"/>
                <a:cs typeface="Microsoft YaHei"/>
              </a:rPr>
              <a:t>计算理论 2 / 状态方程</a:t>
            </a:r>
            <a:endParaRPr lang="zh-CN" sz="1500"/>
          </a:p>
        </p:txBody>
      </p:sp>
      <p:sp>
        <p:nvSpPr>
          <p:cNvPr id="64" name="TextBox 64"/>
          <p:cNvSpPr txBox="1"/>
          <p:nvPr/>
        </p:nvSpPr>
        <p:spPr>
          <a:xfrm>
            <a:off x="452084" y="1246247"/>
            <a:ext cx="20416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400"/>
          </a:p>
        </p:txBody>
      </p:sp>
      <p:sp>
        <p:nvSpPr>
          <p:cNvPr id="65" name="TextBox 65"/>
          <p:cNvSpPr txBox="1"/>
          <p:nvPr/>
        </p:nvSpPr>
        <p:spPr>
          <a:xfrm>
            <a:off x="4622927" y="1246247"/>
            <a:ext cx="20416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400"/>
          </a:p>
        </p:txBody>
      </p:sp>
      <p:sp>
        <p:nvSpPr>
          <p:cNvPr id="66" name="TextBox 66"/>
          <p:cNvSpPr txBox="1"/>
          <p:nvPr/>
        </p:nvSpPr>
        <p:spPr>
          <a:xfrm>
            <a:off x="8246894" y="1246247"/>
            <a:ext cx="20416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400"/>
          </a:p>
        </p:txBody>
      </p:sp>
      <p:sp>
        <p:nvSpPr>
          <p:cNvPr id="67" name="TextBox 67"/>
          <p:cNvSpPr txBox="1"/>
          <p:nvPr/>
        </p:nvSpPr>
        <p:spPr>
          <a:xfrm>
            <a:off x="1370837" y="1275399"/>
            <a:ext cx="1604170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状态变量选取</a:t>
            </a:r>
            <a:endParaRPr lang="zh-CN" sz="2000"/>
          </a:p>
        </p:txBody>
      </p:sp>
      <p:sp>
        <p:nvSpPr>
          <p:cNvPr id="68" name="TextBox 68"/>
          <p:cNvSpPr txBox="1"/>
          <p:nvPr/>
        </p:nvSpPr>
        <p:spPr>
          <a:xfrm>
            <a:off x="5403138" y="1268111"/>
            <a:ext cx="182292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一阶状态方程</a:t>
            </a:r>
            <a:endParaRPr lang="zh-CN" sz="2000"/>
          </a:p>
        </p:txBody>
      </p:sp>
      <p:sp>
        <p:nvSpPr>
          <p:cNvPr id="69" name="TextBox 69"/>
          <p:cNvSpPr txBox="1"/>
          <p:nvPr/>
        </p:nvSpPr>
        <p:spPr>
          <a:xfrm>
            <a:off x="9413564" y="1268111"/>
            <a:ext cx="1531254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矩阵形式</a:t>
            </a:r>
            <a:endParaRPr lang="zh-CN" sz="2000"/>
          </a:p>
        </p:txBody>
      </p:sp>
      <p:sp>
        <p:nvSpPr>
          <p:cNvPr id="70" name="TextBox 70"/>
          <p:cNvSpPr txBox="1"/>
          <p:nvPr/>
        </p:nvSpPr>
        <p:spPr>
          <a:xfrm>
            <a:off x="1130211" y="1967758"/>
            <a:ext cx="743752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x₁ = i_L</a:t>
            </a:r>
            <a:endParaRPr lang="zh-CN" sz="2100"/>
          </a:p>
        </p:txBody>
      </p:sp>
      <p:sp>
        <p:nvSpPr>
          <p:cNvPr id="71" name="TextBox 71"/>
          <p:cNvSpPr txBox="1"/>
          <p:nvPr/>
        </p:nvSpPr>
        <p:spPr>
          <a:xfrm>
            <a:off x="2391672" y="1989622"/>
            <a:ext cx="845835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电感电流</a:t>
            </a:r>
            <a:endParaRPr lang="zh-CN" sz="1600"/>
          </a:p>
        </p:txBody>
      </p:sp>
      <p:sp>
        <p:nvSpPr>
          <p:cNvPr id="72" name="TextBox 72"/>
          <p:cNvSpPr txBox="1"/>
          <p:nvPr/>
        </p:nvSpPr>
        <p:spPr>
          <a:xfrm>
            <a:off x="1130211" y="2354021"/>
            <a:ext cx="816669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x₂ = v_C</a:t>
            </a:r>
            <a:endParaRPr lang="zh-CN" sz="2100"/>
          </a:p>
        </p:txBody>
      </p:sp>
      <p:sp>
        <p:nvSpPr>
          <p:cNvPr id="73" name="TextBox 73"/>
          <p:cNvSpPr txBox="1"/>
          <p:nvPr/>
        </p:nvSpPr>
        <p:spPr>
          <a:xfrm>
            <a:off x="2391672" y="2368597"/>
            <a:ext cx="845835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电容电压</a:t>
            </a:r>
            <a:endParaRPr lang="zh-CN" sz="1600"/>
          </a:p>
        </p:txBody>
      </p:sp>
      <p:sp>
        <p:nvSpPr>
          <p:cNvPr id="74" name="TextBox 74"/>
          <p:cNvSpPr txBox="1"/>
          <p:nvPr/>
        </p:nvSpPr>
        <p:spPr>
          <a:xfrm>
            <a:off x="1472920" y="2791301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R</a:t>
            </a:r>
            <a:endParaRPr lang="zh-CN" sz="1600"/>
          </a:p>
        </p:txBody>
      </p:sp>
      <p:sp>
        <p:nvSpPr>
          <p:cNvPr id="75" name="TextBox 75"/>
          <p:cNvSpPr txBox="1"/>
          <p:nvPr/>
        </p:nvSpPr>
        <p:spPr>
          <a:xfrm>
            <a:off x="2384381" y="2791301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L</a:t>
            </a:r>
            <a:endParaRPr lang="zh-CN" sz="1600"/>
          </a:p>
        </p:txBody>
      </p:sp>
      <p:sp>
        <p:nvSpPr>
          <p:cNvPr id="76" name="TextBox 76"/>
          <p:cNvSpPr txBox="1"/>
          <p:nvPr/>
        </p:nvSpPr>
        <p:spPr>
          <a:xfrm>
            <a:off x="2858340" y="3695012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C</a:t>
            </a:r>
            <a:endParaRPr lang="zh-CN" sz="2000"/>
          </a:p>
        </p:txBody>
      </p:sp>
      <p:sp>
        <p:nvSpPr>
          <p:cNvPr id="77" name="TextBox 77"/>
          <p:cNvSpPr txBox="1"/>
          <p:nvPr/>
        </p:nvSpPr>
        <p:spPr>
          <a:xfrm>
            <a:off x="2187505" y="3454508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i_L</a:t>
            </a:r>
            <a:endParaRPr lang="zh-CN" sz="1700"/>
          </a:p>
        </p:txBody>
      </p:sp>
      <p:sp>
        <p:nvSpPr>
          <p:cNvPr id="78" name="TextBox 78"/>
          <p:cNvSpPr txBox="1"/>
          <p:nvPr/>
        </p:nvSpPr>
        <p:spPr>
          <a:xfrm>
            <a:off x="306251" y="3673148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u(t)</a:t>
            </a:r>
            <a:endParaRPr lang="zh-CN" sz="1800"/>
          </a:p>
        </p:txBody>
      </p:sp>
      <p:sp>
        <p:nvSpPr>
          <p:cNvPr id="79" name="TextBox 79"/>
          <p:cNvSpPr txBox="1"/>
          <p:nvPr/>
        </p:nvSpPr>
        <p:spPr>
          <a:xfrm>
            <a:off x="3572925" y="3702300"/>
            <a:ext cx="43750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v_C</a:t>
            </a:r>
            <a:endParaRPr lang="zh-CN" sz="1800"/>
          </a:p>
        </p:txBody>
      </p:sp>
      <p:sp>
        <p:nvSpPr>
          <p:cNvPr id="80" name="TextBox 80"/>
          <p:cNvSpPr txBox="1"/>
          <p:nvPr/>
        </p:nvSpPr>
        <p:spPr>
          <a:xfrm>
            <a:off x="918752" y="3614844"/>
            <a:ext cx="16041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lang="zh-CN" sz="1800"/>
          </a:p>
        </p:txBody>
      </p:sp>
      <p:sp>
        <p:nvSpPr>
          <p:cNvPr id="81" name="TextBox 81"/>
          <p:cNvSpPr txBox="1"/>
          <p:nvPr/>
        </p:nvSpPr>
        <p:spPr>
          <a:xfrm>
            <a:off x="926044" y="3833484"/>
            <a:ext cx="16041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</a:t>
            </a:r>
            <a:endParaRPr lang="zh-CN" sz="1800"/>
          </a:p>
        </p:txBody>
      </p:sp>
      <p:sp>
        <p:nvSpPr>
          <p:cNvPr id="82" name="TextBox 82"/>
          <p:cNvSpPr txBox="1"/>
          <p:nvPr/>
        </p:nvSpPr>
        <p:spPr>
          <a:xfrm>
            <a:off x="3616675" y="3367052"/>
            <a:ext cx="17500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lang="zh-CN" sz="1800"/>
          </a:p>
        </p:txBody>
      </p:sp>
      <p:sp>
        <p:nvSpPr>
          <p:cNvPr id="83" name="TextBox 83"/>
          <p:cNvSpPr txBox="1"/>
          <p:nvPr/>
        </p:nvSpPr>
        <p:spPr>
          <a:xfrm>
            <a:off x="3638550" y="4066699"/>
            <a:ext cx="17500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</a:t>
            </a:r>
            <a:endParaRPr lang="zh-CN" sz="1800"/>
          </a:p>
        </p:txBody>
      </p:sp>
      <p:sp>
        <p:nvSpPr>
          <p:cNvPr id="84" name="TextBox 84"/>
          <p:cNvSpPr txBox="1"/>
          <p:nvPr/>
        </p:nvSpPr>
        <p:spPr>
          <a:xfrm>
            <a:off x="670835" y="4839226"/>
            <a:ext cx="291667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R = 1Ω     L = 1H     C = 0.25F</a:t>
            </a:r>
            <a:endParaRPr lang="zh-CN" sz="1700"/>
          </a:p>
        </p:txBody>
      </p:sp>
      <p:sp>
        <p:nvSpPr>
          <p:cNvPr id="85" name="TextBox 85"/>
          <p:cNvSpPr txBox="1"/>
          <p:nvPr/>
        </p:nvSpPr>
        <p:spPr>
          <a:xfrm>
            <a:off x="4608344" y="1975046"/>
            <a:ext cx="2697923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由 KVL 与电容关系代入参数得到</a:t>
            </a:r>
            <a:endParaRPr lang="zh-CN" sz="1500"/>
          </a:p>
        </p:txBody>
      </p:sp>
      <p:sp>
        <p:nvSpPr>
          <p:cNvPr id="86" name="TextBox 86"/>
          <p:cNvSpPr txBox="1"/>
          <p:nvPr/>
        </p:nvSpPr>
        <p:spPr>
          <a:xfrm>
            <a:off x="4761469" y="2856893"/>
            <a:ext cx="251563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di_L/dt = </a:t>
            </a:r>
            <a:r>
              <a:rPr lang="zh-CN" sz="20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−</a:t>
            </a:r>
            <a:r>
              <a:rPr lang="zh-CN" sz="2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i_L </a:t>
            </a:r>
            <a:r>
              <a:rPr lang="zh-CN" sz="20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−</a:t>
            </a:r>
            <a:r>
              <a:rPr lang="zh-CN" sz="2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 v_C + u(t)</a:t>
            </a:r>
            <a:endParaRPr lang="zh-CN" sz="2000"/>
          </a:p>
        </p:txBody>
      </p:sp>
      <p:sp>
        <p:nvSpPr>
          <p:cNvPr id="87" name="TextBox 87"/>
          <p:cNvSpPr txBox="1"/>
          <p:nvPr/>
        </p:nvSpPr>
        <p:spPr>
          <a:xfrm>
            <a:off x="5425013" y="4190595"/>
            <a:ext cx="1786463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dv_C/dt = </a:t>
            </a:r>
            <a:r>
              <a:rPr lang="zh-CN" sz="20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4</a:t>
            </a:r>
            <a:r>
              <a:rPr lang="zh-CN" sz="2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i_L</a:t>
            </a:r>
            <a:endParaRPr lang="zh-CN" sz="2000"/>
          </a:p>
        </p:txBody>
      </p:sp>
      <p:sp>
        <p:nvSpPr>
          <p:cNvPr id="88" name="TextBox 88"/>
          <p:cNvSpPr txBox="1"/>
          <p:nvPr/>
        </p:nvSpPr>
        <p:spPr>
          <a:xfrm>
            <a:off x="8305228" y="2142670"/>
            <a:ext cx="3281258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ẋ = </a:t>
            </a:r>
            <a:r>
              <a:rPr lang="zh-CN" sz="2100" b="1" i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x + </a:t>
            </a:r>
            <a:r>
              <a:rPr lang="zh-CN" sz="2100" b="1" i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u,    y = </a:t>
            </a:r>
            <a:r>
              <a:rPr lang="zh-CN" sz="2100" b="1" i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x + </a:t>
            </a:r>
            <a:r>
              <a:rPr lang="zh-CN" sz="2100" b="1" i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lang="zh-CN" sz="21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u</a:t>
            </a:r>
            <a:endParaRPr lang="zh-CN" sz="2100"/>
          </a:p>
        </p:txBody>
      </p:sp>
      <p:sp>
        <p:nvSpPr>
          <p:cNvPr id="89" name="TextBox 89"/>
          <p:cNvSpPr txBox="1"/>
          <p:nvPr/>
        </p:nvSpPr>
        <p:spPr>
          <a:xfrm>
            <a:off x="8312519" y="3090108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A =</a:t>
            </a:r>
            <a:endParaRPr lang="zh-CN" sz="2400"/>
          </a:p>
        </p:txBody>
      </p:sp>
      <p:sp>
        <p:nvSpPr>
          <p:cNvPr id="90" name="TextBox 90"/>
          <p:cNvSpPr txBox="1"/>
          <p:nvPr/>
        </p:nvSpPr>
        <p:spPr>
          <a:xfrm>
            <a:off x="9005229" y="2922485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−1</a:t>
            </a:r>
            <a:endParaRPr lang="zh-CN" sz="2200"/>
          </a:p>
        </p:txBody>
      </p:sp>
      <p:sp>
        <p:nvSpPr>
          <p:cNvPr id="91" name="TextBox 91"/>
          <p:cNvSpPr txBox="1"/>
          <p:nvPr/>
        </p:nvSpPr>
        <p:spPr>
          <a:xfrm>
            <a:off x="9603147" y="2922485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−1</a:t>
            </a:r>
            <a:endParaRPr lang="zh-CN" sz="2200"/>
          </a:p>
        </p:txBody>
      </p:sp>
      <p:sp>
        <p:nvSpPr>
          <p:cNvPr id="92" name="TextBox 92"/>
          <p:cNvSpPr txBox="1"/>
          <p:nvPr/>
        </p:nvSpPr>
        <p:spPr>
          <a:xfrm>
            <a:off x="9063563" y="3381628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4</a:t>
            </a:r>
            <a:endParaRPr lang="zh-CN" sz="2200"/>
          </a:p>
        </p:txBody>
      </p:sp>
      <p:sp>
        <p:nvSpPr>
          <p:cNvPr id="93" name="TextBox 93"/>
          <p:cNvSpPr txBox="1"/>
          <p:nvPr/>
        </p:nvSpPr>
        <p:spPr>
          <a:xfrm>
            <a:off x="9697939" y="3381628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0</a:t>
            </a:r>
            <a:endParaRPr lang="zh-CN" sz="2200"/>
          </a:p>
        </p:txBody>
      </p:sp>
      <p:sp>
        <p:nvSpPr>
          <p:cNvPr id="94" name="TextBox 94"/>
          <p:cNvSpPr txBox="1"/>
          <p:nvPr/>
        </p:nvSpPr>
        <p:spPr>
          <a:xfrm>
            <a:off x="10157315" y="3316036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,</a:t>
            </a:r>
            <a:endParaRPr lang="zh-CN" sz="2400"/>
          </a:p>
        </p:txBody>
      </p:sp>
      <p:sp>
        <p:nvSpPr>
          <p:cNvPr id="95" name="TextBox 95"/>
          <p:cNvSpPr txBox="1"/>
          <p:nvPr/>
        </p:nvSpPr>
        <p:spPr>
          <a:xfrm>
            <a:off x="10587525" y="3090108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B =</a:t>
            </a:r>
            <a:endParaRPr lang="zh-CN" sz="2400"/>
          </a:p>
        </p:txBody>
      </p:sp>
      <p:sp>
        <p:nvSpPr>
          <p:cNvPr id="96" name="TextBox 96"/>
          <p:cNvSpPr txBox="1"/>
          <p:nvPr/>
        </p:nvSpPr>
        <p:spPr>
          <a:xfrm>
            <a:off x="11302110" y="2922485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1</a:t>
            </a:r>
            <a:endParaRPr lang="zh-CN" sz="2200"/>
          </a:p>
        </p:txBody>
      </p:sp>
      <p:sp>
        <p:nvSpPr>
          <p:cNvPr id="97" name="TextBox 97"/>
          <p:cNvSpPr txBox="1"/>
          <p:nvPr/>
        </p:nvSpPr>
        <p:spPr>
          <a:xfrm>
            <a:off x="11302110" y="3381628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0</a:t>
            </a:r>
            <a:endParaRPr lang="zh-CN" sz="2200"/>
          </a:p>
        </p:txBody>
      </p:sp>
      <p:sp>
        <p:nvSpPr>
          <p:cNvPr id="98" name="TextBox 98"/>
          <p:cNvSpPr txBox="1"/>
          <p:nvPr/>
        </p:nvSpPr>
        <p:spPr>
          <a:xfrm>
            <a:off x="8312519" y="4015683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C =</a:t>
            </a:r>
            <a:endParaRPr lang="zh-CN" sz="2400"/>
          </a:p>
        </p:txBody>
      </p:sp>
      <p:sp>
        <p:nvSpPr>
          <p:cNvPr id="99" name="TextBox 99"/>
          <p:cNvSpPr txBox="1"/>
          <p:nvPr/>
        </p:nvSpPr>
        <p:spPr>
          <a:xfrm>
            <a:off x="9027104" y="4015683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0</a:t>
            </a:r>
            <a:endParaRPr lang="zh-CN" sz="2200"/>
          </a:p>
        </p:txBody>
      </p:sp>
      <p:sp>
        <p:nvSpPr>
          <p:cNvPr id="100" name="TextBox 100"/>
          <p:cNvSpPr txBox="1"/>
          <p:nvPr/>
        </p:nvSpPr>
        <p:spPr>
          <a:xfrm>
            <a:off x="9501064" y="4015683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1</a:t>
            </a:r>
            <a:endParaRPr lang="zh-CN" sz="2200"/>
          </a:p>
        </p:txBody>
      </p:sp>
      <p:sp>
        <p:nvSpPr>
          <p:cNvPr id="101" name="TextBox 101"/>
          <p:cNvSpPr txBox="1"/>
          <p:nvPr/>
        </p:nvSpPr>
        <p:spPr>
          <a:xfrm>
            <a:off x="9953148" y="4030259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,</a:t>
            </a:r>
            <a:endParaRPr lang="zh-CN" sz="2400"/>
          </a:p>
        </p:txBody>
      </p:sp>
      <p:sp>
        <p:nvSpPr>
          <p:cNvPr id="102" name="TextBox 102"/>
          <p:cNvSpPr txBox="1"/>
          <p:nvPr/>
        </p:nvSpPr>
        <p:spPr>
          <a:xfrm>
            <a:off x="10594816" y="4015683"/>
            <a:ext cx="5104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D = 0</a:t>
            </a:r>
            <a:endParaRPr lang="zh-CN" sz="2400"/>
          </a:p>
        </p:txBody>
      </p:sp>
      <p:sp>
        <p:nvSpPr>
          <p:cNvPr id="103" name="TextBox 103"/>
          <p:cNvSpPr txBox="1"/>
          <p:nvPr/>
        </p:nvSpPr>
        <p:spPr>
          <a:xfrm>
            <a:off x="8910438" y="4788210"/>
            <a:ext cx="2508339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矩阵 </a:t>
            </a:r>
            <a:r>
              <a:rPr lang="zh-CN" sz="1600" b="1" i="1">
                <a:solidFill>
                  <a:srgbClr val="CC0000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lang="zh-CN" sz="15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 描述状态之间的耦合关系</a:t>
            </a:r>
            <a:endParaRPr lang="zh-CN" sz="1500"/>
          </a:p>
        </p:txBody>
      </p:sp>
      <p:sp>
        <p:nvSpPr>
          <p:cNvPr id="104" name="TextBox 104"/>
          <p:cNvSpPr txBox="1"/>
          <p:nvPr/>
        </p:nvSpPr>
        <p:spPr>
          <a:xfrm>
            <a:off x="1873963" y="6005305"/>
            <a:ext cx="8093769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核心：</a:t>
            </a:r>
            <a:r>
              <a:rPr lang="zh-CN" sz="1900" b="1">
                <a:solidFill>
                  <a:srgbClr val="0A399A"/>
                </a:solidFill>
                <a:latin typeface="Microsoft YaHei"/>
                <a:ea typeface="Microsoft YaHei"/>
                <a:cs typeface="Microsoft YaHei"/>
              </a:rPr>
              <a:t> 状态方程把 “输入输出关系” 进一步展开为 “内部状态演化” 。</a:t>
            </a:r>
            <a:endParaRPr lang="zh-CN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53125" y="714223"/>
            <a:ext cx="11856278" cy="43728"/>
          </a:xfrm>
          <a:prstGeom prst="rect">
            <a:avLst/>
          </a:prstGeom>
          <a:solidFill>
            <a:srgbClr val="0825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175000" y="1115063"/>
            <a:ext cx="5147929" cy="3709588"/>
          </a:xfrm>
          <a:prstGeom prst="roundRect">
            <a:avLst>
              <a:gd name="adj" fmla="val 2947"/>
            </a:avLst>
          </a:prstGeom>
          <a:noFill/>
          <a:ln w="25400">
            <a:solidFill>
              <a:srgbClr val="0730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5585430" y="1115063"/>
            <a:ext cx="6409390" cy="3709588"/>
          </a:xfrm>
          <a:prstGeom prst="roundRect">
            <a:avLst>
              <a:gd name="adj" fmla="val 2947"/>
            </a:avLst>
          </a:prstGeom>
          <a:noFill/>
          <a:ln w="25400">
            <a:solidFill>
              <a:srgbClr val="0730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175000" y="5072442"/>
            <a:ext cx="4338552" cy="136285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25400">
            <a:solidFill>
              <a:srgbClr val="0730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4644803" y="5072442"/>
            <a:ext cx="3492717" cy="136285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25400">
            <a:solidFill>
              <a:srgbClr val="0730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3353" y="5072442"/>
            <a:ext cx="3718759" cy="136285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25400">
            <a:solidFill>
              <a:srgbClr val="0730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67710" y="947439"/>
            <a:ext cx="3791676" cy="444567"/>
          </a:xfrm>
          <a:prstGeom prst="roundRect">
            <a:avLst>
              <a:gd name="adj" fmla="val 13115"/>
            </a:avLst>
          </a:prstGeom>
          <a:solidFill>
            <a:srgbClr val="0825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67710" y="1581494"/>
            <a:ext cx="3777092" cy="692359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BB8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67710" y="2696557"/>
            <a:ext cx="3777092" cy="677783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9BB8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67710" y="3789756"/>
            <a:ext cx="3777092" cy="83811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BB8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7043766" y="947439"/>
            <a:ext cx="3259383" cy="429991"/>
          </a:xfrm>
          <a:prstGeom prst="roundRect">
            <a:avLst>
              <a:gd name="adj" fmla="val 13559"/>
            </a:avLst>
          </a:prstGeom>
          <a:solidFill>
            <a:srgbClr val="0825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lipse 13"/>
          <p:cNvSpPr/>
          <p:nvPr/>
        </p:nvSpPr>
        <p:spPr>
          <a:xfrm>
            <a:off x="335417" y="5298370"/>
            <a:ext cx="845835" cy="845407"/>
          </a:xfrm>
          <a:prstGeom prst="ellipse">
            <a:avLst/>
          </a:prstGeom>
          <a:solidFill>
            <a:srgbClr val="082B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lipse 14"/>
          <p:cNvSpPr/>
          <p:nvPr/>
        </p:nvSpPr>
        <p:spPr>
          <a:xfrm>
            <a:off x="4761469" y="5298370"/>
            <a:ext cx="845835" cy="845407"/>
          </a:xfrm>
          <a:prstGeom prst="ellipse">
            <a:avLst/>
          </a:prstGeom>
          <a:solidFill>
            <a:srgbClr val="082B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392728" y="5298370"/>
            <a:ext cx="845835" cy="845407"/>
          </a:xfrm>
          <a:prstGeom prst="ellipse">
            <a:avLst/>
          </a:prstGeom>
          <a:solidFill>
            <a:srgbClr val="082B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V="1">
            <a:off x="503126" y="5597177"/>
            <a:ext cx="0" cy="386264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>
            <a:off x="503126" y="5983441"/>
            <a:ext cx="481251" cy="0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554168" y="5772089"/>
            <a:ext cx="58333" cy="211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 19"/>
          <p:cNvSpPr/>
          <p:nvPr/>
        </p:nvSpPr>
        <p:spPr>
          <a:xfrm>
            <a:off x="670835" y="5830393"/>
            <a:ext cx="58333" cy="15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 20"/>
          <p:cNvSpPr/>
          <p:nvPr/>
        </p:nvSpPr>
        <p:spPr>
          <a:xfrm>
            <a:off x="787502" y="5874121"/>
            <a:ext cx="58333" cy="109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 21"/>
          <p:cNvSpPr/>
          <p:nvPr/>
        </p:nvSpPr>
        <p:spPr>
          <a:xfrm>
            <a:off x="904169" y="5917849"/>
            <a:ext cx="58333" cy="65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>
            <a:off x="503126" y="5502434"/>
            <a:ext cx="160417" cy="211352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663543" y="5713785"/>
            <a:ext cx="196875" cy="123896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860419" y="5837681"/>
            <a:ext cx="160417" cy="7288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4900011" y="5728361"/>
            <a:ext cx="568751" cy="0"/>
          </a:xfrm>
          <a:prstGeom prst="lin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V="1">
            <a:off x="4900011" y="5531586"/>
            <a:ext cx="109375" cy="196776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5009387" y="5531586"/>
            <a:ext cx="175000" cy="422704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 flipV="1">
            <a:off x="5184387" y="5538874"/>
            <a:ext cx="182292" cy="415416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>
            <a:off x="8560437" y="5728361"/>
            <a:ext cx="51041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Line 30"/>
          <p:cNvSpPr/>
          <p:nvPr/>
        </p:nvSpPr>
        <p:spPr>
          <a:xfrm>
            <a:off x="8815646" y="5465994"/>
            <a:ext cx="0" cy="517447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1" name="Ellipse 31"/>
          <p:cNvSpPr/>
          <p:nvPr/>
        </p:nvSpPr>
        <p:spPr>
          <a:xfrm>
            <a:off x="8633354" y="5546162"/>
            <a:ext cx="364584" cy="36440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Ellipse 32"/>
          <p:cNvSpPr/>
          <p:nvPr/>
        </p:nvSpPr>
        <p:spPr>
          <a:xfrm>
            <a:off x="8757312" y="5451418"/>
            <a:ext cx="131250" cy="131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Ellipse 33"/>
          <p:cNvSpPr/>
          <p:nvPr/>
        </p:nvSpPr>
        <p:spPr>
          <a:xfrm>
            <a:off x="8757312" y="5881409"/>
            <a:ext cx="131250" cy="131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Ellipse 34"/>
          <p:cNvSpPr/>
          <p:nvPr/>
        </p:nvSpPr>
        <p:spPr>
          <a:xfrm>
            <a:off x="8604187" y="5670057"/>
            <a:ext cx="131250" cy="131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Ellipse 35"/>
          <p:cNvSpPr/>
          <p:nvPr/>
        </p:nvSpPr>
        <p:spPr>
          <a:xfrm>
            <a:off x="8903146" y="5670057"/>
            <a:ext cx="131250" cy="131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D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>
            <a:off x="7160433" y="1887590"/>
            <a:ext cx="1903129" cy="0"/>
          </a:xfrm>
          <a:prstGeom prst="line">
            <a:avLst/>
          </a:prstGeom>
          <a:noFill/>
          <a:ln w="25400">
            <a:solidFill>
              <a:srgbClr val="1463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>
            <a:off x="7160433" y="4219747"/>
            <a:ext cx="1903129" cy="0"/>
          </a:xfrm>
          <a:prstGeom prst="line">
            <a:avLst/>
          </a:prstGeom>
          <a:noFill/>
          <a:ln w="25400">
            <a:solidFill>
              <a:srgbClr val="1463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8305228" y="1887590"/>
            <a:ext cx="0" cy="2332157"/>
          </a:xfrm>
          <a:prstGeom prst="line">
            <a:avLst/>
          </a:prstGeom>
          <a:noFill/>
          <a:ln w="25400">
            <a:solidFill>
              <a:srgbClr val="1463C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>
            <a:off x="6511474" y="2995365"/>
            <a:ext cx="4557302" cy="0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 flipV="1">
            <a:off x="9063563" y="1479462"/>
            <a:ext cx="0" cy="3155700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182292" y="102032"/>
            <a:ext cx="6562515" cy="495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4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特征根： 系统模态的数学来源</a:t>
            </a:r>
            <a:endParaRPr lang="zh-CN" sz="3400"/>
          </a:p>
        </p:txBody>
      </p:sp>
      <p:sp>
        <p:nvSpPr>
          <p:cNvPr id="42" name="TextBox 42"/>
          <p:cNvSpPr txBox="1"/>
          <p:nvPr/>
        </p:nvSpPr>
        <p:spPr>
          <a:xfrm>
            <a:off x="1407295" y="1049471"/>
            <a:ext cx="2697923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对矩阵 A 求特征值：</a:t>
            </a:r>
            <a:endParaRPr lang="zh-CN" sz="2000"/>
          </a:p>
        </p:txBody>
      </p:sp>
      <p:sp>
        <p:nvSpPr>
          <p:cNvPr id="43" name="TextBox 43"/>
          <p:cNvSpPr txBox="1"/>
          <p:nvPr/>
        </p:nvSpPr>
        <p:spPr>
          <a:xfrm>
            <a:off x="1494795" y="1763694"/>
            <a:ext cx="2537506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det(λI − A) = 0</a:t>
            </a:r>
            <a:endParaRPr lang="zh-CN" sz="2900"/>
          </a:p>
        </p:txBody>
      </p:sp>
      <p:sp>
        <p:nvSpPr>
          <p:cNvPr id="44" name="TextBox 44"/>
          <p:cNvSpPr txBox="1"/>
          <p:nvPr/>
        </p:nvSpPr>
        <p:spPr>
          <a:xfrm>
            <a:off x="2537506" y="2295717"/>
            <a:ext cx="437501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4779D5"/>
                </a:solidFill>
                <a:latin typeface="Microsoft YaHei"/>
                <a:ea typeface="Microsoft YaHei"/>
                <a:cs typeface="Microsoft YaHei"/>
              </a:rPr>
              <a:t>▼</a:t>
            </a:r>
            <a:endParaRPr lang="zh-CN" sz="2700"/>
          </a:p>
        </p:txBody>
      </p:sp>
      <p:sp>
        <p:nvSpPr>
          <p:cNvPr id="45" name="TextBox 45"/>
          <p:cNvSpPr txBox="1"/>
          <p:nvPr/>
        </p:nvSpPr>
        <p:spPr>
          <a:xfrm>
            <a:off x="1771879" y="2871469"/>
            <a:ext cx="1968755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λ² + λ + 4 = 0</a:t>
            </a:r>
            <a:endParaRPr lang="zh-CN" sz="2800"/>
          </a:p>
        </p:txBody>
      </p:sp>
      <p:sp>
        <p:nvSpPr>
          <p:cNvPr id="46" name="TextBox 46"/>
          <p:cNvSpPr txBox="1"/>
          <p:nvPr/>
        </p:nvSpPr>
        <p:spPr>
          <a:xfrm>
            <a:off x="2537506" y="3396204"/>
            <a:ext cx="437501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4779D5"/>
                </a:solidFill>
                <a:latin typeface="Microsoft YaHei"/>
                <a:ea typeface="Microsoft YaHei"/>
                <a:cs typeface="Microsoft YaHei"/>
              </a:rPr>
              <a:t>▼</a:t>
            </a:r>
            <a:endParaRPr lang="zh-CN" sz="2700"/>
          </a:p>
        </p:txBody>
      </p:sp>
      <p:sp>
        <p:nvSpPr>
          <p:cNvPr id="47" name="TextBox 47"/>
          <p:cNvSpPr txBox="1"/>
          <p:nvPr/>
        </p:nvSpPr>
        <p:spPr>
          <a:xfrm>
            <a:off x="1188544" y="4030259"/>
            <a:ext cx="3222924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B40000"/>
                </a:solidFill>
                <a:latin typeface="Cambria Math"/>
                <a:ea typeface="Cambria Math"/>
                <a:cs typeface="Cambria Math"/>
              </a:rPr>
              <a:t>λ = −0.5 ± j1.9365</a:t>
            </a:r>
            <a:endParaRPr lang="zh-CN" sz="3100"/>
          </a:p>
        </p:txBody>
      </p:sp>
      <p:sp>
        <p:nvSpPr>
          <p:cNvPr id="48" name="TextBox 48"/>
          <p:cNvSpPr txBox="1"/>
          <p:nvPr/>
        </p:nvSpPr>
        <p:spPr>
          <a:xfrm>
            <a:off x="7350017" y="1056759"/>
            <a:ext cx="2661465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特征根在复平面上的位置</a:t>
            </a:r>
            <a:endParaRPr lang="zh-CN" sz="1800"/>
          </a:p>
        </p:txBody>
      </p:sp>
      <p:sp>
        <p:nvSpPr>
          <p:cNvPr id="49" name="TextBox 49"/>
          <p:cNvSpPr txBox="1"/>
          <p:nvPr/>
        </p:nvSpPr>
        <p:spPr>
          <a:xfrm>
            <a:off x="9172938" y="1501326"/>
            <a:ext cx="3645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</a:t>
            </a:r>
            <a:endParaRPr lang="zh-CN" sz="1700"/>
          </a:p>
        </p:txBody>
      </p:sp>
      <p:sp>
        <p:nvSpPr>
          <p:cNvPr id="50" name="TextBox 50"/>
          <p:cNvSpPr txBox="1"/>
          <p:nvPr/>
        </p:nvSpPr>
        <p:spPr>
          <a:xfrm>
            <a:off x="10879192" y="3126548"/>
            <a:ext cx="364584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</a:t>
            </a:r>
            <a:endParaRPr lang="zh-CN" sz="1700"/>
          </a:p>
        </p:txBody>
      </p:sp>
      <p:sp>
        <p:nvSpPr>
          <p:cNvPr id="51" name="TextBox 51"/>
          <p:cNvSpPr txBox="1"/>
          <p:nvPr/>
        </p:nvSpPr>
        <p:spPr>
          <a:xfrm>
            <a:off x="6846891" y="3155700"/>
            <a:ext cx="357293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−2</a:t>
            </a:r>
            <a:endParaRPr lang="zh-CN" sz="1700"/>
          </a:p>
        </p:txBody>
      </p:sp>
      <p:sp>
        <p:nvSpPr>
          <p:cNvPr id="52" name="TextBox 52"/>
          <p:cNvSpPr txBox="1"/>
          <p:nvPr/>
        </p:nvSpPr>
        <p:spPr>
          <a:xfrm>
            <a:off x="7867727" y="3155700"/>
            <a:ext cx="357293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</a:t>
            </a:r>
            <a:endParaRPr lang="zh-CN" sz="1700"/>
          </a:p>
        </p:txBody>
      </p:sp>
      <p:sp>
        <p:nvSpPr>
          <p:cNvPr id="53" name="TextBox 53"/>
          <p:cNvSpPr txBox="1"/>
          <p:nvPr/>
        </p:nvSpPr>
        <p:spPr>
          <a:xfrm>
            <a:off x="9158355" y="3155700"/>
            <a:ext cx="240626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700"/>
          </a:p>
        </p:txBody>
      </p:sp>
      <p:sp>
        <p:nvSpPr>
          <p:cNvPr id="54" name="TextBox 54"/>
          <p:cNvSpPr txBox="1"/>
          <p:nvPr/>
        </p:nvSpPr>
        <p:spPr>
          <a:xfrm>
            <a:off x="6876058" y="1770982"/>
            <a:ext cx="24791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zh-CN" sz="1700"/>
          </a:p>
        </p:txBody>
      </p:sp>
      <p:sp>
        <p:nvSpPr>
          <p:cNvPr id="55" name="TextBox 55"/>
          <p:cNvSpPr txBox="1"/>
          <p:nvPr/>
        </p:nvSpPr>
        <p:spPr>
          <a:xfrm>
            <a:off x="6876058" y="2375885"/>
            <a:ext cx="24791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1700"/>
          </a:p>
        </p:txBody>
      </p:sp>
      <p:sp>
        <p:nvSpPr>
          <p:cNvPr id="56" name="TextBox 56"/>
          <p:cNvSpPr txBox="1"/>
          <p:nvPr/>
        </p:nvSpPr>
        <p:spPr>
          <a:xfrm>
            <a:off x="6810433" y="3629420"/>
            <a:ext cx="32812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</a:t>
            </a:r>
            <a:endParaRPr lang="zh-CN" sz="1700"/>
          </a:p>
        </p:txBody>
      </p:sp>
      <p:sp>
        <p:nvSpPr>
          <p:cNvPr id="57" name="TextBox 57"/>
          <p:cNvSpPr txBox="1"/>
          <p:nvPr/>
        </p:nvSpPr>
        <p:spPr>
          <a:xfrm>
            <a:off x="6810433" y="4190595"/>
            <a:ext cx="32812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−2</a:t>
            </a:r>
            <a:endParaRPr lang="zh-CN" sz="1700"/>
          </a:p>
        </p:txBody>
      </p:sp>
      <p:sp>
        <p:nvSpPr>
          <p:cNvPr id="58" name="TextBox 58"/>
          <p:cNvSpPr txBox="1"/>
          <p:nvPr/>
        </p:nvSpPr>
        <p:spPr>
          <a:xfrm>
            <a:off x="8341686" y="3141124"/>
            <a:ext cx="473959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−0.5</a:t>
            </a:r>
            <a:endParaRPr lang="zh-CN" sz="1600"/>
          </a:p>
        </p:txBody>
      </p:sp>
      <p:sp>
        <p:nvSpPr>
          <p:cNvPr id="59" name="TextBox 59"/>
          <p:cNvSpPr txBox="1"/>
          <p:nvPr/>
        </p:nvSpPr>
        <p:spPr>
          <a:xfrm>
            <a:off x="8195853" y="1719966"/>
            <a:ext cx="255209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500"/>
          </a:p>
        </p:txBody>
      </p:sp>
      <p:sp>
        <p:nvSpPr>
          <p:cNvPr id="60" name="TextBox 60"/>
          <p:cNvSpPr txBox="1"/>
          <p:nvPr/>
        </p:nvSpPr>
        <p:spPr>
          <a:xfrm>
            <a:off x="8195853" y="4059411"/>
            <a:ext cx="255209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500"/>
          </a:p>
        </p:txBody>
      </p:sp>
      <p:sp>
        <p:nvSpPr>
          <p:cNvPr id="61" name="TextBox 61"/>
          <p:cNvSpPr txBox="1"/>
          <p:nvPr/>
        </p:nvSpPr>
        <p:spPr>
          <a:xfrm>
            <a:off x="9172938" y="1982334"/>
            <a:ext cx="1458337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−0.5 + j1.9365</a:t>
            </a:r>
            <a:endParaRPr lang="zh-CN" sz="1700"/>
          </a:p>
        </p:txBody>
      </p:sp>
      <p:sp>
        <p:nvSpPr>
          <p:cNvPr id="62" name="TextBox 62"/>
          <p:cNvSpPr txBox="1"/>
          <p:nvPr/>
        </p:nvSpPr>
        <p:spPr>
          <a:xfrm>
            <a:off x="9172938" y="4117715"/>
            <a:ext cx="1531254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−0.5 − j1.9365</a:t>
            </a:r>
            <a:endParaRPr lang="zh-CN" sz="1700"/>
          </a:p>
        </p:txBody>
      </p:sp>
      <p:sp>
        <p:nvSpPr>
          <p:cNvPr id="63" name="TextBox 63"/>
          <p:cNvSpPr txBox="1"/>
          <p:nvPr/>
        </p:nvSpPr>
        <p:spPr>
          <a:xfrm>
            <a:off x="1421878" y="5407690"/>
            <a:ext cx="670835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实部 </a:t>
            </a:r>
            <a:endParaRPr lang="zh-CN" sz="2000"/>
          </a:p>
        </p:txBody>
      </p:sp>
      <p:sp>
        <p:nvSpPr>
          <p:cNvPr id="64" name="TextBox 64"/>
          <p:cNvSpPr txBox="1"/>
          <p:nvPr/>
        </p:nvSpPr>
        <p:spPr>
          <a:xfrm>
            <a:off x="2158338" y="5407690"/>
            <a:ext cx="76562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−0.5</a:t>
            </a:r>
            <a:endParaRPr lang="zh-CN" sz="2000"/>
          </a:p>
        </p:txBody>
      </p:sp>
      <p:sp>
        <p:nvSpPr>
          <p:cNvPr id="65" name="TextBox 65"/>
          <p:cNvSpPr txBox="1"/>
          <p:nvPr/>
        </p:nvSpPr>
        <p:spPr>
          <a:xfrm>
            <a:off x="2894798" y="5407690"/>
            <a:ext cx="20416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zh-CN" sz="2000"/>
          </a:p>
        </p:txBody>
      </p:sp>
      <p:sp>
        <p:nvSpPr>
          <p:cNvPr id="66" name="TextBox 66"/>
          <p:cNvSpPr txBox="1"/>
          <p:nvPr/>
        </p:nvSpPr>
        <p:spPr>
          <a:xfrm>
            <a:off x="1429170" y="5895985"/>
            <a:ext cx="182292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决定响应包络的</a:t>
            </a:r>
            <a:endParaRPr lang="zh-CN" sz="1800"/>
          </a:p>
        </p:txBody>
      </p:sp>
      <p:sp>
        <p:nvSpPr>
          <p:cNvPr id="67" name="TextBox 67"/>
          <p:cNvSpPr txBox="1"/>
          <p:nvPr/>
        </p:nvSpPr>
        <p:spPr>
          <a:xfrm>
            <a:off x="3266674" y="5895985"/>
            <a:ext cx="1093753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衰减速度</a:t>
            </a:r>
            <a:endParaRPr lang="zh-CN" sz="1800"/>
          </a:p>
        </p:txBody>
      </p:sp>
      <p:sp>
        <p:nvSpPr>
          <p:cNvPr id="68" name="TextBox 68"/>
          <p:cNvSpPr txBox="1"/>
          <p:nvPr/>
        </p:nvSpPr>
        <p:spPr>
          <a:xfrm>
            <a:off x="5767722" y="5407690"/>
            <a:ext cx="670835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虚部 </a:t>
            </a:r>
            <a:endParaRPr lang="zh-CN" sz="2000"/>
          </a:p>
        </p:txBody>
      </p:sp>
      <p:sp>
        <p:nvSpPr>
          <p:cNvPr id="69" name="TextBox 69"/>
          <p:cNvSpPr txBox="1"/>
          <p:nvPr/>
        </p:nvSpPr>
        <p:spPr>
          <a:xfrm>
            <a:off x="6504182" y="5407690"/>
            <a:ext cx="98437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1.9365</a:t>
            </a:r>
            <a:endParaRPr lang="zh-CN" sz="2000"/>
          </a:p>
        </p:txBody>
      </p:sp>
      <p:sp>
        <p:nvSpPr>
          <p:cNvPr id="70" name="TextBox 70"/>
          <p:cNvSpPr txBox="1"/>
          <p:nvPr/>
        </p:nvSpPr>
        <p:spPr>
          <a:xfrm>
            <a:off x="7495851" y="5407690"/>
            <a:ext cx="20416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zh-CN" sz="2000"/>
          </a:p>
        </p:txBody>
      </p:sp>
      <p:sp>
        <p:nvSpPr>
          <p:cNvPr id="71" name="TextBox 71"/>
          <p:cNvSpPr txBox="1"/>
          <p:nvPr/>
        </p:nvSpPr>
        <p:spPr>
          <a:xfrm>
            <a:off x="5775014" y="5895985"/>
            <a:ext cx="52500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决定</a:t>
            </a:r>
            <a:endParaRPr lang="zh-CN" sz="1800"/>
          </a:p>
        </p:txBody>
      </p:sp>
      <p:sp>
        <p:nvSpPr>
          <p:cNvPr id="72" name="TextBox 72"/>
          <p:cNvSpPr txBox="1"/>
          <p:nvPr/>
        </p:nvSpPr>
        <p:spPr>
          <a:xfrm>
            <a:off x="6300015" y="5895985"/>
            <a:ext cx="1604170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振荡角频率</a:t>
            </a:r>
            <a:endParaRPr lang="zh-CN" sz="1800"/>
          </a:p>
        </p:txBody>
      </p:sp>
      <p:sp>
        <p:nvSpPr>
          <p:cNvPr id="73" name="TextBox 73"/>
          <p:cNvSpPr txBox="1"/>
          <p:nvPr/>
        </p:nvSpPr>
        <p:spPr>
          <a:xfrm>
            <a:off x="9493772" y="5407690"/>
            <a:ext cx="226042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复共轭特征根：</a:t>
            </a:r>
            <a:endParaRPr lang="zh-CN" sz="1800"/>
          </a:p>
        </p:txBody>
      </p:sp>
      <p:sp>
        <p:nvSpPr>
          <p:cNvPr id="74" name="TextBox 74"/>
          <p:cNvSpPr txBox="1"/>
          <p:nvPr/>
        </p:nvSpPr>
        <p:spPr>
          <a:xfrm>
            <a:off x="9501064" y="5895985"/>
            <a:ext cx="52500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082574"/>
                </a:solidFill>
                <a:latin typeface="Microsoft YaHei"/>
                <a:ea typeface="Microsoft YaHei"/>
                <a:cs typeface="Microsoft YaHei"/>
              </a:rPr>
              <a:t>对应</a:t>
            </a:r>
            <a:endParaRPr lang="zh-CN" sz="1800"/>
          </a:p>
        </p:txBody>
      </p:sp>
      <p:sp>
        <p:nvSpPr>
          <p:cNvPr id="75" name="TextBox 75"/>
          <p:cNvSpPr txBox="1"/>
          <p:nvPr/>
        </p:nvSpPr>
        <p:spPr>
          <a:xfrm>
            <a:off x="10018773" y="5895985"/>
            <a:ext cx="167708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B40000"/>
                </a:solidFill>
                <a:latin typeface="Microsoft YaHei"/>
                <a:ea typeface="Microsoft YaHei"/>
                <a:cs typeface="Microsoft YaHei"/>
              </a:rPr>
              <a:t>衰减振荡模态</a:t>
            </a:r>
            <a:endParaRPr 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82292" y="721511"/>
            <a:ext cx="11812528" cy="43728"/>
          </a:xfrm>
          <a:prstGeom prst="rect">
            <a:avLst/>
          </a:prstGeom>
          <a:solidFill>
            <a:srgbClr val="0820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196875" y="998455"/>
            <a:ext cx="3594800" cy="4474827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2286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4083343" y="998455"/>
            <a:ext cx="3704175" cy="4474827"/>
          </a:xfrm>
          <a:prstGeom prst="roundRect">
            <a:avLst>
              <a:gd name="adj" fmla="val 3543"/>
            </a:avLst>
          </a:prstGeom>
          <a:solidFill>
            <a:srgbClr val="FFFFFF"/>
          </a:solidFill>
          <a:ln w="2286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8079186" y="998455"/>
            <a:ext cx="3915634" cy="4474827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2286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196875" y="5691921"/>
            <a:ext cx="11797944" cy="867271"/>
          </a:xfrm>
          <a:prstGeom prst="roundRect">
            <a:avLst>
              <a:gd name="adj" fmla="val 9244"/>
            </a:avLst>
          </a:prstGeom>
          <a:solidFill>
            <a:srgbClr val="FBFDFF"/>
          </a:solidFill>
          <a:ln w="2286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196875" y="998455"/>
            <a:ext cx="3594800" cy="663207"/>
          </a:xfrm>
          <a:prstGeom prst="roundRect">
            <a:avLst>
              <a:gd name="adj" fmla="val 19780"/>
            </a:avLst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4083343" y="998455"/>
            <a:ext cx="3704175" cy="663207"/>
          </a:xfrm>
          <a:prstGeom prst="roundRect">
            <a:avLst>
              <a:gd name="adj" fmla="val 19780"/>
            </a:avLst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079186" y="998455"/>
            <a:ext cx="3915634" cy="663207"/>
          </a:xfrm>
          <a:prstGeom prst="roundRect">
            <a:avLst>
              <a:gd name="adj" fmla="val 19780"/>
            </a:avLst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 10"/>
          <p:cNvSpPr/>
          <p:nvPr/>
        </p:nvSpPr>
        <p:spPr>
          <a:xfrm>
            <a:off x="211459" y="1479462"/>
            <a:ext cx="3565633" cy="182200"/>
          </a:xfrm>
          <a:prstGeom prst="rect">
            <a:avLst/>
          </a:prstGeom>
          <a:solidFill>
            <a:srgbClr val="0820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 11"/>
          <p:cNvSpPr/>
          <p:nvPr/>
        </p:nvSpPr>
        <p:spPr>
          <a:xfrm>
            <a:off x="4097926" y="1479462"/>
            <a:ext cx="3675009" cy="182200"/>
          </a:xfrm>
          <a:prstGeom prst="rect">
            <a:avLst/>
          </a:prstGeom>
          <a:solidFill>
            <a:srgbClr val="0820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 12"/>
          <p:cNvSpPr/>
          <p:nvPr/>
        </p:nvSpPr>
        <p:spPr>
          <a:xfrm>
            <a:off x="8093769" y="1479462"/>
            <a:ext cx="3886467" cy="182200"/>
          </a:xfrm>
          <a:prstGeom prst="rect">
            <a:avLst/>
          </a:prstGeom>
          <a:solidFill>
            <a:srgbClr val="08206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95834" y="1880302"/>
            <a:ext cx="2960424" cy="1195231"/>
          </a:xfrm>
          <a:prstGeom prst="roundRect">
            <a:avLst>
              <a:gd name="adj" fmla="val 4878"/>
            </a:avLst>
          </a:prstGeom>
          <a:solidFill>
            <a:srgbClr val="F7FAFF"/>
          </a:solidFill>
          <a:ln w="15240">
            <a:solidFill>
              <a:srgbClr val="6F9BE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401043" y="4256187"/>
            <a:ext cx="3164591" cy="998455"/>
          </a:xfrm>
          <a:prstGeom prst="roundRect">
            <a:avLst>
              <a:gd name="adj" fmla="val 5839"/>
            </a:avLst>
          </a:prstGeom>
          <a:solidFill>
            <a:srgbClr val="F7FAFF"/>
          </a:solidFill>
          <a:ln w="12700">
            <a:solidFill>
              <a:srgbClr val="6F9BE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4229177" y="4401947"/>
            <a:ext cx="3405216" cy="903711"/>
          </a:xfrm>
          <a:prstGeom prst="roundRect">
            <a:avLst>
              <a:gd name="adj" fmla="val 6452"/>
            </a:avLst>
          </a:prstGeom>
          <a:solidFill>
            <a:srgbClr val="F7FAFF"/>
          </a:solidFill>
          <a:ln w="12700">
            <a:solidFill>
              <a:srgbClr val="6F9BE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8203144" y="4299915"/>
            <a:ext cx="3638550" cy="962015"/>
          </a:xfrm>
          <a:prstGeom prst="roundRect">
            <a:avLst>
              <a:gd name="adj" fmla="val 6061"/>
            </a:avLst>
          </a:prstGeom>
          <a:solidFill>
            <a:srgbClr val="F7FAFF"/>
          </a:solidFill>
          <a:ln w="12700">
            <a:solidFill>
              <a:srgbClr val="6F9BE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>
            <a:off x="364584" y="4044835"/>
            <a:ext cx="3230216" cy="0"/>
          </a:xfrm>
          <a:prstGeom prst="line">
            <a:avLst/>
          </a:prstGeom>
          <a:noFill/>
          <a:ln w="13970">
            <a:solidFill>
              <a:srgbClr val="B9B9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>
            <a:off x="4396885" y="3286884"/>
            <a:ext cx="2800007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 flipV="1">
            <a:off x="5702097" y="1843862"/>
            <a:ext cx="0" cy="2346733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>
            <a:off x="3791676" y="3221292"/>
            <a:ext cx="291667" cy="0"/>
          </a:xfrm>
          <a:prstGeom prst="line">
            <a:avLst/>
          </a:prstGeom>
          <a:noFill/>
          <a:ln w="50800">
            <a:solidFill>
              <a:srgbClr val="2E61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>
            <a:off x="7787518" y="3221292"/>
            <a:ext cx="291667" cy="0"/>
          </a:xfrm>
          <a:prstGeom prst="line">
            <a:avLst/>
          </a:prstGeom>
          <a:noFill/>
          <a:ln w="50800">
            <a:solidFill>
              <a:srgbClr val="2E61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H="1" flipV="1">
            <a:off x="4929178" y="2762149"/>
            <a:ext cx="772918" cy="524735"/>
          </a:xfrm>
          <a:prstGeom prst="line">
            <a:avLst/>
          </a:prstGeom>
          <a:noFill/>
          <a:ln w="50800">
            <a:solidFill>
              <a:srgbClr val="0A2D9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5702097" y="3286884"/>
            <a:ext cx="707293" cy="561175"/>
          </a:xfrm>
          <a:prstGeom prst="line">
            <a:avLst/>
          </a:prstGeom>
          <a:noFill/>
          <a:ln w="50800">
            <a:solidFill>
              <a:srgbClr val="D7090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Ellipse 24"/>
          <p:cNvSpPr/>
          <p:nvPr/>
        </p:nvSpPr>
        <p:spPr>
          <a:xfrm>
            <a:off x="320834" y="1107775"/>
            <a:ext cx="466668" cy="466431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207302" y="1107775"/>
            <a:ext cx="466668" cy="466431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8203144" y="1107775"/>
            <a:ext cx="466668" cy="466431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oundrect 27"/>
          <p:cNvSpPr/>
          <p:nvPr/>
        </p:nvSpPr>
        <p:spPr>
          <a:xfrm>
            <a:off x="6496890" y="1821998"/>
            <a:ext cx="1086461" cy="342536"/>
          </a:xfrm>
          <a:prstGeom prst="roundRect">
            <a:avLst>
              <a:gd name="adj" fmla="val 17021"/>
            </a:avLst>
          </a:prstGeom>
          <a:solidFill>
            <a:srgbClr val="F9FBFF"/>
          </a:solidFill>
          <a:ln w="12700">
            <a:solidFill>
              <a:srgbClr val="0A2D9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Ellipse 28"/>
          <p:cNvSpPr/>
          <p:nvPr/>
        </p:nvSpPr>
        <p:spPr>
          <a:xfrm>
            <a:off x="853127" y="5837681"/>
            <a:ext cx="627085" cy="626767"/>
          </a:xfrm>
          <a:prstGeom prst="ellipse">
            <a:avLst/>
          </a:prstGeom>
          <a:noFill/>
          <a:ln w="889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Ellipse 29"/>
          <p:cNvSpPr/>
          <p:nvPr/>
        </p:nvSpPr>
        <p:spPr>
          <a:xfrm>
            <a:off x="1006252" y="5990729"/>
            <a:ext cx="320834" cy="320672"/>
          </a:xfrm>
          <a:prstGeom prst="ellipse">
            <a:avLst/>
          </a:prstGeom>
          <a:noFill/>
          <a:ln w="635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1130211" y="6114625"/>
            <a:ext cx="72917" cy="72880"/>
          </a:xfrm>
          <a:prstGeom prst="ellipse">
            <a:avLst/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Line 31"/>
          <p:cNvSpPr/>
          <p:nvPr/>
        </p:nvSpPr>
        <p:spPr>
          <a:xfrm flipH="1">
            <a:off x="8421895" y="4678891"/>
            <a:ext cx="51042" cy="138472"/>
          </a:xfrm>
          <a:prstGeom prst="line">
            <a:avLst/>
          </a:prstGeom>
          <a:noFill/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Line 32"/>
          <p:cNvSpPr/>
          <p:nvPr/>
        </p:nvSpPr>
        <p:spPr>
          <a:xfrm>
            <a:off x="8589603" y="4678891"/>
            <a:ext cx="58333" cy="138472"/>
          </a:xfrm>
          <a:prstGeom prst="line">
            <a:avLst/>
          </a:prstGeom>
          <a:noFill/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Line 33"/>
          <p:cNvSpPr/>
          <p:nvPr/>
        </p:nvSpPr>
        <p:spPr>
          <a:xfrm>
            <a:off x="8480228" y="4912106"/>
            <a:ext cx="116667" cy="0"/>
          </a:xfrm>
          <a:prstGeom prst="line">
            <a:avLst/>
          </a:prstGeom>
          <a:noFill/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Line 34"/>
          <p:cNvSpPr/>
          <p:nvPr/>
        </p:nvSpPr>
        <p:spPr>
          <a:xfrm flipV="1">
            <a:off x="1166669" y="5837681"/>
            <a:ext cx="306251" cy="313384"/>
          </a:xfrm>
          <a:prstGeom prst="line">
            <a:avLst/>
          </a:prstGeom>
          <a:noFill/>
          <a:ln w="889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Ellipse 35"/>
          <p:cNvSpPr/>
          <p:nvPr/>
        </p:nvSpPr>
        <p:spPr>
          <a:xfrm>
            <a:off x="8443770" y="4518555"/>
            <a:ext cx="175000" cy="174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Ellipse 36"/>
          <p:cNvSpPr/>
          <p:nvPr/>
        </p:nvSpPr>
        <p:spPr>
          <a:xfrm>
            <a:off x="8305228" y="4817362"/>
            <a:ext cx="175000" cy="174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Ellipse 37"/>
          <p:cNvSpPr/>
          <p:nvPr/>
        </p:nvSpPr>
        <p:spPr>
          <a:xfrm>
            <a:off x="8596895" y="4817362"/>
            <a:ext cx="175000" cy="174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Ellipse 38"/>
          <p:cNvSpPr/>
          <p:nvPr/>
        </p:nvSpPr>
        <p:spPr>
          <a:xfrm>
            <a:off x="8334395" y="1967758"/>
            <a:ext cx="123959" cy="123896"/>
          </a:xfrm>
          <a:prstGeom prst="ellipse">
            <a:avLst/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llipse 39"/>
          <p:cNvSpPr/>
          <p:nvPr/>
        </p:nvSpPr>
        <p:spPr>
          <a:xfrm>
            <a:off x="8334395" y="2507069"/>
            <a:ext cx="123959" cy="123896"/>
          </a:xfrm>
          <a:prstGeom prst="ellipse">
            <a:avLst/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Ellipse 40"/>
          <p:cNvSpPr/>
          <p:nvPr/>
        </p:nvSpPr>
        <p:spPr>
          <a:xfrm>
            <a:off x="8334395" y="3425356"/>
            <a:ext cx="123959" cy="123896"/>
          </a:xfrm>
          <a:prstGeom prst="ellipse">
            <a:avLst/>
          </a:prstGeom>
          <a:solidFill>
            <a:srgbClr val="08206F"/>
          </a:solidFill>
          <a:ln w="12700">
            <a:solidFill>
              <a:srgbClr val="0820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204167" y="145760"/>
            <a:ext cx="9333355" cy="4737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特征向量：每个模态下状态变量如何组合</a:t>
            </a:r>
            <a:endParaRPr lang="zh-CN" sz="3100"/>
          </a:p>
        </p:txBody>
      </p:sp>
      <p:sp>
        <p:nvSpPr>
          <p:cNvPr id="42" name="TextBox 42"/>
          <p:cNvSpPr txBox="1"/>
          <p:nvPr/>
        </p:nvSpPr>
        <p:spPr>
          <a:xfrm>
            <a:off x="947919" y="2069790"/>
            <a:ext cx="2187505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(A − λI)v = 0</a:t>
            </a:r>
            <a:endParaRPr lang="zh-CN" sz="3000"/>
          </a:p>
        </p:txBody>
      </p:sp>
      <p:sp>
        <p:nvSpPr>
          <p:cNvPr id="43" name="TextBox 43"/>
          <p:cNvSpPr txBox="1"/>
          <p:nvPr/>
        </p:nvSpPr>
        <p:spPr>
          <a:xfrm>
            <a:off x="1319795" y="2667405"/>
            <a:ext cx="1385420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Av = λv</a:t>
            </a:r>
            <a:endParaRPr lang="zh-CN" sz="3000"/>
          </a:p>
        </p:txBody>
      </p:sp>
      <p:sp>
        <p:nvSpPr>
          <p:cNvPr id="44" name="TextBox 44"/>
          <p:cNvSpPr txBox="1"/>
          <p:nvPr/>
        </p:nvSpPr>
        <p:spPr>
          <a:xfrm>
            <a:off x="503126" y="3367052"/>
            <a:ext cx="3062507" cy="583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非零向量 </a:t>
            </a:r>
            <a:r>
              <a:rPr lang="zh-CN" sz="1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是矩阵 </a:t>
            </a:r>
            <a:r>
              <a:rPr lang="zh-CN" sz="1700" i="1">
                <a:solidFill>
                  <a:srgbClr val="0A2D91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的</a:t>
            </a:r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特征向量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
当且仅当 </a:t>
            </a:r>
            <a:r>
              <a:rPr lang="zh-CN" sz="1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是与之对应的特征值。</a:t>
            </a:r>
            <a:endParaRPr lang="zh-CN" sz="1600"/>
          </a:p>
        </p:txBody>
      </p:sp>
      <p:sp>
        <p:nvSpPr>
          <p:cNvPr id="45" name="TextBox 45"/>
          <p:cNvSpPr txBox="1"/>
          <p:nvPr/>
        </p:nvSpPr>
        <p:spPr>
          <a:xfrm>
            <a:off x="751043" y="4431099"/>
            <a:ext cx="2450006" cy="6267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vλ = [   1</a:t>
            </a:r>
            <a:endParaRPr lang="zh-CN" sz="2700"/>
          </a:p>
          <a:p>
            <a:pPr algn="l"/>
            <a:r>
              <a:rPr lang="zh-CN" sz="2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      -1 - λ ]^T</a:t>
            </a:r>
            <a:endParaRPr lang="zh-CN" sz="2700"/>
          </a:p>
        </p:txBody>
      </p:sp>
      <p:sp>
        <p:nvSpPr>
          <p:cNvPr id="46" name="TextBox 46"/>
          <p:cNvSpPr txBox="1"/>
          <p:nvPr/>
        </p:nvSpPr>
        <p:spPr>
          <a:xfrm>
            <a:off x="5840639" y="1821998"/>
            <a:ext cx="525001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vC</a:t>
            </a:r>
            <a:endParaRPr lang="zh-CN" sz="2200"/>
          </a:p>
        </p:txBody>
      </p:sp>
      <p:sp>
        <p:nvSpPr>
          <p:cNvPr id="47" name="TextBox 47"/>
          <p:cNvSpPr txBox="1"/>
          <p:nvPr/>
        </p:nvSpPr>
        <p:spPr>
          <a:xfrm>
            <a:off x="7320850" y="3170276"/>
            <a:ext cx="422918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iL</a:t>
            </a:r>
            <a:endParaRPr lang="zh-CN" sz="2200"/>
          </a:p>
        </p:txBody>
      </p:sp>
      <p:sp>
        <p:nvSpPr>
          <p:cNvPr id="48" name="TextBox 48"/>
          <p:cNvSpPr txBox="1"/>
          <p:nvPr/>
        </p:nvSpPr>
        <p:spPr>
          <a:xfrm>
            <a:off x="4477094" y="2186397"/>
            <a:ext cx="933336" cy="481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A2D91"/>
                </a:solidFill>
                <a:latin typeface="Microsoft YaHei"/>
                <a:ea typeface="Microsoft YaHei"/>
                <a:cs typeface="Microsoft YaHei"/>
              </a:rPr>
              <a:t>模态 λ1</a:t>
            </a:r>
            <a:endParaRPr lang="zh-CN" sz="1600"/>
          </a:p>
          <a:p>
            <a:pPr algn="l"/>
            <a:r>
              <a:rPr lang="zh-CN" sz="1600" b="1">
                <a:solidFill>
                  <a:srgbClr val="0A2D91"/>
                </a:solidFill>
                <a:latin typeface="Microsoft YaHei"/>
                <a:ea typeface="Microsoft YaHei"/>
                <a:cs typeface="Microsoft YaHei"/>
              </a:rPr>
              <a:t>(方向 vλ1)</a:t>
            </a:r>
            <a:endParaRPr lang="zh-CN" sz="1600"/>
          </a:p>
        </p:txBody>
      </p:sp>
      <p:sp>
        <p:nvSpPr>
          <p:cNvPr id="49" name="TextBox 49"/>
          <p:cNvSpPr txBox="1"/>
          <p:nvPr/>
        </p:nvSpPr>
        <p:spPr>
          <a:xfrm>
            <a:off x="6657307" y="3673148"/>
            <a:ext cx="977086" cy="481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模态 λ2</a:t>
            </a:r>
            <a:endParaRPr lang="zh-CN" sz="1600"/>
          </a:p>
          <a:p>
            <a:pPr algn="l"/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(方向 vλ2)</a:t>
            </a:r>
            <a:endParaRPr lang="zh-CN" sz="1600"/>
          </a:p>
        </p:txBody>
      </p:sp>
      <p:sp>
        <p:nvSpPr>
          <p:cNvPr id="50" name="TextBox 50"/>
          <p:cNvSpPr txBox="1"/>
          <p:nvPr/>
        </p:nvSpPr>
        <p:spPr>
          <a:xfrm>
            <a:off x="6642724" y="1894878"/>
            <a:ext cx="80208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0A2D91"/>
                </a:solidFill>
                <a:latin typeface="Microsoft YaHei"/>
                <a:ea typeface="Microsoft YaHei"/>
                <a:cs typeface="Microsoft YaHei"/>
              </a:rPr>
              <a:t>模态方向</a:t>
            </a:r>
            <a:endParaRPr lang="zh-CN" sz="1800"/>
          </a:p>
        </p:txBody>
      </p:sp>
      <p:sp>
        <p:nvSpPr>
          <p:cNvPr id="51" name="TextBox 51"/>
          <p:cNvSpPr txBox="1"/>
          <p:nvPr/>
        </p:nvSpPr>
        <p:spPr>
          <a:xfrm>
            <a:off x="4404177" y="4613299"/>
            <a:ext cx="3062507" cy="524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特征向量给出每个模态在状态空间</a:t>
            </a:r>
            <a:endParaRPr lang="zh-CN" sz="1500"/>
          </a:p>
          <a:p>
            <a:pPr algn="l"/>
            <a:r>
              <a:rPr lang="zh-CN" sz="15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(iL，vC) 中的方向。</a:t>
            </a:r>
            <a:endParaRPr lang="zh-CN" sz="1500"/>
          </a:p>
        </p:txBody>
      </p:sp>
      <p:sp>
        <p:nvSpPr>
          <p:cNvPr id="52" name="TextBox 52"/>
          <p:cNvSpPr txBox="1"/>
          <p:nvPr/>
        </p:nvSpPr>
        <p:spPr>
          <a:xfrm>
            <a:off x="8604187" y="1931318"/>
            <a:ext cx="2858340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特征值说明 “</a:t>
            </a:r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模态如何变化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lang="zh-CN" sz="1600"/>
          </a:p>
        </p:txBody>
      </p:sp>
      <p:sp>
        <p:nvSpPr>
          <p:cNvPr id="53" name="TextBox 53"/>
          <p:cNvSpPr txBox="1"/>
          <p:nvPr/>
        </p:nvSpPr>
        <p:spPr>
          <a:xfrm>
            <a:off x="8604187" y="2470629"/>
            <a:ext cx="2989590" cy="6194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特征向量说明 “</a:t>
            </a:r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状态变量按什么
比例参与这个模态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lang="zh-CN" sz="1600"/>
          </a:p>
        </p:txBody>
      </p:sp>
      <p:sp>
        <p:nvSpPr>
          <p:cNvPr id="54" name="TextBox 54"/>
          <p:cNvSpPr txBox="1"/>
          <p:nvPr/>
        </p:nvSpPr>
        <p:spPr>
          <a:xfrm>
            <a:off x="8604187" y="3388916"/>
            <a:ext cx="2975007" cy="6559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 </a:t>
            </a:r>
            <a:r>
              <a:rPr lang="zh-CN" sz="1700" i="1">
                <a:solidFill>
                  <a:srgbClr val="0A2D91"/>
                </a:solidFill>
                <a:latin typeface="Cambria Math"/>
                <a:ea typeface="Cambria Math"/>
                <a:cs typeface="Cambria Math"/>
              </a:rPr>
              <a:t>RLC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系统中，可理解为 </a:t>
            </a:r>
            <a:r>
              <a:rPr lang="zh-CN" sz="1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iL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与
</a:t>
            </a:r>
            <a:r>
              <a:rPr lang="zh-CN" sz="1700" i="1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vC</a:t>
            </a:r>
            <a:r>
              <a:rPr lang="zh-CN" sz="1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的</a:t>
            </a:r>
            <a:r>
              <a:rPr lang="zh-CN" sz="16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相对权重和相位关系</a:t>
            </a:r>
            <a:endParaRPr lang="zh-CN" sz="1600"/>
          </a:p>
        </p:txBody>
      </p:sp>
      <p:sp>
        <p:nvSpPr>
          <p:cNvPr id="55" name="TextBox 55"/>
          <p:cNvSpPr txBox="1"/>
          <p:nvPr/>
        </p:nvSpPr>
        <p:spPr>
          <a:xfrm>
            <a:off x="8852104" y="4525843"/>
            <a:ext cx="262500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0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不同的特征向量 </a:t>
            </a:r>
            <a:r>
              <a:rPr lang="zh-CN" sz="10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lang="zh-CN" sz="10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 不同的模态方向</a:t>
            </a:r>
            <a:endParaRPr lang="zh-CN" sz="1000"/>
          </a:p>
        </p:txBody>
      </p:sp>
      <p:sp>
        <p:nvSpPr>
          <p:cNvPr id="56" name="TextBox 56"/>
          <p:cNvSpPr txBox="1"/>
          <p:nvPr/>
        </p:nvSpPr>
        <p:spPr>
          <a:xfrm>
            <a:off x="8852104" y="4882954"/>
            <a:ext cx="262500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0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模态叠加 </a:t>
            </a:r>
            <a:r>
              <a:rPr lang="zh-CN" sz="10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lang="zh-CN" sz="10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 构成系统完整响应</a:t>
            </a:r>
            <a:endParaRPr lang="zh-CN" sz="1000"/>
          </a:p>
        </p:txBody>
      </p:sp>
      <p:sp>
        <p:nvSpPr>
          <p:cNvPr id="57" name="TextBox 57"/>
          <p:cNvSpPr txBox="1"/>
          <p:nvPr/>
        </p:nvSpPr>
        <p:spPr>
          <a:xfrm>
            <a:off x="2369797" y="5983441"/>
            <a:ext cx="8385436" cy="40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特征根决定</a:t>
            </a:r>
            <a:r>
              <a:rPr lang="zh-CN" sz="24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变化速度</a:t>
            </a:r>
            <a:r>
              <a:rPr lang="zh-CN" sz="24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， 特征向量决定</a:t>
            </a:r>
            <a:r>
              <a:rPr lang="zh-CN" sz="2400" b="1">
                <a:solidFill>
                  <a:srgbClr val="D70909"/>
                </a:solidFill>
                <a:latin typeface="Microsoft YaHei"/>
                <a:ea typeface="Microsoft YaHei"/>
                <a:cs typeface="Microsoft YaHei"/>
              </a:rPr>
              <a:t>变化方向</a:t>
            </a:r>
            <a:r>
              <a:rPr lang="zh-CN" sz="2400" b="1">
                <a:solidFill>
                  <a:srgbClr val="08206F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sz="2400"/>
          </a:p>
        </p:txBody>
      </p:sp>
      <p:sp>
        <p:nvSpPr>
          <p:cNvPr id="58" name="TextBox 58"/>
          <p:cNvSpPr txBox="1"/>
          <p:nvPr/>
        </p:nvSpPr>
        <p:spPr>
          <a:xfrm>
            <a:off x="459376" y="1144215"/>
            <a:ext cx="218751" cy="3789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3200"/>
          </a:p>
        </p:txBody>
      </p:sp>
      <p:sp>
        <p:nvSpPr>
          <p:cNvPr id="59" name="TextBox 59"/>
          <p:cNvSpPr txBox="1"/>
          <p:nvPr/>
        </p:nvSpPr>
        <p:spPr>
          <a:xfrm>
            <a:off x="1312503" y="1224383"/>
            <a:ext cx="228229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特征向量定义</a:t>
            </a:r>
            <a:endParaRPr lang="zh-CN" sz="2300"/>
          </a:p>
        </p:txBody>
      </p:sp>
      <p:sp>
        <p:nvSpPr>
          <p:cNvPr id="60" name="TextBox 60"/>
          <p:cNvSpPr txBox="1"/>
          <p:nvPr/>
        </p:nvSpPr>
        <p:spPr>
          <a:xfrm>
            <a:off x="4345844" y="1144215"/>
            <a:ext cx="218751" cy="3789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3200"/>
          </a:p>
        </p:txBody>
      </p:sp>
      <p:sp>
        <p:nvSpPr>
          <p:cNvPr id="61" name="TextBox 61"/>
          <p:cNvSpPr txBox="1"/>
          <p:nvPr/>
        </p:nvSpPr>
        <p:spPr>
          <a:xfrm>
            <a:off x="5198971" y="1224383"/>
            <a:ext cx="2391672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状态空间方向</a:t>
            </a:r>
            <a:endParaRPr lang="zh-CN" sz="2300"/>
          </a:p>
        </p:txBody>
      </p:sp>
      <p:sp>
        <p:nvSpPr>
          <p:cNvPr id="62" name="TextBox 62"/>
          <p:cNvSpPr txBox="1"/>
          <p:nvPr/>
        </p:nvSpPr>
        <p:spPr>
          <a:xfrm>
            <a:off x="8341686" y="1144215"/>
            <a:ext cx="218751" cy="3789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3200"/>
          </a:p>
        </p:txBody>
      </p:sp>
      <p:sp>
        <p:nvSpPr>
          <p:cNvPr id="63" name="TextBox 63"/>
          <p:cNvSpPr txBox="1"/>
          <p:nvPr/>
        </p:nvSpPr>
        <p:spPr>
          <a:xfrm>
            <a:off x="9194813" y="1224383"/>
            <a:ext cx="2603131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  <a:endParaRPr lang="zh-CN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53994" y="736600"/>
            <a:ext cx="11683708" cy="38100"/>
          </a:xfrm>
          <a:prstGeom prst="rect">
            <a:avLst/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349241" y="1117600"/>
            <a:ext cx="3403515" cy="370840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397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4387740" y="1117600"/>
            <a:ext cx="3428914" cy="370840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397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8451639" y="1117600"/>
            <a:ext cx="3397165" cy="3708400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1397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507987" y="5181600"/>
            <a:ext cx="11175721" cy="1111250"/>
          </a:xfrm>
          <a:prstGeom prst="roundRect">
            <a:avLst>
              <a:gd name="adj" fmla="val 7429"/>
            </a:avLst>
          </a:prstGeom>
          <a:solidFill>
            <a:srgbClr val="EEF6FF"/>
          </a:solidFill>
          <a:ln w="1270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3905152" y="2660650"/>
            <a:ext cx="419090" cy="387350"/>
          </a:xfrm>
          <a:prstGeom prst="leftArrow">
            <a:avLst/>
          </a:prstGeom>
          <a:solidFill>
            <a:srgbClr val="145CC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7969051" y="2660650"/>
            <a:ext cx="419090" cy="387350"/>
          </a:xfrm>
          <a:prstGeom prst="leftArrow">
            <a:avLst/>
          </a:prstGeom>
          <a:solidFill>
            <a:srgbClr val="145CC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lipse 9"/>
          <p:cNvSpPr/>
          <p:nvPr/>
        </p:nvSpPr>
        <p:spPr>
          <a:xfrm>
            <a:off x="539737" y="1270000"/>
            <a:ext cx="355591" cy="355600"/>
          </a:xfrm>
          <a:prstGeom prst="ellipse">
            <a:avLst/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lipse 10"/>
          <p:cNvSpPr/>
          <p:nvPr/>
        </p:nvSpPr>
        <p:spPr>
          <a:xfrm>
            <a:off x="4565536" y="1270000"/>
            <a:ext cx="355591" cy="355600"/>
          </a:xfrm>
          <a:prstGeom prst="ellipse">
            <a:avLst/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lipse 11"/>
          <p:cNvSpPr/>
          <p:nvPr/>
        </p:nvSpPr>
        <p:spPr>
          <a:xfrm>
            <a:off x="8623084" y="1270000"/>
            <a:ext cx="355591" cy="355600"/>
          </a:xfrm>
          <a:prstGeom prst="ellipse">
            <a:avLst/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971526" y="1314450"/>
            <a:ext cx="1860503" cy="273050"/>
          </a:xfrm>
          <a:prstGeom prst="roundRect">
            <a:avLst>
              <a:gd name="adj" fmla="val 18605"/>
            </a:avLst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997325" y="1314450"/>
            <a:ext cx="1860503" cy="273050"/>
          </a:xfrm>
          <a:prstGeom prst="roundRect">
            <a:avLst>
              <a:gd name="adj" fmla="val 18605"/>
            </a:avLst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9067573" y="1314450"/>
            <a:ext cx="1860503" cy="273050"/>
          </a:xfrm>
          <a:prstGeom prst="roundRect">
            <a:avLst>
              <a:gd name="adj" fmla="val 18605"/>
            </a:avLst>
          </a:prstGeom>
          <a:solidFill>
            <a:srgbClr val="0B3475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Pole-zero map plot showing poles at -0.5 plus/minus j1.9365"/>
          <p:cNvPicPr/>
          <p:nvPr/>
        </p:nvPicPr>
        <p:blipFill>
          <a:blip r:embed="rId3"/>
          <a:stretch>
            <a:fillRect/>
          </a:stretch>
        </p:blipFill>
        <p:spPr>
          <a:xfrm>
            <a:off x="9600960" y="1809750"/>
            <a:ext cx="1428714" cy="2603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92093" y="273050"/>
            <a:ext cx="679433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300" b="1">
                <a:solidFill>
                  <a:srgbClr val="0B3475"/>
                </a:solidFill>
                <a:latin typeface="Microsoft YaHei"/>
                <a:ea typeface="Microsoft YaHei"/>
                <a:cs typeface="Microsoft YaHei"/>
              </a:rPr>
              <a:t>特征值与零极点：从状态空间到传递函数</a:t>
            </a:r>
            <a:endParaRPr lang="zh-CN" sz="3300"/>
          </a:p>
        </p:txBody>
      </p:sp>
      <p:sp>
        <p:nvSpPr>
          <p:cNvPr id="17" name="TextBox 17"/>
          <p:cNvSpPr txBox="1"/>
          <p:nvPr/>
        </p:nvSpPr>
        <p:spPr>
          <a:xfrm>
            <a:off x="9569211" y="368300"/>
            <a:ext cx="1047724" cy="222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B3475"/>
                </a:solidFill>
                <a:latin typeface="Microsoft YaHei"/>
                <a:ea typeface="Microsoft YaHei"/>
                <a:cs typeface="Microsoft YaHei"/>
              </a:rPr>
              <a:t>零极点分析</a:t>
            </a:r>
            <a:endParaRPr lang="zh-CN" sz="2000"/>
          </a:p>
        </p:txBody>
      </p:sp>
      <p:sp>
        <p:nvSpPr>
          <p:cNvPr id="18" name="TextBox 18"/>
          <p:cNvSpPr txBox="1"/>
          <p:nvPr/>
        </p:nvSpPr>
        <p:spPr>
          <a:xfrm>
            <a:off x="673083" y="2159000"/>
            <a:ext cx="24129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H(s)=C(sI-A)^-1B+D</a:t>
            </a:r>
            <a:endParaRPr lang="zh-CN" sz="2400"/>
          </a:p>
        </p:txBody>
      </p:sp>
      <p:sp>
        <p:nvSpPr>
          <p:cNvPr id="19" name="TextBox 19"/>
          <p:cNvSpPr txBox="1"/>
          <p:nvPr/>
        </p:nvSpPr>
        <p:spPr>
          <a:xfrm>
            <a:off x="673083" y="2768600"/>
            <a:ext cx="1777956" cy="920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由状态矩阵 A</a:t>
            </a:r>
            <a:endParaRPr lang="zh-CN" sz="1700"/>
          </a:p>
          <a:p>
            <a:pPr algn="l"/>
            <a:r>
              <a:rPr lang="zh-CN" sz="17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输入矩阵 B</a:t>
            </a:r>
            <a:endParaRPr lang="zh-CN" sz="1700"/>
          </a:p>
          <a:p>
            <a:pPr algn="l"/>
            <a:r>
              <a:rPr lang="zh-CN" sz="17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输出矩阵 C</a:t>
            </a:r>
            <a:endParaRPr lang="zh-CN" sz="1700"/>
          </a:p>
          <a:p>
            <a:pPr algn="l"/>
            <a:r>
              <a:rPr lang="zh-CN" sz="17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直接得到传递函数</a:t>
            </a:r>
            <a:endParaRPr lang="zh-CN" sz="1700"/>
          </a:p>
        </p:txBody>
      </p:sp>
      <p:sp>
        <p:nvSpPr>
          <p:cNvPr id="20" name="TextBox 20"/>
          <p:cNvSpPr txBox="1"/>
          <p:nvPr/>
        </p:nvSpPr>
        <p:spPr>
          <a:xfrm>
            <a:off x="4762381" y="2209800"/>
            <a:ext cx="2603435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H(s)= 4 / (s²+s+4)</a:t>
            </a:r>
            <a:endParaRPr lang="zh-CN" sz="2500"/>
          </a:p>
        </p:txBody>
      </p:sp>
      <p:sp>
        <p:nvSpPr>
          <p:cNvPr id="21" name="TextBox 21"/>
          <p:cNvSpPr txBox="1"/>
          <p:nvPr/>
        </p:nvSpPr>
        <p:spPr>
          <a:xfrm>
            <a:off x="4762381" y="2863850"/>
            <a:ext cx="1904952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分母决定系统极点</a:t>
            </a:r>
            <a:endParaRPr lang="zh-CN" sz="1700" dirty="0"/>
          </a:p>
          <a:p>
            <a:pPr algn="l"/>
            <a:r>
              <a:rPr lang="zh-CN" sz="17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 A 的特征值一致</a:t>
            </a:r>
            <a:endParaRPr lang="zh-CN" sz="1700" dirty="0"/>
          </a:p>
        </p:txBody>
      </p:sp>
      <p:sp>
        <p:nvSpPr>
          <p:cNvPr id="22" name="TextBox 22"/>
          <p:cNvSpPr txBox="1"/>
          <p:nvPr/>
        </p:nvSpPr>
        <p:spPr>
          <a:xfrm>
            <a:off x="755631" y="5410200"/>
            <a:ext cx="838179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B3475"/>
                </a:solidFill>
                <a:latin typeface="Microsoft YaHei"/>
                <a:ea typeface="Microsoft YaHei"/>
                <a:cs typeface="Microsoft YaHei"/>
              </a:rPr>
              <a:t>解释重点</a:t>
            </a:r>
            <a:endParaRPr lang="zh-CN" sz="2000"/>
          </a:p>
        </p:txBody>
      </p:sp>
      <p:sp>
        <p:nvSpPr>
          <p:cNvPr id="23" name="TextBox 23"/>
          <p:cNvSpPr txBox="1"/>
          <p:nvPr/>
        </p:nvSpPr>
        <p:spPr>
          <a:xfrm>
            <a:off x="2089098" y="5359400"/>
            <a:ext cx="5111622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传递函数分母决定极点；状态矩阵 A 的特征值对应系统极点。</a:t>
            </a:r>
            <a:endParaRPr lang="zh-CN" sz="1800"/>
          </a:p>
        </p:txBody>
      </p:sp>
      <p:sp>
        <p:nvSpPr>
          <p:cNvPr id="24" name="TextBox 24"/>
          <p:cNvSpPr txBox="1"/>
          <p:nvPr/>
        </p:nvSpPr>
        <p:spPr>
          <a:xfrm>
            <a:off x="2089098" y="5657850"/>
            <a:ext cx="3682908" cy="222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 的特征值 → 传递函数极点 → 系统动态</a:t>
            </a:r>
            <a:endParaRPr lang="zh-CN" sz="1800"/>
          </a:p>
        </p:txBody>
      </p:sp>
      <p:sp>
        <p:nvSpPr>
          <p:cNvPr id="25" name="TextBox 25"/>
          <p:cNvSpPr txBox="1"/>
          <p:nvPr/>
        </p:nvSpPr>
        <p:spPr>
          <a:xfrm>
            <a:off x="8127797" y="5937250"/>
            <a:ext cx="2095448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 dirty="0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rPr>
              <a:t>s = -0.5 ± j1.9365</a:t>
            </a:r>
            <a:endParaRPr lang="zh-CN" sz="2500" dirty="0"/>
          </a:p>
        </p:txBody>
      </p:sp>
      <p:sp>
        <p:nvSpPr>
          <p:cNvPr id="26" name="TextBox 26"/>
          <p:cNvSpPr txBox="1"/>
          <p:nvPr/>
        </p:nvSpPr>
        <p:spPr>
          <a:xfrm>
            <a:off x="654034" y="1339850"/>
            <a:ext cx="139697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400"/>
          </a:p>
        </p:txBody>
      </p:sp>
      <p:sp>
        <p:nvSpPr>
          <p:cNvPr id="27" name="TextBox 27"/>
          <p:cNvSpPr txBox="1"/>
          <p:nvPr/>
        </p:nvSpPr>
        <p:spPr>
          <a:xfrm>
            <a:off x="1117572" y="1377950"/>
            <a:ext cx="698483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状态空间</a:t>
            </a:r>
            <a:endParaRPr lang="zh-CN" sz="1700"/>
          </a:p>
        </p:txBody>
      </p:sp>
      <p:sp>
        <p:nvSpPr>
          <p:cNvPr id="28" name="TextBox 28"/>
          <p:cNvSpPr txBox="1"/>
          <p:nvPr/>
        </p:nvSpPr>
        <p:spPr>
          <a:xfrm>
            <a:off x="4679833" y="1339850"/>
            <a:ext cx="139697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400"/>
          </a:p>
        </p:txBody>
      </p:sp>
      <p:sp>
        <p:nvSpPr>
          <p:cNvPr id="29" name="TextBox 29"/>
          <p:cNvSpPr txBox="1"/>
          <p:nvPr/>
        </p:nvSpPr>
        <p:spPr>
          <a:xfrm>
            <a:off x="5143371" y="1377950"/>
            <a:ext cx="711182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传递函数</a:t>
            </a:r>
            <a:endParaRPr lang="zh-CN" sz="1700"/>
          </a:p>
        </p:txBody>
      </p:sp>
      <p:sp>
        <p:nvSpPr>
          <p:cNvPr id="30" name="TextBox 30"/>
          <p:cNvSpPr txBox="1"/>
          <p:nvPr/>
        </p:nvSpPr>
        <p:spPr>
          <a:xfrm>
            <a:off x="8737382" y="1339850"/>
            <a:ext cx="139697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400"/>
          </a:p>
        </p:txBody>
      </p:sp>
      <p:sp>
        <p:nvSpPr>
          <p:cNvPr id="31" name="TextBox 31"/>
          <p:cNvSpPr txBox="1"/>
          <p:nvPr/>
        </p:nvSpPr>
        <p:spPr>
          <a:xfrm>
            <a:off x="9213620" y="1377950"/>
            <a:ext cx="711182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零极点图</a:t>
            </a:r>
            <a:endParaRPr lang="zh-CN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04167" y="699647"/>
            <a:ext cx="11754194" cy="0"/>
          </a:xfrm>
          <a:prstGeom prst="line">
            <a:avLst/>
          </a:prstGeom>
          <a:noFill/>
          <a:ln w="762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9318772" y="189488"/>
            <a:ext cx="1822921" cy="327960"/>
          </a:xfrm>
          <a:prstGeom prst="roundRect">
            <a:avLst>
              <a:gd name="adj" fmla="val 15556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11200026" y="189488"/>
            <a:ext cx="743752" cy="327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778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211459" y="903711"/>
            <a:ext cx="5038553" cy="4810074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211459" y="903711"/>
            <a:ext cx="5038553" cy="481007"/>
          </a:xfrm>
          <a:prstGeom prst="roundRect">
            <a:avLst>
              <a:gd name="adj" fmla="val 24242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 7"/>
          <p:cNvSpPr/>
          <p:nvPr/>
        </p:nvSpPr>
        <p:spPr>
          <a:xfrm>
            <a:off x="211459" y="1297262"/>
            <a:ext cx="5038553" cy="102032"/>
          </a:xfrm>
          <a:prstGeom prst="rect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1567712" y="976591"/>
            <a:ext cx="350001" cy="349824"/>
          </a:xfrm>
          <a:prstGeom prst="ellips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328126" y="1464886"/>
            <a:ext cx="4797928" cy="4117715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5240">
            <a:solidFill>
              <a:srgbClr val="6A8D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5461471" y="903711"/>
            <a:ext cx="6526057" cy="4810074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5461471" y="903711"/>
            <a:ext cx="6526057" cy="481007"/>
          </a:xfrm>
          <a:prstGeom prst="roundRect">
            <a:avLst>
              <a:gd name="adj" fmla="val 24242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 12"/>
          <p:cNvSpPr/>
          <p:nvPr/>
        </p:nvSpPr>
        <p:spPr>
          <a:xfrm>
            <a:off x="5461471" y="1297262"/>
            <a:ext cx="6526057" cy="102032"/>
          </a:xfrm>
          <a:prstGeom prst="rect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Ellipse 13"/>
          <p:cNvSpPr/>
          <p:nvPr/>
        </p:nvSpPr>
        <p:spPr>
          <a:xfrm>
            <a:off x="7320850" y="969303"/>
            <a:ext cx="364584" cy="36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Ellipse 14"/>
          <p:cNvSpPr/>
          <p:nvPr/>
        </p:nvSpPr>
        <p:spPr>
          <a:xfrm>
            <a:off x="7430226" y="1078623"/>
            <a:ext cx="145834" cy="145760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>
            <a:off x="7503143" y="932863"/>
            <a:ext cx="0" cy="80168"/>
          </a:xfrm>
          <a:prstGeom prst="line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>
            <a:off x="7503143" y="1289974"/>
            <a:ext cx="0" cy="80168"/>
          </a:xfrm>
          <a:prstGeom prst="line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>
            <a:off x="7291684" y="1151503"/>
            <a:ext cx="87500" cy="0"/>
          </a:xfrm>
          <a:prstGeom prst="line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>
            <a:off x="7627101" y="1151503"/>
            <a:ext cx="87500" cy="0"/>
          </a:xfrm>
          <a:prstGeom prst="line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5592721" y="1559630"/>
            <a:ext cx="1217711" cy="932863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3970">
            <a:solidFill>
              <a:srgbClr val="2F64C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>
            <a:off x="6201577" y="2492493"/>
            <a:ext cx="0" cy="247792"/>
          </a:xfrm>
          <a:prstGeom prst="line">
            <a:avLst/>
          </a:prstGeom>
          <a:noFill/>
          <a:ln w="13970">
            <a:solidFill>
              <a:srgbClr val="7E96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Ellipse 21"/>
          <p:cNvSpPr/>
          <p:nvPr/>
        </p:nvSpPr>
        <p:spPr>
          <a:xfrm>
            <a:off x="6070327" y="2732997"/>
            <a:ext cx="262501" cy="262368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7255225" y="1559630"/>
            <a:ext cx="1181253" cy="932863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3970">
            <a:solidFill>
              <a:srgbClr val="2F64C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7845852" y="2492493"/>
            <a:ext cx="0" cy="247792"/>
          </a:xfrm>
          <a:prstGeom prst="line">
            <a:avLst/>
          </a:prstGeom>
          <a:noFill/>
          <a:ln w="13970">
            <a:solidFill>
              <a:srgbClr val="7E96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Ellipse 24"/>
          <p:cNvSpPr/>
          <p:nvPr/>
        </p:nvSpPr>
        <p:spPr>
          <a:xfrm>
            <a:off x="7714601" y="2732997"/>
            <a:ext cx="262501" cy="262368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oundrect 25"/>
          <p:cNvSpPr/>
          <p:nvPr/>
        </p:nvSpPr>
        <p:spPr>
          <a:xfrm>
            <a:off x="8830229" y="1559630"/>
            <a:ext cx="1035419" cy="932863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3970">
            <a:solidFill>
              <a:srgbClr val="2F64C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9347939" y="2492493"/>
            <a:ext cx="0" cy="247792"/>
          </a:xfrm>
          <a:prstGeom prst="line">
            <a:avLst/>
          </a:prstGeom>
          <a:noFill/>
          <a:ln w="13970">
            <a:solidFill>
              <a:srgbClr val="7E96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9216688" y="2732997"/>
            <a:ext cx="262501" cy="262368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Roundrect 28"/>
          <p:cNvSpPr/>
          <p:nvPr/>
        </p:nvSpPr>
        <p:spPr>
          <a:xfrm>
            <a:off x="10521900" y="1559630"/>
            <a:ext cx="1319795" cy="932863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3970">
            <a:solidFill>
              <a:srgbClr val="2F64C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ine 29"/>
          <p:cNvSpPr/>
          <p:nvPr/>
        </p:nvSpPr>
        <p:spPr>
          <a:xfrm>
            <a:off x="11181797" y="2492493"/>
            <a:ext cx="0" cy="247792"/>
          </a:xfrm>
          <a:prstGeom prst="line">
            <a:avLst/>
          </a:prstGeom>
          <a:noFill/>
          <a:ln w="13970">
            <a:solidFill>
              <a:srgbClr val="7E96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11050547" y="2732997"/>
            <a:ext cx="262501" cy="262368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oundrect 31"/>
          <p:cNvSpPr/>
          <p:nvPr/>
        </p:nvSpPr>
        <p:spPr>
          <a:xfrm>
            <a:off x="6008347" y="1967758"/>
            <a:ext cx="131250" cy="131184"/>
          </a:xfrm>
          <a:prstGeom prst="roundRect">
            <a:avLst>
              <a:gd name="adj" fmla="val 16667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6008347" y="2193685"/>
            <a:ext cx="131250" cy="131184"/>
          </a:xfrm>
          <a:prstGeom prst="roundRect">
            <a:avLst>
              <a:gd name="adj" fmla="val 16667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6278140" y="1967758"/>
            <a:ext cx="131250" cy="131184"/>
          </a:xfrm>
          <a:prstGeom prst="roundRect">
            <a:avLst>
              <a:gd name="adj" fmla="val 16667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6278140" y="2193685"/>
            <a:ext cx="131250" cy="131184"/>
          </a:xfrm>
          <a:prstGeom prst="roundRect">
            <a:avLst>
              <a:gd name="adj" fmla="val 16667"/>
            </a:avLst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5957306" y="1909454"/>
            <a:ext cx="473959" cy="473719"/>
          </a:xfrm>
          <a:prstGeom prst="roundRect">
            <a:avLst>
              <a:gd name="adj" fmla="val 9231"/>
            </a:avLst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>
            <a:off x="9092730" y="2215549"/>
            <a:ext cx="765627" cy="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>
            <a:off x="9136480" y="1916742"/>
            <a:ext cx="0" cy="415416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>
            <a:off x="9129188" y="2332157"/>
            <a:ext cx="765627" cy="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 flipV="1">
            <a:off x="9151063" y="1960470"/>
            <a:ext cx="72917" cy="32067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>
            <a:off x="9223980" y="1960470"/>
            <a:ext cx="80209" cy="298808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 flipV="1">
            <a:off x="9304188" y="2084366"/>
            <a:ext cx="80209" cy="17491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>
            <a:off x="9384397" y="2084366"/>
            <a:ext cx="131250" cy="167624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 flipV="1">
            <a:off x="9515647" y="2149957"/>
            <a:ext cx="102084" cy="10203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>
            <a:off x="9617731" y="2149957"/>
            <a:ext cx="145834" cy="123896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>
            <a:off x="10820859" y="2142670"/>
            <a:ext cx="707293" cy="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>
            <a:off x="11163568" y="1924030"/>
            <a:ext cx="0" cy="437279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ect 47"/>
          <p:cNvSpPr/>
          <p:nvPr/>
        </p:nvSpPr>
        <p:spPr>
          <a:xfrm>
            <a:off x="6897933" y="1916742"/>
            <a:ext cx="218751" cy="204064"/>
          </a:xfrm>
          <a:prstGeom prst="rect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ct 48"/>
          <p:cNvSpPr/>
          <p:nvPr/>
        </p:nvSpPr>
        <p:spPr>
          <a:xfrm>
            <a:off x="8494812" y="1916742"/>
            <a:ext cx="218751" cy="204064"/>
          </a:xfrm>
          <a:prstGeom prst="rect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 49"/>
          <p:cNvSpPr/>
          <p:nvPr/>
        </p:nvSpPr>
        <p:spPr>
          <a:xfrm>
            <a:off x="10150024" y="1916742"/>
            <a:ext cx="218751" cy="204064"/>
          </a:xfrm>
          <a:prstGeom prst="rect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Roundrect 50"/>
          <p:cNvSpPr/>
          <p:nvPr/>
        </p:nvSpPr>
        <p:spPr>
          <a:xfrm>
            <a:off x="5600013" y="3126548"/>
            <a:ext cx="6241681" cy="2419613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3970">
            <a:solidFill>
              <a:srgbClr val="7393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Line 51"/>
          <p:cNvSpPr/>
          <p:nvPr/>
        </p:nvSpPr>
        <p:spPr>
          <a:xfrm>
            <a:off x="5651055" y="3556540"/>
            <a:ext cx="6117723" cy="0"/>
          </a:xfrm>
          <a:prstGeom prst="line">
            <a:avLst/>
          </a:prstGeom>
          <a:noFill/>
          <a:ln w="13970">
            <a:solidFill>
              <a:srgbClr val="A5AAB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>
            <a:off x="5651055" y="4008395"/>
            <a:ext cx="6117723" cy="0"/>
          </a:xfrm>
          <a:prstGeom prst="line">
            <a:avLst/>
          </a:prstGeom>
          <a:noFill/>
          <a:ln w="13970">
            <a:solidFill>
              <a:srgbClr val="A5AAB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>
            <a:off x="5651055" y="4467539"/>
            <a:ext cx="6117723" cy="0"/>
          </a:xfrm>
          <a:prstGeom prst="line">
            <a:avLst/>
          </a:prstGeom>
          <a:noFill/>
          <a:ln w="13970">
            <a:solidFill>
              <a:srgbClr val="A5AAB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4" name="Line 54"/>
          <p:cNvSpPr/>
          <p:nvPr/>
        </p:nvSpPr>
        <p:spPr>
          <a:xfrm>
            <a:off x="5651055" y="4926682"/>
            <a:ext cx="6117723" cy="0"/>
          </a:xfrm>
          <a:prstGeom prst="line">
            <a:avLst/>
          </a:prstGeom>
          <a:noFill/>
          <a:ln w="13970">
            <a:solidFill>
              <a:srgbClr val="A5AAB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5" name="Ellipse 55"/>
          <p:cNvSpPr/>
          <p:nvPr/>
        </p:nvSpPr>
        <p:spPr>
          <a:xfrm>
            <a:off x="5986472" y="3352476"/>
            <a:ext cx="269792" cy="269656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Line 56"/>
          <p:cNvSpPr/>
          <p:nvPr/>
        </p:nvSpPr>
        <p:spPr>
          <a:xfrm flipV="1">
            <a:off x="6781266" y="3265020"/>
            <a:ext cx="123959" cy="6559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Line 57"/>
          <p:cNvSpPr/>
          <p:nvPr/>
        </p:nvSpPr>
        <p:spPr>
          <a:xfrm>
            <a:off x="6905224" y="3265020"/>
            <a:ext cx="131250" cy="6559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Line 58"/>
          <p:cNvSpPr/>
          <p:nvPr/>
        </p:nvSpPr>
        <p:spPr>
          <a:xfrm>
            <a:off x="6781266" y="3330612"/>
            <a:ext cx="123959" cy="80168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Line 59"/>
          <p:cNvSpPr/>
          <p:nvPr/>
        </p:nvSpPr>
        <p:spPr>
          <a:xfrm flipH="1">
            <a:off x="6905224" y="3330612"/>
            <a:ext cx="131250" cy="80168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ine 60"/>
          <p:cNvSpPr/>
          <p:nvPr/>
        </p:nvSpPr>
        <p:spPr>
          <a:xfrm>
            <a:off x="6781266" y="3330612"/>
            <a:ext cx="0" cy="153048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Line 61"/>
          <p:cNvSpPr/>
          <p:nvPr/>
        </p:nvSpPr>
        <p:spPr>
          <a:xfrm>
            <a:off x="7036475" y="3330612"/>
            <a:ext cx="0" cy="153048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Line 62"/>
          <p:cNvSpPr/>
          <p:nvPr/>
        </p:nvSpPr>
        <p:spPr>
          <a:xfrm>
            <a:off x="6781266" y="3483660"/>
            <a:ext cx="123959" cy="7288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Line 63"/>
          <p:cNvSpPr/>
          <p:nvPr/>
        </p:nvSpPr>
        <p:spPr>
          <a:xfrm flipH="1">
            <a:off x="6905224" y="3483660"/>
            <a:ext cx="131250" cy="7288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Ellipse 64"/>
          <p:cNvSpPr/>
          <p:nvPr/>
        </p:nvSpPr>
        <p:spPr>
          <a:xfrm>
            <a:off x="5986472" y="3804332"/>
            <a:ext cx="269792" cy="269656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Ellipse 65"/>
          <p:cNvSpPr/>
          <p:nvPr/>
        </p:nvSpPr>
        <p:spPr>
          <a:xfrm>
            <a:off x="5986472" y="4263475"/>
            <a:ext cx="269792" cy="269656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Line 66"/>
          <p:cNvSpPr/>
          <p:nvPr/>
        </p:nvSpPr>
        <p:spPr>
          <a:xfrm>
            <a:off x="6766683" y="4489403"/>
            <a:ext cx="364584" cy="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Line 67"/>
          <p:cNvSpPr/>
          <p:nvPr/>
        </p:nvSpPr>
        <p:spPr>
          <a:xfrm>
            <a:off x="6795849" y="4212459"/>
            <a:ext cx="0" cy="28423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Line 68"/>
          <p:cNvSpPr/>
          <p:nvPr/>
        </p:nvSpPr>
        <p:spPr>
          <a:xfrm flipV="1">
            <a:off x="6795849" y="4219747"/>
            <a:ext cx="65625" cy="269656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Line 69"/>
          <p:cNvSpPr/>
          <p:nvPr/>
        </p:nvSpPr>
        <p:spPr>
          <a:xfrm>
            <a:off x="6861474" y="4219747"/>
            <a:ext cx="51042" cy="21135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Line 70"/>
          <p:cNvSpPr/>
          <p:nvPr/>
        </p:nvSpPr>
        <p:spPr>
          <a:xfrm flipV="1">
            <a:off x="6912516" y="4343643"/>
            <a:ext cx="80209" cy="87456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Line 71"/>
          <p:cNvSpPr/>
          <p:nvPr/>
        </p:nvSpPr>
        <p:spPr>
          <a:xfrm>
            <a:off x="6992725" y="4343643"/>
            <a:ext cx="123959" cy="10932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Ellipse 72"/>
          <p:cNvSpPr/>
          <p:nvPr/>
        </p:nvSpPr>
        <p:spPr>
          <a:xfrm>
            <a:off x="5986472" y="4722618"/>
            <a:ext cx="269792" cy="269656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Ellipse 73"/>
          <p:cNvSpPr/>
          <p:nvPr/>
        </p:nvSpPr>
        <p:spPr>
          <a:xfrm>
            <a:off x="5986472" y="5181762"/>
            <a:ext cx="269792" cy="269656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Line 74"/>
          <p:cNvSpPr/>
          <p:nvPr/>
        </p:nvSpPr>
        <p:spPr>
          <a:xfrm>
            <a:off x="6744807" y="5414978"/>
            <a:ext cx="415626" cy="0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Line 75"/>
          <p:cNvSpPr/>
          <p:nvPr/>
        </p:nvSpPr>
        <p:spPr>
          <a:xfrm>
            <a:off x="6781266" y="5138034"/>
            <a:ext cx="0" cy="284232"/>
          </a:xfrm>
          <a:prstGeom prst="line">
            <a:avLst/>
          </a:prstGeom>
          <a:noFill/>
          <a:ln w="254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Rect 76"/>
          <p:cNvSpPr/>
          <p:nvPr/>
        </p:nvSpPr>
        <p:spPr>
          <a:xfrm>
            <a:off x="6825016" y="5283794"/>
            <a:ext cx="58333" cy="131184"/>
          </a:xfrm>
          <a:prstGeom prst="rect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Rect 77"/>
          <p:cNvSpPr/>
          <p:nvPr/>
        </p:nvSpPr>
        <p:spPr>
          <a:xfrm>
            <a:off x="6934391" y="5225490"/>
            <a:ext cx="58333" cy="189488"/>
          </a:xfrm>
          <a:prstGeom prst="rect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Rect 78"/>
          <p:cNvSpPr/>
          <p:nvPr/>
        </p:nvSpPr>
        <p:spPr>
          <a:xfrm>
            <a:off x="7043766" y="5152610"/>
            <a:ext cx="58333" cy="262368"/>
          </a:xfrm>
          <a:prstGeom prst="rect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Roundrect 79"/>
          <p:cNvSpPr/>
          <p:nvPr/>
        </p:nvSpPr>
        <p:spPr>
          <a:xfrm>
            <a:off x="211459" y="5917849"/>
            <a:ext cx="11776069" cy="714223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905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Ellipse 80"/>
          <p:cNvSpPr/>
          <p:nvPr/>
        </p:nvSpPr>
        <p:spPr>
          <a:xfrm>
            <a:off x="1071878" y="5998017"/>
            <a:ext cx="605210" cy="604903"/>
          </a:xfrm>
          <a:prstGeom prst="ellipse">
            <a:avLst/>
          </a:prstGeom>
          <a:noFill/>
          <a:ln w="889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Ellipse 81"/>
          <p:cNvSpPr/>
          <p:nvPr/>
        </p:nvSpPr>
        <p:spPr>
          <a:xfrm>
            <a:off x="1239586" y="6165641"/>
            <a:ext cx="277084" cy="276944"/>
          </a:xfrm>
          <a:prstGeom prst="ellipse">
            <a:avLst/>
          </a:prstGeom>
          <a:noFill/>
          <a:ln w="889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Ellipse 82"/>
          <p:cNvSpPr/>
          <p:nvPr/>
        </p:nvSpPr>
        <p:spPr>
          <a:xfrm>
            <a:off x="1341670" y="6267673"/>
            <a:ext cx="72917" cy="72880"/>
          </a:xfrm>
          <a:prstGeom prst="ellipse">
            <a:avLst/>
          </a:prstGeom>
          <a:solidFill>
            <a:srgbClr val="09287A"/>
          </a:solidFill>
          <a:ln w="127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Line 83"/>
          <p:cNvSpPr/>
          <p:nvPr/>
        </p:nvSpPr>
        <p:spPr>
          <a:xfrm flipV="1">
            <a:off x="1378128" y="5961577"/>
            <a:ext cx="342709" cy="342536"/>
          </a:xfrm>
          <a:prstGeom prst="line">
            <a:avLst/>
          </a:prstGeom>
          <a:noFill/>
          <a:ln w="889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Line 84"/>
          <p:cNvSpPr/>
          <p:nvPr/>
        </p:nvSpPr>
        <p:spPr>
          <a:xfrm>
            <a:off x="1553129" y="5976153"/>
            <a:ext cx="189584" cy="0"/>
          </a:xfrm>
          <a:prstGeom prst="line">
            <a:avLst/>
          </a:prstGeom>
          <a:noFill/>
          <a:ln w="889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Line 85"/>
          <p:cNvSpPr/>
          <p:nvPr/>
        </p:nvSpPr>
        <p:spPr>
          <a:xfrm>
            <a:off x="1713546" y="6005305"/>
            <a:ext cx="0" cy="182200"/>
          </a:xfrm>
          <a:prstGeom prst="line">
            <a:avLst/>
          </a:prstGeom>
          <a:noFill/>
          <a:ln w="88900">
            <a:solidFill>
              <a:srgbClr val="0928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Rect 86"/>
          <p:cNvSpPr/>
          <p:nvPr/>
        </p:nvSpPr>
        <p:spPr>
          <a:xfrm>
            <a:off x="7102100" y="1821998"/>
            <a:ext cx="255209" cy="400840"/>
          </a:xfrm>
          <a:prstGeom prst="rtTriangle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Rect 87"/>
          <p:cNvSpPr/>
          <p:nvPr/>
        </p:nvSpPr>
        <p:spPr>
          <a:xfrm>
            <a:off x="7102100" y="1821998"/>
            <a:ext cx="255209" cy="400840"/>
          </a:xfrm>
          <a:prstGeom prst="rtTriangle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Rect 88"/>
          <p:cNvSpPr/>
          <p:nvPr/>
        </p:nvSpPr>
        <p:spPr>
          <a:xfrm>
            <a:off x="7102100" y="1821998"/>
            <a:ext cx="255209" cy="400840"/>
          </a:xfrm>
          <a:prstGeom prst="rtTriangle">
            <a:avLst/>
          </a:prstGeom>
          <a:solidFill>
            <a:srgbClr val="0B43BE"/>
          </a:solidFill>
          <a:ln w="12700">
            <a:solidFill>
              <a:srgbClr val="0B43B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TextBox 89"/>
          <p:cNvSpPr txBox="1"/>
          <p:nvPr/>
        </p:nvSpPr>
        <p:spPr>
          <a:xfrm>
            <a:off x="204167" y="72880"/>
            <a:ext cx="8604187" cy="553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700" b="1">
                <a:solidFill>
                  <a:srgbClr val="09287A"/>
                </a:solidFill>
                <a:latin typeface="Microsoft YaHei"/>
                <a:ea typeface="Microsoft YaHei"/>
                <a:cs typeface="Microsoft YaHei"/>
              </a:rPr>
              <a:t>部分代码： 用 Python 验证理论结果</a:t>
            </a:r>
            <a:endParaRPr lang="zh-CN" sz="3700"/>
          </a:p>
        </p:txBody>
      </p:sp>
      <p:sp>
        <p:nvSpPr>
          <p:cNvPr id="90" name="TextBox 90"/>
          <p:cNvSpPr txBox="1"/>
          <p:nvPr/>
        </p:nvSpPr>
        <p:spPr>
          <a:xfrm>
            <a:off x="9391689" y="262368"/>
            <a:ext cx="167708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第4部分： 状态方程</a:t>
            </a:r>
            <a:endParaRPr lang="zh-CN" sz="1750"/>
          </a:p>
        </p:txBody>
      </p:sp>
      <p:sp>
        <p:nvSpPr>
          <p:cNvPr id="91" name="TextBox 91"/>
          <p:cNvSpPr txBox="1"/>
          <p:nvPr/>
        </p:nvSpPr>
        <p:spPr>
          <a:xfrm>
            <a:off x="11404193" y="269656"/>
            <a:ext cx="364584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9287A"/>
                </a:solidFill>
                <a:latin typeface="Microsoft YaHei"/>
                <a:ea typeface="Microsoft YaHei"/>
                <a:cs typeface="Microsoft YaHei"/>
              </a:rPr>
              <a:t>4-4</a:t>
            </a:r>
            <a:endParaRPr lang="zh-CN" sz="2100"/>
          </a:p>
        </p:txBody>
      </p:sp>
      <p:sp>
        <p:nvSpPr>
          <p:cNvPr id="92" name="TextBox 92"/>
          <p:cNvSpPr txBox="1"/>
          <p:nvPr/>
        </p:nvSpPr>
        <p:spPr>
          <a:xfrm>
            <a:off x="1618754" y="1027607"/>
            <a:ext cx="262501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&lt;/&gt;</a:t>
            </a:r>
            <a:endParaRPr lang="zh-CN" sz="1800"/>
          </a:p>
        </p:txBody>
      </p:sp>
      <p:sp>
        <p:nvSpPr>
          <p:cNvPr id="93" name="TextBox 93"/>
          <p:cNvSpPr txBox="1"/>
          <p:nvPr/>
        </p:nvSpPr>
        <p:spPr>
          <a:xfrm>
            <a:off x="2231255" y="1042183"/>
            <a:ext cx="1968755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代码</a:t>
            </a:r>
            <a:endParaRPr lang="zh-CN" sz="2700"/>
          </a:p>
        </p:txBody>
      </p:sp>
      <p:sp>
        <p:nvSpPr>
          <p:cNvPr id="94" name="TextBox 94"/>
          <p:cNvSpPr txBox="1"/>
          <p:nvPr/>
        </p:nvSpPr>
        <p:spPr>
          <a:xfrm>
            <a:off x="7933352" y="1042183"/>
            <a:ext cx="1939588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计算流程与说明</a:t>
            </a:r>
            <a:endParaRPr lang="zh-CN" sz="2700"/>
          </a:p>
        </p:txBody>
      </p:sp>
      <p:sp>
        <p:nvSpPr>
          <p:cNvPr id="95" name="TextBox 95"/>
          <p:cNvSpPr txBox="1"/>
          <p:nvPr/>
        </p:nvSpPr>
        <p:spPr>
          <a:xfrm>
            <a:off x="495834" y="1596070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</a:t>
            </a:r>
            <a:endParaRPr lang="zh-CN" sz="1800"/>
          </a:p>
        </p:txBody>
      </p:sp>
      <p:sp>
        <p:nvSpPr>
          <p:cNvPr id="96" name="TextBox 96"/>
          <p:cNvSpPr txBox="1"/>
          <p:nvPr/>
        </p:nvSpPr>
        <p:spPr>
          <a:xfrm>
            <a:off x="495834" y="1873014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2</a:t>
            </a:r>
            <a:endParaRPr lang="zh-CN" sz="1800"/>
          </a:p>
        </p:txBody>
      </p:sp>
      <p:sp>
        <p:nvSpPr>
          <p:cNvPr id="97" name="TextBox 97"/>
          <p:cNvSpPr txBox="1"/>
          <p:nvPr/>
        </p:nvSpPr>
        <p:spPr>
          <a:xfrm>
            <a:off x="495834" y="2157245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3</a:t>
            </a:r>
            <a:endParaRPr lang="zh-CN" sz="1800"/>
          </a:p>
        </p:txBody>
      </p:sp>
      <p:sp>
        <p:nvSpPr>
          <p:cNvPr id="98" name="TextBox 98"/>
          <p:cNvSpPr txBox="1"/>
          <p:nvPr/>
        </p:nvSpPr>
        <p:spPr>
          <a:xfrm>
            <a:off x="495834" y="2434189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4</a:t>
            </a:r>
            <a:endParaRPr lang="zh-CN" sz="1800"/>
          </a:p>
        </p:txBody>
      </p:sp>
      <p:sp>
        <p:nvSpPr>
          <p:cNvPr id="99" name="TextBox 99"/>
          <p:cNvSpPr txBox="1"/>
          <p:nvPr/>
        </p:nvSpPr>
        <p:spPr>
          <a:xfrm>
            <a:off x="495834" y="2711133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5</a:t>
            </a:r>
            <a:endParaRPr lang="zh-CN" sz="1800"/>
          </a:p>
        </p:txBody>
      </p:sp>
      <p:sp>
        <p:nvSpPr>
          <p:cNvPr id="100" name="TextBox 100"/>
          <p:cNvSpPr txBox="1"/>
          <p:nvPr/>
        </p:nvSpPr>
        <p:spPr>
          <a:xfrm>
            <a:off x="495834" y="2988077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6</a:t>
            </a:r>
            <a:endParaRPr lang="zh-CN" sz="1800"/>
          </a:p>
        </p:txBody>
      </p:sp>
      <p:sp>
        <p:nvSpPr>
          <p:cNvPr id="101" name="TextBox 101"/>
          <p:cNvSpPr txBox="1"/>
          <p:nvPr/>
        </p:nvSpPr>
        <p:spPr>
          <a:xfrm>
            <a:off x="495834" y="3265020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7</a:t>
            </a:r>
            <a:endParaRPr lang="zh-CN" sz="1800"/>
          </a:p>
        </p:txBody>
      </p:sp>
      <p:sp>
        <p:nvSpPr>
          <p:cNvPr id="102" name="TextBox 102"/>
          <p:cNvSpPr txBox="1"/>
          <p:nvPr/>
        </p:nvSpPr>
        <p:spPr>
          <a:xfrm>
            <a:off x="495834" y="3541964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8</a:t>
            </a:r>
            <a:endParaRPr lang="zh-CN" sz="1800"/>
          </a:p>
        </p:txBody>
      </p:sp>
      <p:sp>
        <p:nvSpPr>
          <p:cNvPr id="103" name="TextBox 103"/>
          <p:cNvSpPr txBox="1"/>
          <p:nvPr/>
        </p:nvSpPr>
        <p:spPr>
          <a:xfrm>
            <a:off x="495834" y="3818908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9</a:t>
            </a:r>
            <a:endParaRPr lang="zh-CN" sz="1800"/>
          </a:p>
        </p:txBody>
      </p:sp>
      <p:sp>
        <p:nvSpPr>
          <p:cNvPr id="104" name="TextBox 104"/>
          <p:cNvSpPr txBox="1"/>
          <p:nvPr/>
        </p:nvSpPr>
        <p:spPr>
          <a:xfrm>
            <a:off x="495834" y="4095851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10</a:t>
            </a:r>
            <a:endParaRPr lang="zh-CN" sz="1800"/>
          </a:p>
        </p:txBody>
      </p:sp>
      <p:sp>
        <p:nvSpPr>
          <p:cNvPr id="105" name="TextBox 105"/>
          <p:cNvSpPr txBox="1"/>
          <p:nvPr/>
        </p:nvSpPr>
        <p:spPr>
          <a:xfrm>
            <a:off x="495834" y="4372795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11</a:t>
            </a:r>
            <a:endParaRPr lang="zh-CN" sz="1800"/>
          </a:p>
        </p:txBody>
      </p:sp>
      <p:sp>
        <p:nvSpPr>
          <p:cNvPr id="106" name="TextBox 106"/>
          <p:cNvSpPr txBox="1"/>
          <p:nvPr/>
        </p:nvSpPr>
        <p:spPr>
          <a:xfrm>
            <a:off x="495834" y="4649739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12</a:t>
            </a:r>
            <a:endParaRPr lang="zh-CN" sz="1800"/>
          </a:p>
        </p:txBody>
      </p:sp>
      <p:sp>
        <p:nvSpPr>
          <p:cNvPr id="107" name="TextBox 107"/>
          <p:cNvSpPr txBox="1"/>
          <p:nvPr/>
        </p:nvSpPr>
        <p:spPr>
          <a:xfrm>
            <a:off x="495834" y="4926682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13</a:t>
            </a:r>
            <a:endParaRPr lang="zh-CN" sz="1800"/>
          </a:p>
        </p:txBody>
      </p:sp>
      <p:sp>
        <p:nvSpPr>
          <p:cNvPr id="108" name="TextBox 108"/>
          <p:cNvSpPr txBox="1"/>
          <p:nvPr/>
        </p:nvSpPr>
        <p:spPr>
          <a:xfrm>
            <a:off x="495834" y="5203626"/>
            <a:ext cx="2041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1D5DBA"/>
                </a:solidFill>
                <a:latin typeface="Consolas"/>
                <a:ea typeface="Consolas"/>
                <a:cs typeface="Consolas"/>
              </a:rPr>
              <a:t>14</a:t>
            </a:r>
            <a:endParaRPr lang="zh-CN" sz="1800"/>
          </a:p>
        </p:txBody>
      </p:sp>
      <p:sp>
        <p:nvSpPr>
          <p:cNvPr id="109" name="TextBox 109"/>
          <p:cNvSpPr txBox="1"/>
          <p:nvPr/>
        </p:nvSpPr>
        <p:spPr>
          <a:xfrm>
            <a:off x="889585" y="1596070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 b="1">
                <a:solidFill>
                  <a:srgbClr val="003EE6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numpy </a:t>
            </a:r>
            <a:r>
              <a:rPr lang="zh-CN" sz="1820" b="1">
                <a:solidFill>
                  <a:srgbClr val="003EE6"/>
                </a:solidFill>
                <a:latin typeface="Consolas"/>
                <a:ea typeface="Consolas"/>
                <a:cs typeface="Consolas"/>
              </a:rPr>
              <a:t>as</a:t>
            </a:r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np</a:t>
            </a:r>
            <a:endParaRPr lang="zh-CN" sz="1820"/>
          </a:p>
        </p:txBody>
      </p:sp>
      <p:sp>
        <p:nvSpPr>
          <p:cNvPr id="110" name="TextBox 110"/>
          <p:cNvSpPr txBox="1"/>
          <p:nvPr/>
        </p:nvSpPr>
        <p:spPr>
          <a:xfrm>
            <a:off x="889585" y="1873014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 b="1">
                <a:solidFill>
                  <a:srgbClr val="003EE6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scipy </a:t>
            </a:r>
            <a:r>
              <a:rPr lang="zh-CN" sz="1820" b="1">
                <a:solidFill>
                  <a:srgbClr val="003EE6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signal</a:t>
            </a:r>
            <a:endParaRPr lang="zh-CN" sz="1820"/>
          </a:p>
        </p:txBody>
      </p:sp>
      <p:sp>
        <p:nvSpPr>
          <p:cNvPr id="111" name="TextBox 111"/>
          <p:cNvSpPr txBox="1"/>
          <p:nvPr/>
        </p:nvSpPr>
        <p:spPr>
          <a:xfrm>
            <a:off x="889585" y="2157245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zh-CN" sz="1820"/>
          </a:p>
        </p:txBody>
      </p:sp>
      <p:sp>
        <p:nvSpPr>
          <p:cNvPr id="112" name="TextBox 112"/>
          <p:cNvSpPr txBox="1"/>
          <p:nvPr/>
        </p:nvSpPr>
        <p:spPr>
          <a:xfrm>
            <a:off x="889585" y="2434189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A = np.array([[-1, -1],</a:t>
            </a:r>
            <a:endParaRPr lang="zh-CN" sz="1820"/>
          </a:p>
        </p:txBody>
      </p:sp>
      <p:sp>
        <p:nvSpPr>
          <p:cNvPr id="113" name="TextBox 113"/>
          <p:cNvSpPr txBox="1"/>
          <p:nvPr/>
        </p:nvSpPr>
        <p:spPr>
          <a:xfrm>
            <a:off x="889585" y="2711133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 dirty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        [ 4,  0]])</a:t>
            </a:r>
            <a:endParaRPr lang="zh-CN" sz="1820" dirty="0"/>
          </a:p>
        </p:txBody>
      </p:sp>
      <p:sp>
        <p:nvSpPr>
          <p:cNvPr id="114" name="TextBox 114"/>
          <p:cNvSpPr txBox="1"/>
          <p:nvPr/>
        </p:nvSpPr>
        <p:spPr>
          <a:xfrm>
            <a:off x="889585" y="2988077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B = np.array([[1],</a:t>
            </a:r>
            <a:endParaRPr lang="zh-CN" sz="1820"/>
          </a:p>
        </p:txBody>
      </p:sp>
      <p:sp>
        <p:nvSpPr>
          <p:cNvPr id="115" name="TextBox 115"/>
          <p:cNvSpPr txBox="1"/>
          <p:nvPr/>
        </p:nvSpPr>
        <p:spPr>
          <a:xfrm>
            <a:off x="889585" y="3265020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        [0]])</a:t>
            </a:r>
            <a:endParaRPr lang="zh-CN" sz="1820"/>
          </a:p>
        </p:txBody>
      </p:sp>
      <p:sp>
        <p:nvSpPr>
          <p:cNvPr id="116" name="TextBox 116"/>
          <p:cNvSpPr txBox="1"/>
          <p:nvPr/>
        </p:nvSpPr>
        <p:spPr>
          <a:xfrm>
            <a:off x="889585" y="3541964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 dirty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 = np.array([[0, 1]])</a:t>
            </a:r>
            <a:endParaRPr lang="zh-CN" sz="1820" dirty="0"/>
          </a:p>
        </p:txBody>
      </p:sp>
      <p:sp>
        <p:nvSpPr>
          <p:cNvPr id="117" name="TextBox 117"/>
          <p:cNvSpPr txBox="1"/>
          <p:nvPr/>
        </p:nvSpPr>
        <p:spPr>
          <a:xfrm>
            <a:off x="889585" y="3818908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 dirty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 = np.array([[0]])</a:t>
            </a:r>
            <a:endParaRPr lang="zh-CN" sz="1820" dirty="0"/>
          </a:p>
        </p:txBody>
      </p:sp>
      <p:sp>
        <p:nvSpPr>
          <p:cNvPr id="118" name="TextBox 118"/>
          <p:cNvSpPr txBox="1"/>
          <p:nvPr/>
        </p:nvSpPr>
        <p:spPr>
          <a:xfrm>
            <a:off x="889585" y="4095851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 lang="zh-CN" sz="1820"/>
          </a:p>
        </p:txBody>
      </p:sp>
      <p:sp>
        <p:nvSpPr>
          <p:cNvPr id="119" name="TextBox 119"/>
          <p:cNvSpPr txBox="1"/>
          <p:nvPr/>
        </p:nvSpPr>
        <p:spPr>
          <a:xfrm>
            <a:off x="889585" y="4372795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sys = signal.StateSpace(A, B, C, D)</a:t>
            </a:r>
            <a:endParaRPr lang="zh-CN" sz="1820"/>
          </a:p>
        </p:txBody>
      </p:sp>
      <p:sp>
        <p:nvSpPr>
          <p:cNvPr id="120" name="TextBox 120"/>
          <p:cNvSpPr txBox="1"/>
          <p:nvPr/>
        </p:nvSpPr>
        <p:spPr>
          <a:xfrm>
            <a:off x="889585" y="4649739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eigvals = np.linalg.eigvals(A)</a:t>
            </a:r>
            <a:endParaRPr lang="zh-CN" sz="1820"/>
          </a:p>
        </p:txBody>
      </p:sp>
      <p:sp>
        <p:nvSpPr>
          <p:cNvPr id="121" name="TextBox 121"/>
          <p:cNvSpPr txBox="1"/>
          <p:nvPr/>
        </p:nvSpPr>
        <p:spPr>
          <a:xfrm>
            <a:off x="889585" y="4926682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t, y = signal.impulse(sys)</a:t>
            </a:r>
            <a:endParaRPr lang="zh-CN" sz="1820"/>
          </a:p>
        </p:txBody>
      </p:sp>
      <p:sp>
        <p:nvSpPr>
          <p:cNvPr id="122" name="TextBox 122"/>
          <p:cNvSpPr txBox="1"/>
          <p:nvPr/>
        </p:nvSpPr>
        <p:spPr>
          <a:xfrm>
            <a:off x="889585" y="5203626"/>
            <a:ext cx="404688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2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num, den = signal.ss2tf(A, B, C, D)</a:t>
            </a:r>
            <a:endParaRPr lang="zh-CN" sz="1820"/>
          </a:p>
        </p:txBody>
      </p:sp>
      <p:sp>
        <p:nvSpPr>
          <p:cNvPr id="123" name="TextBox 123"/>
          <p:cNvSpPr txBox="1"/>
          <p:nvPr/>
        </p:nvSpPr>
        <p:spPr>
          <a:xfrm>
            <a:off x="5680222" y="1698102"/>
            <a:ext cx="1042711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A,B,C,D</a:t>
            </a:r>
            <a:endParaRPr lang="zh-CN" sz="1900"/>
          </a:p>
        </p:txBody>
      </p:sp>
      <p:sp>
        <p:nvSpPr>
          <p:cNvPr id="124" name="TextBox 124"/>
          <p:cNvSpPr txBox="1"/>
          <p:nvPr/>
        </p:nvSpPr>
        <p:spPr>
          <a:xfrm>
            <a:off x="6135952" y="2776725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900"/>
          </a:p>
        </p:txBody>
      </p:sp>
      <p:sp>
        <p:nvSpPr>
          <p:cNvPr id="125" name="TextBox 125"/>
          <p:cNvSpPr txBox="1"/>
          <p:nvPr/>
        </p:nvSpPr>
        <p:spPr>
          <a:xfrm>
            <a:off x="7342726" y="1698102"/>
            <a:ext cx="1006252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eigvals</a:t>
            </a:r>
            <a:endParaRPr lang="zh-CN" sz="1900"/>
          </a:p>
        </p:txBody>
      </p:sp>
      <p:sp>
        <p:nvSpPr>
          <p:cNvPr id="126" name="TextBox 126"/>
          <p:cNvSpPr txBox="1"/>
          <p:nvPr/>
        </p:nvSpPr>
        <p:spPr>
          <a:xfrm>
            <a:off x="7780227" y="2776725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900"/>
          </a:p>
        </p:txBody>
      </p:sp>
      <p:sp>
        <p:nvSpPr>
          <p:cNvPr id="127" name="TextBox 127"/>
          <p:cNvSpPr txBox="1"/>
          <p:nvPr/>
        </p:nvSpPr>
        <p:spPr>
          <a:xfrm>
            <a:off x="8917729" y="1698102"/>
            <a:ext cx="860419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impulse</a:t>
            </a:r>
            <a:endParaRPr lang="zh-CN" sz="1900"/>
          </a:p>
        </p:txBody>
      </p:sp>
      <p:sp>
        <p:nvSpPr>
          <p:cNvPr id="128" name="TextBox 128"/>
          <p:cNvSpPr txBox="1"/>
          <p:nvPr/>
        </p:nvSpPr>
        <p:spPr>
          <a:xfrm>
            <a:off x="9282313" y="2776725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900"/>
          </a:p>
        </p:txBody>
      </p:sp>
      <p:sp>
        <p:nvSpPr>
          <p:cNvPr id="129" name="TextBox 129"/>
          <p:cNvSpPr txBox="1"/>
          <p:nvPr/>
        </p:nvSpPr>
        <p:spPr>
          <a:xfrm>
            <a:off x="10609400" y="1698102"/>
            <a:ext cx="1144794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pole-zero</a:t>
            </a:r>
            <a:endParaRPr lang="zh-CN" sz="1900"/>
          </a:p>
        </p:txBody>
      </p:sp>
      <p:sp>
        <p:nvSpPr>
          <p:cNvPr id="130" name="TextBox 130"/>
          <p:cNvSpPr txBox="1"/>
          <p:nvPr/>
        </p:nvSpPr>
        <p:spPr>
          <a:xfrm>
            <a:off x="11116172" y="2776725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1900"/>
          </a:p>
        </p:txBody>
      </p:sp>
      <p:sp>
        <p:nvSpPr>
          <p:cNvPr id="131" name="TextBox 131"/>
          <p:cNvSpPr txBox="1"/>
          <p:nvPr/>
        </p:nvSpPr>
        <p:spPr>
          <a:xfrm>
            <a:off x="7743768" y="1996910"/>
            <a:ext cx="466668" cy="40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4000">
                <a:solidFill>
                  <a:srgbClr val="09287A"/>
                </a:solidFill>
                <a:latin typeface="Times New Roman"/>
                <a:ea typeface="Times New Roman"/>
                <a:cs typeface="Times New Roman"/>
              </a:rPr>
              <a:t>λ</a:t>
            </a:r>
            <a:endParaRPr lang="zh-CN" sz="4000"/>
          </a:p>
        </p:txBody>
      </p:sp>
      <p:sp>
        <p:nvSpPr>
          <p:cNvPr id="132" name="TextBox 132"/>
          <p:cNvSpPr txBox="1"/>
          <p:nvPr/>
        </p:nvSpPr>
        <p:spPr>
          <a:xfrm>
            <a:off x="11229193" y="2186397"/>
            <a:ext cx="29166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5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×</a:t>
            </a:r>
            <a:endParaRPr lang="zh-CN" sz="2500"/>
          </a:p>
        </p:txBody>
      </p:sp>
      <p:sp>
        <p:nvSpPr>
          <p:cNvPr id="133" name="TextBox 133"/>
          <p:cNvSpPr txBox="1"/>
          <p:nvPr/>
        </p:nvSpPr>
        <p:spPr>
          <a:xfrm>
            <a:off x="6059389" y="3388916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000"/>
          </a:p>
        </p:txBody>
      </p:sp>
      <p:sp>
        <p:nvSpPr>
          <p:cNvPr id="134" name="TextBox 134"/>
          <p:cNvSpPr txBox="1"/>
          <p:nvPr/>
        </p:nvSpPr>
        <p:spPr>
          <a:xfrm>
            <a:off x="7583351" y="3359764"/>
            <a:ext cx="284375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1A4F"/>
                </a:solidFill>
                <a:latin typeface="Microsoft YaHei"/>
                <a:ea typeface="Microsoft YaHei"/>
                <a:cs typeface="Microsoft YaHei"/>
              </a:rPr>
              <a:t>定义</a:t>
            </a:r>
            <a:r>
              <a:rPr lang="zh-CN" sz="21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状态空间模型</a:t>
            </a:r>
            <a:endParaRPr lang="zh-CN" sz="2100"/>
          </a:p>
        </p:txBody>
      </p:sp>
      <p:sp>
        <p:nvSpPr>
          <p:cNvPr id="135" name="TextBox 135"/>
          <p:cNvSpPr txBox="1"/>
          <p:nvPr/>
        </p:nvSpPr>
        <p:spPr>
          <a:xfrm>
            <a:off x="6059389" y="3840772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000"/>
          </a:p>
        </p:txBody>
      </p:sp>
      <p:sp>
        <p:nvSpPr>
          <p:cNvPr id="136" name="TextBox 136"/>
          <p:cNvSpPr txBox="1"/>
          <p:nvPr/>
        </p:nvSpPr>
        <p:spPr>
          <a:xfrm>
            <a:off x="6766683" y="3724164"/>
            <a:ext cx="335417" cy="3352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500">
                <a:solidFill>
                  <a:srgbClr val="09287A"/>
                </a:solidFill>
                <a:latin typeface="Times New Roman"/>
                <a:ea typeface="Times New Roman"/>
                <a:cs typeface="Times New Roman"/>
              </a:rPr>
              <a:t>λ</a:t>
            </a:r>
            <a:endParaRPr lang="zh-CN" sz="3500"/>
          </a:p>
        </p:txBody>
      </p:sp>
      <p:sp>
        <p:nvSpPr>
          <p:cNvPr id="137" name="TextBox 137"/>
          <p:cNvSpPr txBox="1"/>
          <p:nvPr/>
        </p:nvSpPr>
        <p:spPr>
          <a:xfrm>
            <a:off x="7583351" y="3811620"/>
            <a:ext cx="284375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1A4F"/>
                </a:solidFill>
                <a:latin typeface="Microsoft YaHei"/>
                <a:ea typeface="Microsoft YaHei"/>
                <a:cs typeface="Microsoft YaHei"/>
              </a:rPr>
              <a:t>计算</a:t>
            </a:r>
            <a:r>
              <a:rPr lang="zh-CN" sz="21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特征值</a:t>
            </a:r>
            <a:endParaRPr lang="zh-CN" sz="2100"/>
          </a:p>
        </p:txBody>
      </p:sp>
      <p:sp>
        <p:nvSpPr>
          <p:cNvPr id="138" name="TextBox 138"/>
          <p:cNvSpPr txBox="1"/>
          <p:nvPr/>
        </p:nvSpPr>
        <p:spPr>
          <a:xfrm>
            <a:off x="6059389" y="4299915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000"/>
          </a:p>
        </p:txBody>
      </p:sp>
      <p:sp>
        <p:nvSpPr>
          <p:cNvPr id="139" name="TextBox 139"/>
          <p:cNvSpPr txBox="1"/>
          <p:nvPr/>
        </p:nvSpPr>
        <p:spPr>
          <a:xfrm>
            <a:off x="7583351" y="4270763"/>
            <a:ext cx="284375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1A4F"/>
                </a:solidFill>
                <a:latin typeface="Microsoft YaHei"/>
                <a:ea typeface="Microsoft YaHei"/>
                <a:cs typeface="Microsoft YaHei"/>
              </a:rPr>
              <a:t>计算</a:t>
            </a:r>
            <a:r>
              <a:rPr lang="zh-CN" sz="21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冲激响应</a:t>
            </a:r>
            <a:endParaRPr lang="zh-CN" sz="2100"/>
          </a:p>
        </p:txBody>
      </p:sp>
      <p:sp>
        <p:nvSpPr>
          <p:cNvPr id="140" name="TextBox 140"/>
          <p:cNvSpPr txBox="1"/>
          <p:nvPr/>
        </p:nvSpPr>
        <p:spPr>
          <a:xfrm>
            <a:off x="6059389" y="4759058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2000"/>
          </a:p>
        </p:txBody>
      </p:sp>
      <p:sp>
        <p:nvSpPr>
          <p:cNvPr id="141" name="TextBox 141"/>
          <p:cNvSpPr txBox="1"/>
          <p:nvPr/>
        </p:nvSpPr>
        <p:spPr>
          <a:xfrm>
            <a:off x="6693766" y="4715330"/>
            <a:ext cx="510418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09287A"/>
                </a:solidFill>
                <a:latin typeface="Times New Roman"/>
                <a:ea typeface="Times New Roman"/>
                <a:cs typeface="Times New Roman"/>
              </a:rPr>
              <a:t>G(s)</a:t>
            </a:r>
            <a:endParaRPr lang="zh-CN" sz="2200"/>
          </a:p>
        </p:txBody>
      </p:sp>
      <p:sp>
        <p:nvSpPr>
          <p:cNvPr id="142" name="TextBox 142"/>
          <p:cNvSpPr txBox="1"/>
          <p:nvPr/>
        </p:nvSpPr>
        <p:spPr>
          <a:xfrm>
            <a:off x="7583351" y="4729906"/>
            <a:ext cx="284375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1A4F"/>
                </a:solidFill>
                <a:latin typeface="Microsoft YaHei"/>
                <a:ea typeface="Microsoft YaHei"/>
                <a:cs typeface="Microsoft YaHei"/>
              </a:rPr>
              <a:t>转换为</a:t>
            </a:r>
            <a:r>
              <a:rPr lang="zh-CN" sz="21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传递函数</a:t>
            </a:r>
            <a:endParaRPr lang="zh-CN" sz="2100"/>
          </a:p>
        </p:txBody>
      </p:sp>
      <p:sp>
        <p:nvSpPr>
          <p:cNvPr id="143" name="TextBox 143"/>
          <p:cNvSpPr txBox="1"/>
          <p:nvPr/>
        </p:nvSpPr>
        <p:spPr>
          <a:xfrm>
            <a:off x="6059389" y="5218202"/>
            <a:ext cx="13125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lang="zh-CN" sz="2000"/>
          </a:p>
        </p:txBody>
      </p:sp>
      <p:sp>
        <p:nvSpPr>
          <p:cNvPr id="144" name="TextBox 144"/>
          <p:cNvSpPr txBox="1"/>
          <p:nvPr/>
        </p:nvSpPr>
        <p:spPr>
          <a:xfrm>
            <a:off x="7583351" y="5189050"/>
            <a:ext cx="284375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00" b="1">
                <a:solidFill>
                  <a:srgbClr val="061A4F"/>
                </a:solidFill>
                <a:latin typeface="Microsoft YaHei"/>
                <a:ea typeface="Microsoft YaHei"/>
                <a:cs typeface="Microsoft YaHei"/>
              </a:rPr>
              <a:t>绘制</a:t>
            </a:r>
            <a:r>
              <a:rPr lang="zh-CN" sz="21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结果图</a:t>
            </a:r>
            <a:endParaRPr lang="zh-CN" sz="2100"/>
          </a:p>
        </p:txBody>
      </p:sp>
      <p:sp>
        <p:nvSpPr>
          <p:cNvPr id="145" name="TextBox 145"/>
          <p:cNvSpPr txBox="1"/>
          <p:nvPr/>
        </p:nvSpPr>
        <p:spPr>
          <a:xfrm>
            <a:off x="2464589" y="6151065"/>
            <a:ext cx="7145850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600" b="1">
                <a:solidFill>
                  <a:srgbClr val="D80000"/>
                </a:solidFill>
                <a:latin typeface="Microsoft YaHei"/>
                <a:ea typeface="Microsoft YaHei"/>
                <a:cs typeface="Microsoft YaHei"/>
              </a:rPr>
              <a:t>核心：</a:t>
            </a:r>
            <a:r>
              <a:rPr lang="zh-CN" sz="2600" b="1">
                <a:solidFill>
                  <a:srgbClr val="09287A"/>
                </a:solidFill>
                <a:latin typeface="Microsoft YaHei"/>
                <a:ea typeface="Microsoft YaHei"/>
                <a:cs typeface="Microsoft YaHei"/>
              </a:rPr>
              <a:t> 用 Python 工具验证理论结果，连接数学模型与系统行为。</a:t>
            </a:r>
            <a:endParaRPr lang="zh-CN"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53994" y="736600"/>
            <a:ext cx="11683708" cy="38100"/>
          </a:xfrm>
          <a:prstGeom prst="rect">
            <a:avLst/>
          </a:prstGeom>
          <a:solidFill>
            <a:srgbClr val="082A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349241" y="1054100"/>
            <a:ext cx="5625959" cy="314325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524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6222844" y="1054100"/>
            <a:ext cx="5625959" cy="314325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5240">
            <a:solidFill>
              <a:srgbClr val="6FA3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444489" y="4610100"/>
            <a:ext cx="3682908" cy="1492250"/>
          </a:xfrm>
          <a:prstGeom prst="roundRect">
            <a:avLst>
              <a:gd name="adj" fmla="val 7234"/>
            </a:avLst>
          </a:prstGeom>
          <a:solidFill>
            <a:srgbClr val="EEF6FF"/>
          </a:solidFill>
          <a:ln w="15240">
            <a:solidFill>
              <a:srgbClr val="7DAE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4254394" y="4610100"/>
            <a:ext cx="3682908" cy="1492250"/>
          </a:xfrm>
          <a:prstGeom prst="roundRect">
            <a:avLst>
              <a:gd name="adj" fmla="val 7234"/>
            </a:avLst>
          </a:prstGeom>
          <a:solidFill>
            <a:srgbClr val="EEF6FF"/>
          </a:solidFill>
          <a:ln w="15240">
            <a:solidFill>
              <a:srgbClr val="7DAE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064298" y="4610100"/>
            <a:ext cx="3682908" cy="1492250"/>
          </a:xfrm>
          <a:prstGeom prst="roundRect">
            <a:avLst>
              <a:gd name="adj" fmla="val 7234"/>
            </a:avLst>
          </a:prstGeom>
          <a:solidFill>
            <a:srgbClr val="EEF6FF"/>
          </a:solidFill>
          <a:ln w="15240">
            <a:solidFill>
              <a:srgbClr val="7DAE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634984" y="4800600"/>
            <a:ext cx="330192" cy="330200"/>
          </a:xfrm>
          <a:prstGeom prst="ellipse">
            <a:avLst/>
          </a:prstGeom>
          <a:solidFill>
            <a:srgbClr val="082E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lipse 9"/>
          <p:cNvSpPr/>
          <p:nvPr/>
        </p:nvSpPr>
        <p:spPr>
          <a:xfrm>
            <a:off x="4444889" y="4800600"/>
            <a:ext cx="330192" cy="330200"/>
          </a:xfrm>
          <a:prstGeom prst="ellipse">
            <a:avLst/>
          </a:prstGeom>
          <a:solidFill>
            <a:srgbClr val="082E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lipse 10"/>
          <p:cNvSpPr/>
          <p:nvPr/>
        </p:nvSpPr>
        <p:spPr>
          <a:xfrm>
            <a:off x="8254794" y="4800600"/>
            <a:ext cx="330192" cy="330200"/>
          </a:xfrm>
          <a:prstGeom prst="ellipse">
            <a:avLst/>
          </a:prstGeom>
          <a:solidFill>
            <a:srgbClr val="082E6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" name="Impulse response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1403315" y="1606550"/>
            <a:ext cx="3841654" cy="2089150"/>
          </a:xfrm>
          <a:prstGeom prst="rect">
            <a:avLst/>
          </a:prstGeom>
        </p:spPr>
      </p:pic>
      <p:pic>
        <p:nvPicPr>
          <p:cNvPr id="12" name="Pole-zero map"/>
          <p:cNvPicPr/>
          <p:nvPr/>
        </p:nvPicPr>
        <p:blipFill>
          <a:blip r:embed="rId4"/>
          <a:stretch>
            <a:fillRect/>
          </a:stretch>
        </p:blipFill>
        <p:spPr>
          <a:xfrm>
            <a:off x="8521487" y="1536700"/>
            <a:ext cx="1269968" cy="229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98443" y="247650"/>
            <a:ext cx="63498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结果与分析：稳定的衰减振荡系统</a:t>
            </a:r>
            <a:endParaRPr lang="zh-CN" sz="3000"/>
          </a:p>
        </p:txBody>
      </p:sp>
      <p:sp>
        <p:nvSpPr>
          <p:cNvPr id="14" name="TextBox 14"/>
          <p:cNvSpPr txBox="1"/>
          <p:nvPr/>
        </p:nvSpPr>
        <p:spPr>
          <a:xfrm>
            <a:off x="9588260" y="361950"/>
            <a:ext cx="825479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仿真验证</a:t>
            </a:r>
            <a:endParaRPr lang="zh-CN" sz="2000"/>
          </a:p>
        </p:txBody>
      </p:sp>
      <p:sp>
        <p:nvSpPr>
          <p:cNvPr id="15" name="TextBox 15"/>
          <p:cNvSpPr txBox="1"/>
          <p:nvPr/>
        </p:nvSpPr>
        <p:spPr>
          <a:xfrm>
            <a:off x="571486" y="1219200"/>
            <a:ext cx="2666933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Python 真实计算：冲激响应</a:t>
            </a:r>
            <a:endParaRPr lang="zh-CN" sz="2000"/>
          </a:p>
        </p:txBody>
      </p:sp>
      <p:sp>
        <p:nvSpPr>
          <p:cNvPr id="16" name="TextBox 16"/>
          <p:cNvSpPr txBox="1"/>
          <p:nvPr/>
        </p:nvSpPr>
        <p:spPr>
          <a:xfrm>
            <a:off x="6451439" y="1219200"/>
            <a:ext cx="2920927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Python 真实计算：零极点图</a:t>
            </a:r>
            <a:endParaRPr lang="zh-CN" sz="2000"/>
          </a:p>
        </p:txBody>
      </p:sp>
      <p:sp>
        <p:nvSpPr>
          <p:cNvPr id="17" name="TextBox 17"/>
          <p:cNvSpPr txBox="1"/>
          <p:nvPr/>
        </p:nvSpPr>
        <p:spPr>
          <a:xfrm>
            <a:off x="1104872" y="4857750"/>
            <a:ext cx="165095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00" b="1">
                <a:solidFill>
                  <a:srgbClr val="D5101E"/>
                </a:solidFill>
                <a:latin typeface="Microsoft YaHei"/>
                <a:ea typeface="Microsoft YaHei"/>
                <a:cs typeface="Microsoft YaHei"/>
              </a:rPr>
              <a:t>左半平面 → 稳定</a:t>
            </a:r>
            <a:endParaRPr lang="zh-CN" sz="2000"/>
          </a:p>
        </p:txBody>
      </p:sp>
      <p:sp>
        <p:nvSpPr>
          <p:cNvPr id="18" name="TextBox 18"/>
          <p:cNvSpPr txBox="1"/>
          <p:nvPr/>
        </p:nvSpPr>
        <p:spPr>
          <a:xfrm>
            <a:off x="4914777" y="4857750"/>
            <a:ext cx="215894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 dirty="0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共轭复极点 → 振荡</a:t>
            </a:r>
            <a:endParaRPr lang="zh-CN" sz="1900" dirty="0"/>
          </a:p>
        </p:txBody>
      </p:sp>
      <p:sp>
        <p:nvSpPr>
          <p:cNvPr id="19" name="TextBox 19"/>
          <p:cNvSpPr txBox="1"/>
          <p:nvPr/>
        </p:nvSpPr>
        <p:spPr>
          <a:xfrm>
            <a:off x="8731032" y="4857750"/>
            <a:ext cx="24129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9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实部为负 → 振幅衰减</a:t>
            </a:r>
            <a:endParaRPr lang="zh-CN" sz="1900"/>
          </a:p>
        </p:txBody>
      </p:sp>
      <p:sp>
        <p:nvSpPr>
          <p:cNvPr id="20" name="TextBox 20"/>
          <p:cNvSpPr txBox="1"/>
          <p:nvPr/>
        </p:nvSpPr>
        <p:spPr>
          <a:xfrm>
            <a:off x="723882" y="5346700"/>
            <a:ext cx="3174921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极点实部为 -0.5，系统响应随时间衰减。</a:t>
            </a:r>
            <a:endParaRPr lang="zh-CN" sz="1500"/>
          </a:p>
        </p:txBody>
      </p:sp>
      <p:sp>
        <p:nvSpPr>
          <p:cNvPr id="21" name="TextBox 21"/>
          <p:cNvSpPr txBox="1"/>
          <p:nvPr/>
        </p:nvSpPr>
        <p:spPr>
          <a:xfrm>
            <a:off x="4540136" y="5346700"/>
            <a:ext cx="2920927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虚部 ±1.9365 决定振荡角频率。</a:t>
            </a:r>
            <a:endParaRPr lang="zh-CN" sz="1500"/>
          </a:p>
        </p:txBody>
      </p:sp>
      <p:sp>
        <p:nvSpPr>
          <p:cNvPr id="22" name="TextBox 22"/>
          <p:cNvSpPr txBox="1"/>
          <p:nvPr/>
        </p:nvSpPr>
        <p:spPr>
          <a:xfrm>
            <a:off x="8356391" y="5346700"/>
            <a:ext cx="285742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1C2430"/>
                </a:solidFill>
                <a:latin typeface="Microsoft YaHei"/>
                <a:ea typeface="Microsoft YaHei"/>
                <a:cs typeface="Microsoft YaHei"/>
              </a:rPr>
              <a:t>冲激响应呈稳定的衰减振荡。</a:t>
            </a:r>
            <a:endParaRPr lang="zh-CN" sz="1500"/>
          </a:p>
        </p:txBody>
      </p:sp>
      <p:sp>
        <p:nvSpPr>
          <p:cNvPr id="23" name="TextBox 23"/>
          <p:cNvSpPr txBox="1"/>
          <p:nvPr/>
        </p:nvSpPr>
        <p:spPr>
          <a:xfrm>
            <a:off x="438139" y="6419850"/>
            <a:ext cx="4571886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82A61"/>
                </a:solidFill>
                <a:latin typeface="Microsoft YaHei"/>
                <a:ea typeface="Microsoft YaHei"/>
                <a:cs typeface="Microsoft YaHei"/>
              </a:rPr>
              <a:t>极点：-0.5 ±j1.9365；冲激响应与零极点结论一致。</a:t>
            </a:r>
            <a:endParaRPr lang="zh-CN" sz="1600"/>
          </a:p>
        </p:txBody>
      </p:sp>
      <p:sp>
        <p:nvSpPr>
          <p:cNvPr id="24" name="TextBox 24"/>
          <p:cNvSpPr txBox="1"/>
          <p:nvPr/>
        </p:nvSpPr>
        <p:spPr>
          <a:xfrm>
            <a:off x="736582" y="4857750"/>
            <a:ext cx="139697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200"/>
          </a:p>
        </p:txBody>
      </p:sp>
      <p:sp>
        <p:nvSpPr>
          <p:cNvPr id="25" name="TextBox 25"/>
          <p:cNvSpPr txBox="1"/>
          <p:nvPr/>
        </p:nvSpPr>
        <p:spPr>
          <a:xfrm>
            <a:off x="4546486" y="4857750"/>
            <a:ext cx="139697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200"/>
          </a:p>
        </p:txBody>
      </p:sp>
      <p:sp>
        <p:nvSpPr>
          <p:cNvPr id="26" name="TextBox 26"/>
          <p:cNvSpPr txBox="1"/>
          <p:nvPr/>
        </p:nvSpPr>
        <p:spPr>
          <a:xfrm>
            <a:off x="8356391" y="4857750"/>
            <a:ext cx="139697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67709" y="765239"/>
            <a:ext cx="11819819" cy="0"/>
          </a:xfrm>
          <a:prstGeom prst="line">
            <a:avLst/>
          </a:prstGeom>
          <a:noFill/>
          <a:ln w="63500">
            <a:solidFill>
              <a:srgbClr val="0625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175000" y="1209807"/>
            <a:ext cx="1465628" cy="2303005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1932296" y="1209807"/>
            <a:ext cx="1465628" cy="2303005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3682300" y="1209807"/>
            <a:ext cx="1443753" cy="2303005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5417721" y="1209807"/>
            <a:ext cx="1429170" cy="2303005"/>
          </a:xfrm>
          <a:prstGeom prst="roundRect">
            <a:avLst>
              <a:gd name="adj" fmla="val 7653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7138558" y="1209807"/>
            <a:ext cx="1385420" cy="2303005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742729" y="1209807"/>
            <a:ext cx="1261461" cy="2303005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10325024" y="1209807"/>
            <a:ext cx="1669796" cy="2303005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651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175000" y="3833484"/>
            <a:ext cx="3828134" cy="1829286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6510">
            <a:solidFill>
              <a:srgbClr val="5D82D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4251052" y="3833484"/>
            <a:ext cx="3485425" cy="1829286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6510">
            <a:solidFill>
              <a:srgbClr val="5D82D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7969810" y="3833484"/>
            <a:ext cx="4032301" cy="1829286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6510">
            <a:solidFill>
              <a:srgbClr val="5D82D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175000" y="5910561"/>
            <a:ext cx="11834403" cy="670495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905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182292" y="1209807"/>
            <a:ext cx="1458337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1939588" y="1209807"/>
            <a:ext cx="1451045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3689592" y="1209807"/>
            <a:ext cx="1429170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5425013" y="1209807"/>
            <a:ext cx="1414587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rect 18"/>
          <p:cNvSpPr/>
          <p:nvPr/>
        </p:nvSpPr>
        <p:spPr>
          <a:xfrm>
            <a:off x="7145850" y="1209807"/>
            <a:ext cx="1370837" cy="604903"/>
          </a:xfrm>
          <a:prstGeom prst="roundRect">
            <a:avLst>
              <a:gd name="adj" fmla="val 18072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8750020" y="1209807"/>
            <a:ext cx="1246878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10332316" y="1209807"/>
            <a:ext cx="1655212" cy="459143"/>
          </a:xfrm>
          <a:prstGeom prst="roundRect">
            <a:avLst>
              <a:gd name="adj" fmla="val 23810"/>
            </a:avLst>
          </a:prstGeom>
          <a:solidFill>
            <a:srgbClr val="062A81"/>
          </a:solidFill>
          <a:ln w="12700">
            <a:solidFill>
              <a:srgbClr val="062A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3769800" y="2200973"/>
            <a:ext cx="1261461" cy="859983"/>
          </a:xfrm>
          <a:prstGeom prst="roundRect">
            <a:avLst>
              <a:gd name="adj" fmla="val 8475"/>
            </a:avLst>
          </a:prstGeom>
          <a:solidFill>
            <a:srgbClr val="FBFCFF"/>
          </a:solidFill>
          <a:ln w="12700">
            <a:solidFill>
              <a:srgbClr val="9FB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5490638" y="2200973"/>
            <a:ext cx="1261461" cy="859983"/>
          </a:xfrm>
          <a:prstGeom prst="roundRect">
            <a:avLst>
              <a:gd name="adj" fmla="val 8475"/>
            </a:avLst>
          </a:prstGeom>
          <a:solidFill>
            <a:srgbClr val="FBFCFF"/>
          </a:solidFill>
          <a:ln w="12700">
            <a:solidFill>
              <a:srgbClr val="9FB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1655212" y="2456053"/>
            <a:ext cx="262501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3405216" y="2456053"/>
            <a:ext cx="262501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5140637" y="2456053"/>
            <a:ext cx="262501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6861474" y="2456053"/>
            <a:ext cx="262501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8531270" y="2456053"/>
            <a:ext cx="204167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10011482" y="2456053"/>
            <a:ext cx="298959" cy="0"/>
          </a:xfrm>
          <a:prstGeom prst="line">
            <a:avLst/>
          </a:prstGeom>
          <a:noFill/>
          <a:ln w="1143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ect 29"/>
          <p:cNvSpPr/>
          <p:nvPr/>
        </p:nvSpPr>
        <p:spPr>
          <a:xfrm>
            <a:off x="1793754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ect 30"/>
          <p:cNvSpPr/>
          <p:nvPr/>
        </p:nvSpPr>
        <p:spPr>
          <a:xfrm>
            <a:off x="3543758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 31"/>
          <p:cNvSpPr/>
          <p:nvPr/>
        </p:nvSpPr>
        <p:spPr>
          <a:xfrm>
            <a:off x="5279179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ect 32"/>
          <p:cNvSpPr/>
          <p:nvPr/>
        </p:nvSpPr>
        <p:spPr>
          <a:xfrm>
            <a:off x="7000016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 33"/>
          <p:cNvSpPr/>
          <p:nvPr/>
        </p:nvSpPr>
        <p:spPr>
          <a:xfrm>
            <a:off x="8647937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ect 34"/>
          <p:cNvSpPr/>
          <p:nvPr/>
        </p:nvSpPr>
        <p:spPr>
          <a:xfrm>
            <a:off x="10186482" y="2317581"/>
            <a:ext cx="182292" cy="276944"/>
          </a:xfrm>
          <a:prstGeom prst="triangle">
            <a:avLst/>
          </a:prstGeom>
          <a:solidFill>
            <a:srgbClr val="0B3EA0"/>
          </a:solidFill>
          <a:ln w="12700">
            <a:solidFill>
              <a:srgbClr val="0B3E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Line 35"/>
          <p:cNvSpPr/>
          <p:nvPr/>
        </p:nvSpPr>
        <p:spPr>
          <a:xfrm>
            <a:off x="291667" y="2922485"/>
            <a:ext cx="1217711" cy="0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Line 36"/>
          <p:cNvSpPr/>
          <p:nvPr/>
        </p:nvSpPr>
        <p:spPr>
          <a:xfrm flipV="1">
            <a:off x="845835" y="2251989"/>
            <a:ext cx="0" cy="641343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Line 37"/>
          <p:cNvSpPr/>
          <p:nvPr/>
        </p:nvSpPr>
        <p:spPr>
          <a:xfrm>
            <a:off x="2034380" y="2922485"/>
            <a:ext cx="1239586" cy="0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Line 38"/>
          <p:cNvSpPr/>
          <p:nvPr/>
        </p:nvSpPr>
        <p:spPr>
          <a:xfrm flipV="1">
            <a:off x="2136463" y="2186397"/>
            <a:ext cx="0" cy="801679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Line 39"/>
          <p:cNvSpPr/>
          <p:nvPr/>
        </p:nvSpPr>
        <p:spPr>
          <a:xfrm flipV="1">
            <a:off x="2245839" y="2303005"/>
            <a:ext cx="109375" cy="546599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Line 40"/>
          <p:cNvSpPr/>
          <p:nvPr/>
        </p:nvSpPr>
        <p:spPr>
          <a:xfrm>
            <a:off x="2355214" y="2303005"/>
            <a:ext cx="138542" cy="590327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ine 41"/>
          <p:cNvSpPr/>
          <p:nvPr/>
        </p:nvSpPr>
        <p:spPr>
          <a:xfrm flipV="1">
            <a:off x="2493756" y="2550797"/>
            <a:ext cx="131250" cy="342536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Line 42"/>
          <p:cNvSpPr/>
          <p:nvPr/>
        </p:nvSpPr>
        <p:spPr>
          <a:xfrm>
            <a:off x="2625006" y="2550797"/>
            <a:ext cx="160417" cy="262368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Line 43"/>
          <p:cNvSpPr/>
          <p:nvPr/>
        </p:nvSpPr>
        <p:spPr>
          <a:xfrm flipV="1">
            <a:off x="2785423" y="2652829"/>
            <a:ext cx="167709" cy="160336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ine 44"/>
          <p:cNvSpPr/>
          <p:nvPr/>
        </p:nvSpPr>
        <p:spPr>
          <a:xfrm>
            <a:off x="2953132" y="2652829"/>
            <a:ext cx="196875" cy="51016"/>
          </a:xfrm>
          <a:prstGeom prst="line">
            <a:avLst/>
          </a:prstGeom>
          <a:noFill/>
          <a:ln w="381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Line 45"/>
          <p:cNvSpPr/>
          <p:nvPr/>
        </p:nvSpPr>
        <p:spPr>
          <a:xfrm>
            <a:off x="8859396" y="2594525"/>
            <a:ext cx="984377" cy="0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Line 46"/>
          <p:cNvSpPr/>
          <p:nvPr/>
        </p:nvSpPr>
        <p:spPr>
          <a:xfrm flipV="1">
            <a:off x="9085438" y="1873014"/>
            <a:ext cx="0" cy="1428446"/>
          </a:xfrm>
          <a:prstGeom prst="line">
            <a:avLst/>
          </a:prstGeom>
          <a:noFill/>
          <a:ln w="254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oundrect 47"/>
          <p:cNvSpPr/>
          <p:nvPr/>
        </p:nvSpPr>
        <p:spPr>
          <a:xfrm>
            <a:off x="10558358" y="1945894"/>
            <a:ext cx="1195836" cy="750663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635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Ellipse 48"/>
          <p:cNvSpPr/>
          <p:nvPr/>
        </p:nvSpPr>
        <p:spPr>
          <a:xfrm>
            <a:off x="357293" y="3986531"/>
            <a:ext cx="444793" cy="444567"/>
          </a:xfrm>
          <a:prstGeom prst="ellipse">
            <a:avLst/>
          </a:prstGeom>
          <a:solidFill>
            <a:srgbClr val="082B86"/>
          </a:solidFill>
          <a:ln w="127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Ellipse 49"/>
          <p:cNvSpPr/>
          <p:nvPr/>
        </p:nvSpPr>
        <p:spPr>
          <a:xfrm>
            <a:off x="4418760" y="3986531"/>
            <a:ext cx="444793" cy="444567"/>
          </a:xfrm>
          <a:prstGeom prst="ellipse">
            <a:avLst/>
          </a:prstGeom>
          <a:solidFill>
            <a:srgbClr val="082B86"/>
          </a:solidFill>
          <a:ln w="127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Ellipse 50"/>
          <p:cNvSpPr/>
          <p:nvPr/>
        </p:nvSpPr>
        <p:spPr>
          <a:xfrm>
            <a:off x="8144811" y="3986531"/>
            <a:ext cx="444793" cy="444567"/>
          </a:xfrm>
          <a:prstGeom prst="ellipse">
            <a:avLst/>
          </a:prstGeom>
          <a:solidFill>
            <a:srgbClr val="082B86"/>
          </a:solidFill>
          <a:ln w="127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ect 51"/>
          <p:cNvSpPr/>
          <p:nvPr/>
        </p:nvSpPr>
        <p:spPr>
          <a:xfrm>
            <a:off x="780210" y="2208261"/>
            <a:ext cx="131250" cy="131184"/>
          </a:xfrm>
          <a:prstGeom prst="triangle">
            <a:avLst/>
          </a:prstGeom>
          <a:solidFill>
            <a:srgbClr val="082B86"/>
          </a:solidFill>
          <a:ln w="127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Line 52"/>
          <p:cNvSpPr/>
          <p:nvPr/>
        </p:nvSpPr>
        <p:spPr>
          <a:xfrm>
            <a:off x="9034396" y="2091654"/>
            <a:ext cx="109375" cy="116608"/>
          </a:xfrm>
          <a:prstGeom prst="line">
            <a:avLst/>
          </a:prstGeom>
          <a:noFill/>
          <a:ln w="50800">
            <a:solidFill>
              <a:srgbClr val="D4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Line 53"/>
          <p:cNvSpPr/>
          <p:nvPr/>
        </p:nvSpPr>
        <p:spPr>
          <a:xfrm flipH="1">
            <a:off x="9034396" y="2091654"/>
            <a:ext cx="109375" cy="116608"/>
          </a:xfrm>
          <a:prstGeom prst="line">
            <a:avLst/>
          </a:prstGeom>
          <a:noFill/>
          <a:ln w="50800">
            <a:solidFill>
              <a:srgbClr val="D4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Line 54"/>
          <p:cNvSpPr/>
          <p:nvPr/>
        </p:nvSpPr>
        <p:spPr>
          <a:xfrm>
            <a:off x="9034396" y="3068244"/>
            <a:ext cx="109375" cy="116608"/>
          </a:xfrm>
          <a:prstGeom prst="line">
            <a:avLst/>
          </a:prstGeom>
          <a:noFill/>
          <a:ln w="50800">
            <a:solidFill>
              <a:srgbClr val="D4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Line 55"/>
          <p:cNvSpPr/>
          <p:nvPr/>
        </p:nvSpPr>
        <p:spPr>
          <a:xfrm flipH="1">
            <a:off x="9034396" y="3068244"/>
            <a:ext cx="109375" cy="116608"/>
          </a:xfrm>
          <a:prstGeom prst="line">
            <a:avLst/>
          </a:prstGeom>
          <a:noFill/>
          <a:ln w="50800">
            <a:solidFill>
              <a:srgbClr val="D4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ect 56"/>
          <p:cNvSpPr/>
          <p:nvPr/>
        </p:nvSpPr>
        <p:spPr>
          <a:xfrm>
            <a:off x="10580233" y="2667405"/>
            <a:ext cx="1152086" cy="43728"/>
          </a:xfrm>
          <a:prstGeom prst="rect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Line 57"/>
          <p:cNvSpPr/>
          <p:nvPr/>
        </p:nvSpPr>
        <p:spPr>
          <a:xfrm>
            <a:off x="10937526" y="2856893"/>
            <a:ext cx="437501" cy="0"/>
          </a:xfrm>
          <a:prstGeom prst="line">
            <a:avLst/>
          </a:prstGeom>
          <a:noFill/>
          <a:ln w="762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Line 58"/>
          <p:cNvSpPr/>
          <p:nvPr/>
        </p:nvSpPr>
        <p:spPr>
          <a:xfrm flipH="1">
            <a:off x="11025026" y="2856893"/>
            <a:ext cx="43750" cy="167624"/>
          </a:xfrm>
          <a:prstGeom prst="line">
            <a:avLst/>
          </a:prstGeom>
          <a:noFill/>
          <a:ln w="762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Line 59"/>
          <p:cNvSpPr/>
          <p:nvPr/>
        </p:nvSpPr>
        <p:spPr>
          <a:xfrm>
            <a:off x="11243776" y="2856893"/>
            <a:ext cx="43750" cy="167624"/>
          </a:xfrm>
          <a:prstGeom prst="line">
            <a:avLst/>
          </a:prstGeom>
          <a:noFill/>
          <a:ln w="762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ine 60"/>
          <p:cNvSpPr/>
          <p:nvPr/>
        </p:nvSpPr>
        <p:spPr>
          <a:xfrm>
            <a:off x="10901067" y="3031804"/>
            <a:ext cx="510418" cy="0"/>
          </a:xfrm>
          <a:prstGeom prst="line">
            <a:avLst/>
          </a:prstGeom>
          <a:noFill/>
          <a:ln w="762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Line 61"/>
          <p:cNvSpPr/>
          <p:nvPr/>
        </p:nvSpPr>
        <p:spPr>
          <a:xfrm flipV="1">
            <a:off x="10718775" y="2149957"/>
            <a:ext cx="131250" cy="386264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Line 62"/>
          <p:cNvSpPr/>
          <p:nvPr/>
        </p:nvSpPr>
        <p:spPr>
          <a:xfrm>
            <a:off x="10850025" y="2149957"/>
            <a:ext cx="196875" cy="415416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Line 63"/>
          <p:cNvSpPr/>
          <p:nvPr/>
        </p:nvSpPr>
        <p:spPr>
          <a:xfrm flipV="1">
            <a:off x="11046901" y="2324869"/>
            <a:ext cx="204167" cy="240504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Line 64"/>
          <p:cNvSpPr/>
          <p:nvPr/>
        </p:nvSpPr>
        <p:spPr>
          <a:xfrm>
            <a:off x="11251068" y="2324869"/>
            <a:ext cx="182292" cy="218640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Line 65"/>
          <p:cNvSpPr/>
          <p:nvPr/>
        </p:nvSpPr>
        <p:spPr>
          <a:xfrm flipV="1">
            <a:off x="11433360" y="2456053"/>
            <a:ext cx="218751" cy="87456"/>
          </a:xfrm>
          <a:prstGeom prst="line">
            <a:avLst/>
          </a:prstGeom>
          <a:noFill/>
          <a:ln w="50800">
            <a:solidFill>
              <a:srgbClr val="082B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oundrect 66"/>
          <p:cNvSpPr/>
          <p:nvPr/>
        </p:nvSpPr>
        <p:spPr>
          <a:xfrm>
            <a:off x="1042711" y="4205171"/>
            <a:ext cx="218751" cy="772527"/>
          </a:xfrm>
          <a:prstGeom prst="roundRect">
            <a:avLst>
              <a:gd name="adj" fmla="val 26667"/>
            </a:avLst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Rect 67"/>
          <p:cNvSpPr/>
          <p:nvPr/>
        </p:nvSpPr>
        <p:spPr>
          <a:xfrm>
            <a:off x="1122919" y="4904818"/>
            <a:ext cx="87500" cy="408128"/>
          </a:xfrm>
          <a:prstGeom prst="rect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Line 68"/>
          <p:cNvSpPr/>
          <p:nvPr/>
        </p:nvSpPr>
        <p:spPr>
          <a:xfrm flipV="1">
            <a:off x="809377" y="4970410"/>
            <a:ext cx="58333" cy="5830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Line 69"/>
          <p:cNvSpPr/>
          <p:nvPr/>
        </p:nvSpPr>
        <p:spPr>
          <a:xfrm>
            <a:off x="809377" y="5189050"/>
            <a:ext cx="80209" cy="9474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Line 70"/>
          <p:cNvSpPr/>
          <p:nvPr/>
        </p:nvSpPr>
        <p:spPr>
          <a:xfrm>
            <a:off x="1458337" y="4984986"/>
            <a:ext cx="72917" cy="87456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Line 71"/>
          <p:cNvSpPr/>
          <p:nvPr/>
        </p:nvSpPr>
        <p:spPr>
          <a:xfrm flipV="1">
            <a:off x="1465628" y="5174474"/>
            <a:ext cx="80209" cy="102032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Line 72"/>
          <p:cNvSpPr/>
          <p:nvPr/>
        </p:nvSpPr>
        <p:spPr>
          <a:xfrm flipV="1">
            <a:off x="4615636" y="4562283"/>
            <a:ext cx="350001" cy="20406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Line 73"/>
          <p:cNvSpPr/>
          <p:nvPr/>
        </p:nvSpPr>
        <p:spPr>
          <a:xfrm>
            <a:off x="4965637" y="4562283"/>
            <a:ext cx="335417" cy="189488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Line 74"/>
          <p:cNvSpPr/>
          <p:nvPr/>
        </p:nvSpPr>
        <p:spPr>
          <a:xfrm>
            <a:off x="5301054" y="4751770"/>
            <a:ext cx="0" cy="400840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Line 75"/>
          <p:cNvSpPr/>
          <p:nvPr/>
        </p:nvSpPr>
        <p:spPr>
          <a:xfrm flipH="1">
            <a:off x="4965637" y="5152610"/>
            <a:ext cx="335417" cy="20406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Line 76"/>
          <p:cNvSpPr/>
          <p:nvPr/>
        </p:nvSpPr>
        <p:spPr>
          <a:xfrm flipH="1" flipV="1">
            <a:off x="4615636" y="5152610"/>
            <a:ext cx="350001" cy="20406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Line 77"/>
          <p:cNvSpPr/>
          <p:nvPr/>
        </p:nvSpPr>
        <p:spPr>
          <a:xfrm flipV="1">
            <a:off x="4615636" y="4766346"/>
            <a:ext cx="0" cy="386264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Line 78"/>
          <p:cNvSpPr/>
          <p:nvPr/>
        </p:nvSpPr>
        <p:spPr>
          <a:xfrm>
            <a:off x="4615636" y="4766346"/>
            <a:ext cx="350001" cy="196776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Line 79"/>
          <p:cNvSpPr/>
          <p:nvPr/>
        </p:nvSpPr>
        <p:spPr>
          <a:xfrm flipV="1">
            <a:off x="4965637" y="4751770"/>
            <a:ext cx="335417" cy="211352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Line 80"/>
          <p:cNvSpPr/>
          <p:nvPr/>
        </p:nvSpPr>
        <p:spPr>
          <a:xfrm>
            <a:off x="4965637" y="4963122"/>
            <a:ext cx="0" cy="393552"/>
          </a:xfrm>
          <a:prstGeom prst="line">
            <a:avLst/>
          </a:prstGeom>
          <a:noFill/>
          <a:ln w="381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Ellipse 81"/>
          <p:cNvSpPr/>
          <p:nvPr/>
        </p:nvSpPr>
        <p:spPr>
          <a:xfrm>
            <a:off x="8312519" y="4598723"/>
            <a:ext cx="670835" cy="670495"/>
          </a:xfrm>
          <a:prstGeom prst="ellipse">
            <a:avLst/>
          </a:prstGeom>
          <a:noFill/>
          <a:ln w="1016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Ellipse 82"/>
          <p:cNvSpPr/>
          <p:nvPr/>
        </p:nvSpPr>
        <p:spPr>
          <a:xfrm>
            <a:off x="8458353" y="4744482"/>
            <a:ext cx="379168" cy="378976"/>
          </a:xfrm>
          <a:prstGeom prst="ellipse">
            <a:avLst/>
          </a:prstGeom>
          <a:noFill/>
          <a:ln w="1016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Ellipse 83"/>
          <p:cNvSpPr/>
          <p:nvPr/>
        </p:nvSpPr>
        <p:spPr>
          <a:xfrm>
            <a:off x="8589603" y="4875666"/>
            <a:ext cx="123959" cy="123896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Line 84"/>
          <p:cNvSpPr/>
          <p:nvPr/>
        </p:nvSpPr>
        <p:spPr>
          <a:xfrm flipV="1">
            <a:off x="8662520" y="4518555"/>
            <a:ext cx="393751" cy="408128"/>
          </a:xfrm>
          <a:prstGeom prst="line">
            <a:avLst/>
          </a:prstGeom>
          <a:noFill/>
          <a:ln w="1016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Ellipse 85"/>
          <p:cNvSpPr/>
          <p:nvPr/>
        </p:nvSpPr>
        <p:spPr>
          <a:xfrm>
            <a:off x="743752" y="6005305"/>
            <a:ext cx="532293" cy="532023"/>
          </a:xfrm>
          <a:prstGeom prst="ellipse">
            <a:avLst/>
          </a:prstGeom>
          <a:noFill/>
          <a:ln w="889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Ellipse 86"/>
          <p:cNvSpPr/>
          <p:nvPr/>
        </p:nvSpPr>
        <p:spPr>
          <a:xfrm>
            <a:off x="860419" y="6121913"/>
            <a:ext cx="298959" cy="298808"/>
          </a:xfrm>
          <a:prstGeom prst="ellipse">
            <a:avLst/>
          </a:prstGeom>
          <a:noFill/>
          <a:ln w="889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Line 87"/>
          <p:cNvSpPr/>
          <p:nvPr/>
        </p:nvSpPr>
        <p:spPr>
          <a:xfrm flipV="1">
            <a:off x="1013544" y="5990729"/>
            <a:ext cx="291667" cy="284232"/>
          </a:xfrm>
          <a:prstGeom prst="line">
            <a:avLst/>
          </a:prstGeom>
          <a:noFill/>
          <a:ln w="889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Ellipse 88"/>
          <p:cNvSpPr/>
          <p:nvPr/>
        </p:nvSpPr>
        <p:spPr>
          <a:xfrm>
            <a:off x="4542719" y="4700755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Ellipse 89"/>
          <p:cNvSpPr/>
          <p:nvPr/>
        </p:nvSpPr>
        <p:spPr>
          <a:xfrm>
            <a:off x="4892720" y="4496691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Ellipse 90"/>
          <p:cNvSpPr/>
          <p:nvPr/>
        </p:nvSpPr>
        <p:spPr>
          <a:xfrm>
            <a:off x="5235429" y="4693467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Ellipse 91"/>
          <p:cNvSpPr/>
          <p:nvPr/>
        </p:nvSpPr>
        <p:spPr>
          <a:xfrm>
            <a:off x="4900011" y="4897530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Ellipse 92"/>
          <p:cNvSpPr/>
          <p:nvPr/>
        </p:nvSpPr>
        <p:spPr>
          <a:xfrm>
            <a:off x="4542719" y="5087018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Ellipse 93"/>
          <p:cNvSpPr/>
          <p:nvPr/>
        </p:nvSpPr>
        <p:spPr>
          <a:xfrm>
            <a:off x="5235429" y="5087018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Ellipse 94"/>
          <p:cNvSpPr/>
          <p:nvPr/>
        </p:nvSpPr>
        <p:spPr>
          <a:xfrm>
            <a:off x="4900011" y="5291082"/>
            <a:ext cx="138542" cy="138472"/>
          </a:xfrm>
          <a:prstGeom prst="ellips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Rect 95"/>
          <p:cNvSpPr/>
          <p:nvPr/>
        </p:nvSpPr>
        <p:spPr>
          <a:xfrm>
            <a:off x="8968771" y="4445675"/>
            <a:ext cx="211459" cy="211352"/>
          </a:xfrm>
          <a:prstGeom prst="triangle">
            <a:avLst/>
          </a:prstGeom>
          <a:solidFill>
            <a:srgbClr val="0B2F88"/>
          </a:solidFill>
          <a:ln w="12700">
            <a:solidFill>
              <a:srgbClr val="0B2F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TextBox 96"/>
          <p:cNvSpPr txBox="1"/>
          <p:nvPr/>
        </p:nvSpPr>
        <p:spPr>
          <a:xfrm>
            <a:off x="189584" y="131184"/>
            <a:ext cx="7000016" cy="5465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900" b="1">
                <a:solidFill>
                  <a:srgbClr val="06256F"/>
                </a:solidFill>
                <a:latin typeface="Microsoft YaHei"/>
                <a:ea typeface="Microsoft YaHei"/>
                <a:cs typeface="Microsoft YaHei"/>
              </a:rPr>
              <a:t>总结： 从冲激到特征， 看懂系统动态</a:t>
            </a:r>
            <a:endParaRPr lang="zh-CN" sz="2900"/>
          </a:p>
        </p:txBody>
      </p:sp>
      <p:sp>
        <p:nvSpPr>
          <p:cNvPr id="97" name="TextBox 97"/>
          <p:cNvSpPr txBox="1"/>
          <p:nvPr/>
        </p:nvSpPr>
        <p:spPr>
          <a:xfrm>
            <a:off x="313542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300"/>
          </a:p>
        </p:txBody>
      </p:sp>
      <p:sp>
        <p:nvSpPr>
          <p:cNvPr id="98" name="TextBox 98"/>
          <p:cNvSpPr txBox="1"/>
          <p:nvPr/>
        </p:nvSpPr>
        <p:spPr>
          <a:xfrm>
            <a:off x="612501" y="1355566"/>
            <a:ext cx="80208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冲激输入</a:t>
            </a:r>
            <a:endParaRPr lang="zh-CN" sz="1500"/>
          </a:p>
        </p:txBody>
      </p:sp>
      <p:sp>
        <p:nvSpPr>
          <p:cNvPr id="99" name="TextBox 99"/>
          <p:cNvSpPr txBox="1"/>
          <p:nvPr/>
        </p:nvSpPr>
        <p:spPr>
          <a:xfrm>
            <a:off x="700002" y="1967758"/>
            <a:ext cx="43750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i="1">
                <a:solidFill>
                  <a:srgbClr val="082B86"/>
                </a:solidFill>
                <a:latin typeface="Cambria Math"/>
                <a:ea typeface="Cambria Math"/>
                <a:cs typeface="Cambria Math"/>
              </a:rPr>
              <a:t>δ(t)</a:t>
            </a:r>
            <a:endParaRPr lang="zh-CN" sz="1600"/>
          </a:p>
        </p:txBody>
      </p:sp>
      <p:sp>
        <p:nvSpPr>
          <p:cNvPr id="100" name="TextBox 100"/>
          <p:cNvSpPr txBox="1"/>
          <p:nvPr/>
        </p:nvSpPr>
        <p:spPr>
          <a:xfrm>
            <a:off x="809377" y="2995365"/>
            <a:ext cx="160417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300"/>
          </a:p>
        </p:txBody>
      </p:sp>
      <p:sp>
        <p:nvSpPr>
          <p:cNvPr id="101" name="TextBox 101"/>
          <p:cNvSpPr txBox="1"/>
          <p:nvPr/>
        </p:nvSpPr>
        <p:spPr>
          <a:xfrm>
            <a:off x="1465628" y="2973501"/>
            <a:ext cx="131250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lang="zh-CN" sz="1400"/>
          </a:p>
        </p:txBody>
      </p:sp>
      <p:sp>
        <p:nvSpPr>
          <p:cNvPr id="102" name="TextBox 102"/>
          <p:cNvSpPr txBox="1"/>
          <p:nvPr/>
        </p:nvSpPr>
        <p:spPr>
          <a:xfrm>
            <a:off x="2078130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300"/>
          </a:p>
        </p:txBody>
      </p:sp>
      <p:sp>
        <p:nvSpPr>
          <p:cNvPr id="103" name="TextBox 103"/>
          <p:cNvSpPr txBox="1"/>
          <p:nvPr/>
        </p:nvSpPr>
        <p:spPr>
          <a:xfrm>
            <a:off x="2377089" y="1355566"/>
            <a:ext cx="80208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冲激响应</a:t>
            </a:r>
            <a:endParaRPr lang="zh-CN" sz="1500"/>
          </a:p>
        </p:txBody>
      </p:sp>
      <p:sp>
        <p:nvSpPr>
          <p:cNvPr id="104" name="TextBox 104"/>
          <p:cNvSpPr txBox="1"/>
          <p:nvPr/>
        </p:nvSpPr>
        <p:spPr>
          <a:xfrm>
            <a:off x="2231255" y="1967758"/>
            <a:ext cx="437501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i="1">
                <a:solidFill>
                  <a:srgbClr val="082B86"/>
                </a:solidFill>
                <a:latin typeface="Cambria Math"/>
                <a:ea typeface="Cambria Math"/>
                <a:cs typeface="Cambria Math"/>
              </a:rPr>
              <a:t>h(t)</a:t>
            </a:r>
            <a:endParaRPr lang="zh-CN" sz="1600"/>
          </a:p>
        </p:txBody>
      </p:sp>
      <p:sp>
        <p:nvSpPr>
          <p:cNvPr id="105" name="TextBox 105"/>
          <p:cNvSpPr txBox="1"/>
          <p:nvPr/>
        </p:nvSpPr>
        <p:spPr>
          <a:xfrm>
            <a:off x="2078130" y="2988077"/>
            <a:ext cx="145834" cy="1676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lang="zh-CN" sz="1300"/>
          </a:p>
        </p:txBody>
      </p:sp>
      <p:sp>
        <p:nvSpPr>
          <p:cNvPr id="106" name="TextBox 106"/>
          <p:cNvSpPr txBox="1"/>
          <p:nvPr/>
        </p:nvSpPr>
        <p:spPr>
          <a:xfrm>
            <a:off x="3230216" y="2966213"/>
            <a:ext cx="131250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lang="zh-CN" sz="1400"/>
          </a:p>
        </p:txBody>
      </p:sp>
      <p:sp>
        <p:nvSpPr>
          <p:cNvPr id="107" name="TextBox 107"/>
          <p:cNvSpPr txBox="1"/>
          <p:nvPr/>
        </p:nvSpPr>
        <p:spPr>
          <a:xfrm>
            <a:off x="3835426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300"/>
          </a:p>
        </p:txBody>
      </p:sp>
      <p:sp>
        <p:nvSpPr>
          <p:cNvPr id="108" name="TextBox 108"/>
          <p:cNvSpPr txBox="1"/>
          <p:nvPr/>
        </p:nvSpPr>
        <p:spPr>
          <a:xfrm>
            <a:off x="4141676" y="1355566"/>
            <a:ext cx="80208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微分方程</a:t>
            </a:r>
            <a:endParaRPr lang="zh-CN" sz="1500"/>
          </a:p>
        </p:txBody>
      </p:sp>
      <p:sp>
        <p:nvSpPr>
          <p:cNvPr id="109" name="TextBox 109"/>
          <p:cNvSpPr txBox="1"/>
          <p:nvPr/>
        </p:nvSpPr>
        <p:spPr>
          <a:xfrm>
            <a:off x="3879176" y="2375885"/>
            <a:ext cx="1006252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y'' + y' + 4y</a:t>
            </a:r>
            <a:endParaRPr lang="zh-CN" sz="1700"/>
          </a:p>
        </p:txBody>
      </p:sp>
      <p:sp>
        <p:nvSpPr>
          <p:cNvPr id="110" name="TextBox 110"/>
          <p:cNvSpPr txBox="1"/>
          <p:nvPr/>
        </p:nvSpPr>
        <p:spPr>
          <a:xfrm>
            <a:off x="4061468" y="2740285"/>
            <a:ext cx="802085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= 4u(t)</a:t>
            </a:r>
            <a:endParaRPr lang="zh-CN" sz="1700"/>
          </a:p>
        </p:txBody>
      </p:sp>
      <p:sp>
        <p:nvSpPr>
          <p:cNvPr id="111" name="TextBox 111"/>
          <p:cNvSpPr txBox="1"/>
          <p:nvPr/>
        </p:nvSpPr>
        <p:spPr>
          <a:xfrm>
            <a:off x="5578138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2300"/>
          </a:p>
        </p:txBody>
      </p:sp>
      <p:sp>
        <p:nvSpPr>
          <p:cNvPr id="112" name="TextBox 112"/>
          <p:cNvSpPr txBox="1"/>
          <p:nvPr/>
        </p:nvSpPr>
        <p:spPr>
          <a:xfrm>
            <a:off x="5884389" y="1355566"/>
            <a:ext cx="80208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状态方程</a:t>
            </a:r>
            <a:endParaRPr lang="zh-CN" sz="1500"/>
          </a:p>
        </p:txBody>
      </p:sp>
      <p:sp>
        <p:nvSpPr>
          <p:cNvPr id="113" name="TextBox 113"/>
          <p:cNvSpPr txBox="1"/>
          <p:nvPr/>
        </p:nvSpPr>
        <p:spPr>
          <a:xfrm>
            <a:off x="5621888" y="2368597"/>
            <a:ext cx="1042711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ẋ = Ax + Bu</a:t>
            </a:r>
            <a:endParaRPr lang="zh-CN" sz="1800"/>
          </a:p>
        </p:txBody>
      </p:sp>
      <p:sp>
        <p:nvSpPr>
          <p:cNvPr id="114" name="TextBox 114"/>
          <p:cNvSpPr txBox="1"/>
          <p:nvPr/>
        </p:nvSpPr>
        <p:spPr>
          <a:xfrm>
            <a:off x="5614596" y="2740285"/>
            <a:ext cx="1057294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y = Cx + Du</a:t>
            </a:r>
            <a:endParaRPr lang="zh-CN" sz="1800"/>
          </a:p>
        </p:txBody>
      </p:sp>
      <p:sp>
        <p:nvSpPr>
          <p:cNvPr id="115" name="TextBox 115"/>
          <p:cNvSpPr txBox="1"/>
          <p:nvPr/>
        </p:nvSpPr>
        <p:spPr>
          <a:xfrm>
            <a:off x="7306267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lang="zh-CN" sz="2300"/>
          </a:p>
        </p:txBody>
      </p:sp>
      <p:sp>
        <p:nvSpPr>
          <p:cNvPr id="116" name="TextBox 116"/>
          <p:cNvSpPr txBox="1"/>
          <p:nvPr/>
        </p:nvSpPr>
        <p:spPr>
          <a:xfrm>
            <a:off x="7590643" y="1319126"/>
            <a:ext cx="765627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特征值 /</a:t>
            </a:r>
            <a:endParaRPr lang="zh-CN" sz="1300"/>
          </a:p>
          <a:p>
            <a:pPr algn="l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特征向量</a:t>
            </a:r>
            <a:endParaRPr lang="zh-CN" sz="1300"/>
          </a:p>
        </p:txBody>
      </p:sp>
      <p:sp>
        <p:nvSpPr>
          <p:cNvPr id="117" name="TextBox 117"/>
          <p:cNvSpPr txBox="1"/>
          <p:nvPr/>
        </p:nvSpPr>
        <p:spPr>
          <a:xfrm>
            <a:off x="7357309" y="2018774"/>
            <a:ext cx="984377" cy="240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λ = -0.5 ±</a:t>
            </a:r>
            <a:endParaRPr lang="zh-CN" sz="1800"/>
          </a:p>
        </p:txBody>
      </p:sp>
      <p:sp>
        <p:nvSpPr>
          <p:cNvPr id="118" name="TextBox 118"/>
          <p:cNvSpPr txBox="1"/>
          <p:nvPr/>
        </p:nvSpPr>
        <p:spPr>
          <a:xfrm>
            <a:off x="7517726" y="2317581"/>
            <a:ext cx="765627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j1.9365</a:t>
            </a:r>
            <a:endParaRPr lang="zh-CN" sz="1800"/>
          </a:p>
        </p:txBody>
      </p:sp>
      <p:sp>
        <p:nvSpPr>
          <p:cNvPr id="119" name="TextBox 119"/>
          <p:cNvSpPr txBox="1"/>
          <p:nvPr/>
        </p:nvSpPr>
        <p:spPr>
          <a:xfrm>
            <a:off x="7495851" y="2718421"/>
            <a:ext cx="911460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vλ = [ 1 ; -1 - λ ]</a:t>
            </a:r>
            <a:endParaRPr lang="zh-CN" sz="1500"/>
          </a:p>
        </p:txBody>
      </p:sp>
      <p:sp>
        <p:nvSpPr>
          <p:cNvPr id="120" name="TextBox 120"/>
          <p:cNvSpPr txBox="1"/>
          <p:nvPr/>
        </p:nvSpPr>
        <p:spPr>
          <a:xfrm>
            <a:off x="8932313" y="1319126"/>
            <a:ext cx="291667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lang="zh-CN" sz="2300"/>
          </a:p>
        </p:txBody>
      </p:sp>
      <p:sp>
        <p:nvSpPr>
          <p:cNvPr id="121" name="TextBox 121"/>
          <p:cNvSpPr txBox="1"/>
          <p:nvPr/>
        </p:nvSpPr>
        <p:spPr>
          <a:xfrm>
            <a:off x="9231272" y="1355566"/>
            <a:ext cx="61979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零极点</a:t>
            </a:r>
            <a:endParaRPr lang="zh-CN" sz="1500"/>
          </a:p>
        </p:txBody>
      </p:sp>
      <p:sp>
        <p:nvSpPr>
          <p:cNvPr id="122" name="TextBox 122"/>
          <p:cNvSpPr txBox="1"/>
          <p:nvPr/>
        </p:nvSpPr>
        <p:spPr>
          <a:xfrm>
            <a:off x="9180230" y="1800134"/>
            <a:ext cx="29166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</a:t>
            </a:r>
            <a:endParaRPr lang="zh-CN" sz="1300"/>
          </a:p>
        </p:txBody>
      </p:sp>
      <p:sp>
        <p:nvSpPr>
          <p:cNvPr id="123" name="TextBox 123"/>
          <p:cNvSpPr txBox="1"/>
          <p:nvPr/>
        </p:nvSpPr>
        <p:spPr>
          <a:xfrm>
            <a:off x="9719814" y="2652829"/>
            <a:ext cx="262501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</a:t>
            </a:r>
            <a:endParaRPr lang="zh-CN" sz="1300"/>
          </a:p>
        </p:txBody>
      </p:sp>
      <p:sp>
        <p:nvSpPr>
          <p:cNvPr id="124" name="TextBox 124"/>
          <p:cNvSpPr txBox="1"/>
          <p:nvPr/>
        </p:nvSpPr>
        <p:spPr>
          <a:xfrm>
            <a:off x="8881271" y="2638253"/>
            <a:ext cx="401043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-0.5</a:t>
            </a:r>
            <a:endParaRPr lang="zh-CN" sz="1200"/>
          </a:p>
        </p:txBody>
      </p:sp>
      <p:sp>
        <p:nvSpPr>
          <p:cNvPr id="125" name="TextBox 125"/>
          <p:cNvSpPr txBox="1"/>
          <p:nvPr/>
        </p:nvSpPr>
        <p:spPr>
          <a:xfrm>
            <a:off x="9187522" y="2128094"/>
            <a:ext cx="76562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050">
                <a:solidFill>
                  <a:srgbClr val="D40000"/>
                </a:solidFill>
                <a:latin typeface="Times New Roman"/>
                <a:ea typeface="Times New Roman"/>
                <a:cs typeface="Times New Roman"/>
              </a:rPr>
              <a:t>-0.5 + j1.9365</a:t>
            </a:r>
            <a:endParaRPr lang="zh-CN" sz="1050"/>
          </a:p>
        </p:txBody>
      </p:sp>
      <p:sp>
        <p:nvSpPr>
          <p:cNvPr id="126" name="TextBox 126"/>
          <p:cNvSpPr txBox="1"/>
          <p:nvPr/>
        </p:nvSpPr>
        <p:spPr>
          <a:xfrm>
            <a:off x="9187522" y="3111972"/>
            <a:ext cx="76562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050">
                <a:solidFill>
                  <a:srgbClr val="D40000"/>
                </a:solidFill>
                <a:latin typeface="Times New Roman"/>
                <a:ea typeface="Times New Roman"/>
                <a:cs typeface="Times New Roman"/>
              </a:rPr>
              <a:t>-0.5 - j1.9365</a:t>
            </a:r>
            <a:endParaRPr lang="zh-CN" sz="1050"/>
          </a:p>
        </p:txBody>
      </p:sp>
      <p:sp>
        <p:nvSpPr>
          <p:cNvPr id="127" name="TextBox 127"/>
          <p:cNvSpPr txBox="1"/>
          <p:nvPr/>
        </p:nvSpPr>
        <p:spPr>
          <a:xfrm>
            <a:off x="10689608" y="1362854"/>
            <a:ext cx="947919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最终目标</a:t>
            </a:r>
            <a:endParaRPr lang="zh-CN" sz="1700"/>
          </a:p>
        </p:txBody>
      </p:sp>
      <p:sp>
        <p:nvSpPr>
          <p:cNvPr id="128" name="TextBox 128"/>
          <p:cNvSpPr txBox="1"/>
          <p:nvPr/>
        </p:nvSpPr>
        <p:spPr>
          <a:xfrm>
            <a:off x="10485441" y="3111972"/>
            <a:ext cx="1385420" cy="3425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082B86"/>
                </a:solidFill>
                <a:latin typeface="Microsoft YaHei"/>
                <a:ea typeface="Microsoft YaHei"/>
                <a:cs typeface="Microsoft YaHei"/>
              </a:rPr>
              <a:t>系统动态特性</a:t>
            </a:r>
            <a:endParaRPr lang="zh-CN" sz="1700"/>
          </a:p>
        </p:txBody>
      </p:sp>
      <p:sp>
        <p:nvSpPr>
          <p:cNvPr id="129" name="TextBox 129"/>
          <p:cNvSpPr txBox="1"/>
          <p:nvPr/>
        </p:nvSpPr>
        <p:spPr>
          <a:xfrm>
            <a:off x="488543" y="4037547"/>
            <a:ext cx="21875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200"/>
          </a:p>
        </p:txBody>
      </p:sp>
      <p:sp>
        <p:nvSpPr>
          <p:cNvPr id="130" name="TextBox 130"/>
          <p:cNvSpPr txBox="1"/>
          <p:nvPr/>
        </p:nvSpPr>
        <p:spPr>
          <a:xfrm>
            <a:off x="1983338" y="4117715"/>
            <a:ext cx="1713546" cy="13118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单位冲激信号像
一根“</a:t>
            </a:r>
            <a:r>
              <a:rPr lang="zh-CN" sz="1700" b="1">
                <a:solidFill>
                  <a:srgbClr val="082B86"/>
                </a:solidFill>
                <a:latin typeface="Microsoft YaHei"/>
                <a:ea typeface="Microsoft YaHei"/>
                <a:cs typeface="Microsoft YaHei"/>
              </a:rPr>
              <a:t>探针</a:t>
            </a:r>
            <a:r>
              <a:rPr lang="zh-CN" sz="1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”，
可以激发系统
</a:t>
            </a:r>
            <a:r>
              <a:rPr lang="zh-CN" sz="1700" b="1">
                <a:solidFill>
                  <a:srgbClr val="082B86"/>
                </a:solidFill>
                <a:latin typeface="Microsoft YaHei"/>
                <a:ea typeface="Microsoft YaHei"/>
                <a:cs typeface="Microsoft YaHei"/>
              </a:rPr>
              <a:t>全部动态。</a:t>
            </a:r>
            <a:endParaRPr lang="zh-CN" sz="1700"/>
          </a:p>
        </p:txBody>
      </p:sp>
      <p:sp>
        <p:nvSpPr>
          <p:cNvPr id="131" name="TextBox 131"/>
          <p:cNvSpPr txBox="1"/>
          <p:nvPr/>
        </p:nvSpPr>
        <p:spPr>
          <a:xfrm>
            <a:off x="4550011" y="4037547"/>
            <a:ext cx="21875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200"/>
          </a:p>
        </p:txBody>
      </p:sp>
      <p:sp>
        <p:nvSpPr>
          <p:cNvPr id="132" name="TextBox 132"/>
          <p:cNvSpPr txBox="1"/>
          <p:nvPr/>
        </p:nvSpPr>
        <p:spPr>
          <a:xfrm>
            <a:off x="5680222" y="4103139"/>
            <a:ext cx="1859379" cy="13482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状态方程把系统
从输入输出视角
推进到</a:t>
            </a:r>
            <a:r>
              <a:rPr lang="zh-CN" sz="1700" b="1">
                <a:solidFill>
                  <a:srgbClr val="082B86"/>
                </a:solidFill>
                <a:latin typeface="Microsoft YaHei"/>
                <a:ea typeface="Microsoft YaHei"/>
                <a:cs typeface="Microsoft YaHei"/>
              </a:rPr>
              <a:t>内部状态
视角。</a:t>
            </a:r>
            <a:endParaRPr lang="zh-CN" sz="1700"/>
          </a:p>
        </p:txBody>
      </p:sp>
      <p:sp>
        <p:nvSpPr>
          <p:cNvPr id="133" name="TextBox 133"/>
          <p:cNvSpPr txBox="1"/>
          <p:nvPr/>
        </p:nvSpPr>
        <p:spPr>
          <a:xfrm>
            <a:off x="8276061" y="4037547"/>
            <a:ext cx="218751" cy="327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200"/>
          </a:p>
        </p:txBody>
      </p:sp>
      <p:sp>
        <p:nvSpPr>
          <p:cNvPr id="134" name="TextBox 134"/>
          <p:cNvSpPr txBox="1"/>
          <p:nvPr/>
        </p:nvSpPr>
        <p:spPr>
          <a:xfrm>
            <a:off x="9304188" y="4095851"/>
            <a:ext cx="2260422" cy="13701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特征值、特征向量
和极点共同揭示系统的
</a:t>
            </a:r>
            <a:r>
              <a:rPr lang="zh-CN" sz="1600" b="1">
                <a:solidFill>
                  <a:srgbClr val="D40000"/>
                </a:solidFill>
                <a:latin typeface="Microsoft YaHei"/>
                <a:ea typeface="Microsoft YaHei"/>
                <a:cs typeface="Microsoft YaHei"/>
              </a:rPr>
              <a:t>稳定性、振荡频率与
模态结构</a:t>
            </a:r>
            <a:r>
              <a:rPr lang="zh-CN" sz="1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sz="1600"/>
          </a:p>
        </p:txBody>
      </p:sp>
      <p:sp>
        <p:nvSpPr>
          <p:cNvPr id="135" name="TextBox 135"/>
          <p:cNvSpPr txBox="1"/>
          <p:nvPr/>
        </p:nvSpPr>
        <p:spPr>
          <a:xfrm>
            <a:off x="1647921" y="6114625"/>
            <a:ext cx="9041688" cy="36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00" b="1">
                <a:solidFill>
                  <a:srgbClr val="082B86"/>
                </a:solidFill>
                <a:latin typeface="Microsoft YaHei"/>
                <a:ea typeface="Microsoft YaHei"/>
                <a:cs typeface="Microsoft YaHei"/>
              </a:rPr>
              <a:t>从冲激到特征， 层层推进， 最终建立对系统动态特性的完整理解。</a:t>
            </a:r>
            <a:endParaRPr lang="zh-CN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2051</Words>
  <Application>Microsoft Office PowerPoint</Application>
  <PresentationFormat>宽屏</PresentationFormat>
  <Paragraphs>450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</vt:lpstr>
      <vt:lpstr>Arial</vt:lpstr>
      <vt:lpstr>Cambria Math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dc:creator>j333 .</dc:creator>
  <cp:lastModifiedBy>if333</cp:lastModifiedBy>
  <cp:revision>1</cp:revision>
  <dcterms:modified xsi:type="dcterms:W3CDTF">2026-06-01T12:56:17Z</dcterms:modified>
</cp:coreProperties>
</file>